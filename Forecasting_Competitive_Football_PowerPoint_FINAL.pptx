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We built three football forecasting deliverables from raw StatsBomb event data: pre-match outcome classification, pre-match goal-margin regression, and in-play prediction. The key point of this defense is not a single accuracy number; it is whether the pipeline is leakage-safe and whether performance survives future-season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frame the project. Mention the exact scale: 138 raw matches; after requiring enough historical matches, 111 pre-match examples remain; each produces 18 snapshots, so 1,998 live examples. Emphasize that the grading brief asks for all three tasks and probability quality, not accuracy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critical answer if asked “which league and which period?” Say: La Liga seasons 2017/18 through 2020/21, but the StatsBomb open-data availability in this run is Barcelona-centered. Therefore the evaluation is not a full-season league sample and external generalization is limited.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leakage in plain language. Pre-match: all rolling aggregates are shifted before rolling, so the current match cannot affect its own features. In-play: snapshots only use events with timestamp at or before t. And snapshots are split by parent match, not row-by-row. Resampling is restricted to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feature question by grouping, not reciting 100+ columns. Pre-match categories: form, xG/shots, passing/pressure/territory, discipline, efficiency, rest/context, momentum and home-away differences. In-play adds score state, man advantage, cumulative event statistics, recent 5-minute windows, live differences and the pre-match prior.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say the model beat bookmakers. Say exactly: the code includes odds_tagged and de-vigged H/D/A market probabilities, but the saved run has 0% successful odds tagging. Therefore those fields are unusable and there is no scientifically valid market comparison in the submitted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validation answer: three chronological one-season-ahead outer tests. Hyperparameters and calibration are learned only from the training season. For live data, split by match, not by snapshot. One nuance: feature construction can use earlier completed games within the test season for a later test match, because that information is legitimately available at prediction time; model parameters are still frozen.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“how do you know it is good now?”, say: I do not infer quality from accuracy alone. I require held-out future-season performance, comparison to a dummy prior, proper scoring rules, calibration, class-aware metrics and error analysis. The market baseline is not currently available because odds tagging is 0%, so I cannot use it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directly answers the “2016 vs 2019” type question. A number from one held-out season belongs to that season. The same SVC family scored 51.6%, 70.0% and 60.6% accuracy on the three future seasons. That variation is evidence of temporal distribution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final held-out 2020/21 subset, uncalibrated GBM reached 63.6% accuracy with RPS 0.161 on 33 matches. Always attach the scope: trained on 2019/20, tested on the Barcelona-centered 2020/21 subset. Across all three splits, SVC has the strongest mean balanced accuracy among the uncalibrated fixed variants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Regression is strongest with XGBoost/GBM across the three chronological splits: mean MAE about 1.05–1.06 goals. The final 2020/21 split looks much better — GBM MAE 0.452 — but because the test set is only 33 matches, present it as a split-specific result, not universal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an example, not a universal claim. On split 2, Random Forest isotonic calibration improved ECE from about 0.177 to 0.075, RPS from 0.157 to 0.127 and Log Loss from 0.858 to 0.717. But small samples make isotonic unstable on some other splits, so calibration must be inspected separately by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is required because a forecasting model must be explainable. Global SHAP ranks overall feature impact. Local explanations help with worst-case post-mortems. In-play timelines are intended to show how attribution changes through a match. Do not interpret SHAP causally.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3 is evaluated on 18 snapshots per match. The best cross-season RPS variants are around 0.171 for SVC calibration variants. The saved SHAP timeline is relatively flat, which is a limitation: it suggests the pre-match signal still dominates and the live feature contribution needs stronger or more diverse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negative results. The custom GMM oversampler is implemented and leakage-safe, but it did not outperform simple class weighting in the saved cross-season experiment. Class weighting averaged about 52.6% balanced accuracy; GMM sampling about 47.2%. The first split is very small, and ADASYN could not run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bonus artifact shows a working-looking Streamlit replay, including updated probabilities and margin at successive 5-minute states. The code includes latency benchmarking, but the provided outputs do not include a successful latency benchmark, so do not claim the under-200-millisecond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validity is supported by chronological testing and leakage assertions. External validity is limited: small sample, Barcelona-centered data, and missing odds tags. For stronger validation, expand to full-league seasons and use a growing-window design, for example train 2017/18 through 2019/20 and test 2020/21.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these answers as 20–30 second responses. Start with the headline, then one supporting detail. Do not drown the examiner in feature names or model names unless asked for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answer to the examiner’s likely validation challenge. The number is always conditional on the test season and sample. Internal validity means the pipeline can be checked and rerun on held-out seasons without leakage. External validity requires broader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The main achievement is a complete, leakage-aware, reproducible pipeline with three model tasks and real future-season evaluation. The main limitations are also clear: small Barcelona-centered sample and zero successful odds tags in the saved run. That honesty makes the validation argument stronger, not weaker.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only if asked about citations or reproducibility. The exact course-approved paper references should be checked against your class paper choices because the uploaded archive does not contain the approval/sign-off PDFs.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B8F6A"/>
          </a:solidFill>
          <a:ln w="12700">
            <a:solidFill>
              <a:srgbClr val="0B8F6A"/>
            </a:solidFill>
            <a:prstDash val="solid"/>
          </a:ln>
        </p:spPr>
      </p:sp>
      <p:sp>
        <p:nvSpPr>
          <p:cNvPr id="3" name="Text 1"/>
          <p:cNvSpPr/>
          <p:nvPr/>
        </p:nvSpPr>
        <p:spPr>
          <a:xfrm>
            <a:off x="502920" y="6537960"/>
            <a:ext cx="4389120" cy="164592"/>
          </a:xfrm>
          <a:prstGeom prst="rect">
            <a:avLst/>
          </a:prstGeom>
          <a:noFill/>
          <a:ln/>
        </p:spPr>
        <p:txBody>
          <a:bodyPr wrap="square" lIns="0" tIns="0" rIns="0" bIns="0" rtlCol="0" anchor="ctr"/>
          <a:lstStyle/>
          <a:p>
            <a:pPr indent="0" marL="0">
              <a:buNone/>
            </a:pPr>
            <a:r>
              <a:rPr lang="en-US" sz="750" dirty="0">
                <a:solidFill>
                  <a:srgbClr val="5B6577"/>
                </a:solidFill>
                <a:latin typeface="Arial" pitchFamily="34" charset="0"/>
                <a:ea typeface="Arial" pitchFamily="34" charset="-122"/>
                <a:cs typeface="Arial" pitchFamily="34" charset="-120"/>
              </a:rPr>
              <a:t>FORECASTING COMPETITIVE FOOTBALL</a:t>
            </a:r>
            <a:endParaRPr lang="en-US" sz="75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solidFill>
            <a:prstDash val="solid"/>
          </a:ln>
        </p:spPr>
      </p:sp>
      <p:sp>
        <p:nvSpPr>
          <p:cNvPr id="3" name="Shape 1"/>
          <p:cNvSpPr/>
          <p:nvPr/>
        </p:nvSpPr>
        <p:spPr>
          <a:xfrm>
            <a:off x="7452360" y="594360"/>
            <a:ext cx="4160520" cy="5074920"/>
          </a:xfrm>
          <a:prstGeom prst="rect">
            <a:avLst/>
          </a:prstGeom>
          <a:solidFill>
            <a:srgbClr val="101C2E">
              <a:alpha val="95000"/>
            </a:srgbClr>
          </a:solidFill>
          <a:ln w="15240">
            <a:solidFill>
              <a:srgbClr val="22B8A0">
                <a:alpha val="35000"/>
              </a:srgbClr>
            </a:solidFill>
            <a:prstDash val="solid"/>
          </a:ln>
        </p:spPr>
      </p:sp>
      <p:sp>
        <p:nvSpPr>
          <p:cNvPr id="4" name="Shape 2"/>
          <p:cNvSpPr/>
          <p:nvPr/>
        </p:nvSpPr>
        <p:spPr>
          <a:xfrm>
            <a:off x="8851392" y="1901952"/>
            <a:ext cx="1417320" cy="1417320"/>
          </a:xfrm>
          <a:prstGeom prst="ellipse">
            <a:avLst/>
          </a:prstGeom>
          <a:solidFill>
            <a:srgbClr val="0B1220">
              <a:alpha val="0"/>
            </a:srgbClr>
          </a:solidFill>
          <a:ln w="15240">
            <a:solidFill>
              <a:srgbClr val="22B8A0">
                <a:alpha val="45000"/>
              </a:srgbClr>
            </a:solidFill>
            <a:prstDash val="solid"/>
          </a:ln>
        </p:spPr>
      </p:sp>
      <p:sp>
        <p:nvSpPr>
          <p:cNvPr id="5" name="Shape 3"/>
          <p:cNvSpPr/>
          <p:nvPr/>
        </p:nvSpPr>
        <p:spPr>
          <a:xfrm>
            <a:off x="9564624" y="594360"/>
            <a:ext cx="0" cy="5074920"/>
          </a:xfrm>
          <a:prstGeom prst="line">
            <a:avLst/>
          </a:prstGeom>
          <a:noFill/>
          <a:ln w="13970">
            <a:solidFill>
              <a:srgbClr val="22B8A0">
                <a:alpha val="40000"/>
              </a:srgbClr>
            </a:solidFill>
            <a:prstDash val="solid"/>
          </a:ln>
        </p:spPr>
      </p:sp>
      <p:sp>
        <p:nvSpPr>
          <p:cNvPr id="6" name="Shape 4"/>
          <p:cNvSpPr/>
          <p:nvPr/>
        </p:nvSpPr>
        <p:spPr>
          <a:xfrm>
            <a:off x="7726680" y="914400"/>
            <a:ext cx="109728" cy="109728"/>
          </a:xfrm>
          <a:prstGeom prst="ellipse">
            <a:avLst/>
          </a:prstGeom>
          <a:solidFill>
            <a:srgbClr val="22B8A0"/>
          </a:solidFill>
          <a:ln w="12700">
            <a:solidFill>
              <a:srgbClr val="22B8A0"/>
            </a:solidFill>
            <a:prstDash val="solid"/>
          </a:ln>
        </p:spPr>
      </p:sp>
      <p:sp>
        <p:nvSpPr>
          <p:cNvPr id="7" name="Shape 5"/>
          <p:cNvSpPr/>
          <p:nvPr/>
        </p:nvSpPr>
        <p:spPr>
          <a:xfrm>
            <a:off x="7781544" y="969264"/>
            <a:ext cx="640080" cy="411480"/>
          </a:xfrm>
          <a:prstGeom prst="line">
            <a:avLst/>
          </a:prstGeom>
          <a:noFill/>
          <a:ln w="10160">
            <a:solidFill>
              <a:srgbClr val="22B8A0">
                <a:alpha val="30000"/>
              </a:srgbClr>
            </a:solidFill>
            <a:prstDash val="solid"/>
          </a:ln>
        </p:spPr>
      </p:sp>
      <p:sp>
        <p:nvSpPr>
          <p:cNvPr id="8" name="Shape 6"/>
          <p:cNvSpPr/>
          <p:nvPr/>
        </p:nvSpPr>
        <p:spPr>
          <a:xfrm>
            <a:off x="8869680" y="914400"/>
            <a:ext cx="109728" cy="109728"/>
          </a:xfrm>
          <a:prstGeom prst="ellipse">
            <a:avLst/>
          </a:prstGeom>
          <a:solidFill>
            <a:srgbClr val="F4B942"/>
          </a:solidFill>
          <a:ln w="12700">
            <a:solidFill>
              <a:srgbClr val="F4B942"/>
            </a:solidFill>
            <a:prstDash val="solid"/>
          </a:ln>
        </p:spPr>
      </p:sp>
      <p:sp>
        <p:nvSpPr>
          <p:cNvPr id="9" name="Shape 7"/>
          <p:cNvSpPr/>
          <p:nvPr/>
        </p:nvSpPr>
        <p:spPr>
          <a:xfrm>
            <a:off x="8924544" y="969264"/>
            <a:ext cx="640080" cy="411480"/>
          </a:xfrm>
          <a:prstGeom prst="line">
            <a:avLst/>
          </a:prstGeom>
          <a:noFill/>
          <a:ln w="10160">
            <a:solidFill>
              <a:srgbClr val="22B8A0">
                <a:alpha val="30000"/>
              </a:srgbClr>
            </a:solidFill>
            <a:prstDash val="solid"/>
          </a:ln>
        </p:spPr>
      </p:sp>
      <p:sp>
        <p:nvSpPr>
          <p:cNvPr id="10" name="Shape 8"/>
          <p:cNvSpPr/>
          <p:nvPr/>
        </p:nvSpPr>
        <p:spPr>
          <a:xfrm>
            <a:off x="10012680" y="914400"/>
            <a:ext cx="109728" cy="109728"/>
          </a:xfrm>
          <a:prstGeom prst="ellipse">
            <a:avLst/>
          </a:prstGeom>
          <a:solidFill>
            <a:srgbClr val="22B8A0"/>
          </a:solidFill>
          <a:ln w="12700">
            <a:solidFill>
              <a:srgbClr val="22B8A0"/>
            </a:solidFill>
            <a:prstDash val="solid"/>
          </a:ln>
        </p:spPr>
      </p:sp>
      <p:sp>
        <p:nvSpPr>
          <p:cNvPr id="11" name="Shape 9"/>
          <p:cNvSpPr/>
          <p:nvPr/>
        </p:nvSpPr>
        <p:spPr>
          <a:xfrm>
            <a:off x="10067544" y="969264"/>
            <a:ext cx="640080" cy="411480"/>
          </a:xfrm>
          <a:prstGeom prst="line">
            <a:avLst/>
          </a:prstGeom>
          <a:noFill/>
          <a:ln w="10160">
            <a:solidFill>
              <a:srgbClr val="22B8A0">
                <a:alpha val="30000"/>
              </a:srgbClr>
            </a:solidFill>
            <a:prstDash val="solid"/>
          </a:ln>
        </p:spPr>
      </p:sp>
      <p:sp>
        <p:nvSpPr>
          <p:cNvPr id="12" name="Shape 10"/>
          <p:cNvSpPr/>
          <p:nvPr/>
        </p:nvSpPr>
        <p:spPr>
          <a:xfrm>
            <a:off x="7726680" y="2331720"/>
            <a:ext cx="109728" cy="109728"/>
          </a:xfrm>
          <a:prstGeom prst="ellipse">
            <a:avLst/>
          </a:prstGeom>
          <a:solidFill>
            <a:srgbClr val="F4B942"/>
          </a:solidFill>
          <a:ln w="12700">
            <a:solidFill>
              <a:srgbClr val="F4B942"/>
            </a:solidFill>
            <a:prstDash val="solid"/>
          </a:ln>
        </p:spPr>
      </p:sp>
      <p:sp>
        <p:nvSpPr>
          <p:cNvPr id="13" name="Shape 11"/>
          <p:cNvSpPr/>
          <p:nvPr/>
        </p:nvSpPr>
        <p:spPr>
          <a:xfrm>
            <a:off x="7781544" y="2386584"/>
            <a:ext cx="640080" cy="411480"/>
          </a:xfrm>
          <a:prstGeom prst="line">
            <a:avLst/>
          </a:prstGeom>
          <a:noFill/>
          <a:ln w="10160">
            <a:solidFill>
              <a:srgbClr val="22B8A0">
                <a:alpha val="30000"/>
              </a:srgbClr>
            </a:solidFill>
            <a:prstDash val="solid"/>
          </a:ln>
        </p:spPr>
      </p:sp>
      <p:sp>
        <p:nvSpPr>
          <p:cNvPr id="14" name="Shape 12"/>
          <p:cNvSpPr/>
          <p:nvPr/>
        </p:nvSpPr>
        <p:spPr>
          <a:xfrm>
            <a:off x="8869680" y="2331720"/>
            <a:ext cx="109728" cy="109728"/>
          </a:xfrm>
          <a:prstGeom prst="ellipse">
            <a:avLst/>
          </a:prstGeom>
          <a:solidFill>
            <a:srgbClr val="22B8A0"/>
          </a:solidFill>
          <a:ln w="12700">
            <a:solidFill>
              <a:srgbClr val="22B8A0"/>
            </a:solidFill>
            <a:prstDash val="solid"/>
          </a:ln>
        </p:spPr>
      </p:sp>
      <p:sp>
        <p:nvSpPr>
          <p:cNvPr id="15" name="Shape 13"/>
          <p:cNvSpPr/>
          <p:nvPr/>
        </p:nvSpPr>
        <p:spPr>
          <a:xfrm>
            <a:off x="8924544" y="2386584"/>
            <a:ext cx="640080" cy="411480"/>
          </a:xfrm>
          <a:prstGeom prst="line">
            <a:avLst/>
          </a:prstGeom>
          <a:noFill/>
          <a:ln w="10160">
            <a:solidFill>
              <a:srgbClr val="22B8A0">
                <a:alpha val="30000"/>
              </a:srgbClr>
            </a:solidFill>
            <a:prstDash val="solid"/>
          </a:ln>
        </p:spPr>
      </p:sp>
      <p:sp>
        <p:nvSpPr>
          <p:cNvPr id="16" name="Shape 14"/>
          <p:cNvSpPr/>
          <p:nvPr/>
        </p:nvSpPr>
        <p:spPr>
          <a:xfrm>
            <a:off x="10012680" y="2331720"/>
            <a:ext cx="109728" cy="109728"/>
          </a:xfrm>
          <a:prstGeom prst="ellipse">
            <a:avLst/>
          </a:prstGeom>
          <a:solidFill>
            <a:srgbClr val="F4B942"/>
          </a:solidFill>
          <a:ln w="12700">
            <a:solidFill>
              <a:srgbClr val="F4B942"/>
            </a:solidFill>
            <a:prstDash val="solid"/>
          </a:ln>
        </p:spPr>
      </p:sp>
      <p:sp>
        <p:nvSpPr>
          <p:cNvPr id="17" name="Shape 15"/>
          <p:cNvSpPr/>
          <p:nvPr/>
        </p:nvSpPr>
        <p:spPr>
          <a:xfrm>
            <a:off x="10067544" y="2386584"/>
            <a:ext cx="640080" cy="411480"/>
          </a:xfrm>
          <a:prstGeom prst="line">
            <a:avLst/>
          </a:prstGeom>
          <a:noFill/>
          <a:ln w="10160">
            <a:solidFill>
              <a:srgbClr val="22B8A0">
                <a:alpha val="30000"/>
              </a:srgbClr>
            </a:solidFill>
            <a:prstDash val="solid"/>
          </a:ln>
        </p:spPr>
      </p:sp>
      <p:sp>
        <p:nvSpPr>
          <p:cNvPr id="18" name="Shape 16"/>
          <p:cNvSpPr/>
          <p:nvPr/>
        </p:nvSpPr>
        <p:spPr>
          <a:xfrm>
            <a:off x="7726680" y="3749040"/>
            <a:ext cx="109728" cy="109728"/>
          </a:xfrm>
          <a:prstGeom prst="ellipse">
            <a:avLst/>
          </a:prstGeom>
          <a:solidFill>
            <a:srgbClr val="22B8A0"/>
          </a:solidFill>
          <a:ln w="12700">
            <a:solidFill>
              <a:srgbClr val="22B8A0"/>
            </a:solidFill>
            <a:prstDash val="solid"/>
          </a:ln>
        </p:spPr>
      </p:sp>
      <p:sp>
        <p:nvSpPr>
          <p:cNvPr id="19" name="Shape 17"/>
          <p:cNvSpPr/>
          <p:nvPr/>
        </p:nvSpPr>
        <p:spPr>
          <a:xfrm>
            <a:off x="7781544" y="3803904"/>
            <a:ext cx="640080" cy="411480"/>
          </a:xfrm>
          <a:prstGeom prst="line">
            <a:avLst/>
          </a:prstGeom>
          <a:noFill/>
          <a:ln w="10160">
            <a:solidFill>
              <a:srgbClr val="22B8A0">
                <a:alpha val="30000"/>
              </a:srgbClr>
            </a:solidFill>
            <a:prstDash val="solid"/>
          </a:ln>
        </p:spPr>
      </p:sp>
      <p:sp>
        <p:nvSpPr>
          <p:cNvPr id="20" name="Shape 18"/>
          <p:cNvSpPr/>
          <p:nvPr/>
        </p:nvSpPr>
        <p:spPr>
          <a:xfrm>
            <a:off x="8869680" y="3749040"/>
            <a:ext cx="109728" cy="109728"/>
          </a:xfrm>
          <a:prstGeom prst="ellipse">
            <a:avLst/>
          </a:prstGeom>
          <a:solidFill>
            <a:srgbClr val="F4B942"/>
          </a:solidFill>
          <a:ln w="12700">
            <a:solidFill>
              <a:srgbClr val="F4B942"/>
            </a:solidFill>
            <a:prstDash val="solid"/>
          </a:ln>
        </p:spPr>
      </p:sp>
      <p:sp>
        <p:nvSpPr>
          <p:cNvPr id="21" name="Shape 19"/>
          <p:cNvSpPr/>
          <p:nvPr/>
        </p:nvSpPr>
        <p:spPr>
          <a:xfrm>
            <a:off x="8924544" y="3803904"/>
            <a:ext cx="640080" cy="411480"/>
          </a:xfrm>
          <a:prstGeom prst="line">
            <a:avLst/>
          </a:prstGeom>
          <a:noFill/>
          <a:ln w="10160">
            <a:solidFill>
              <a:srgbClr val="22B8A0">
                <a:alpha val="30000"/>
              </a:srgbClr>
            </a:solidFill>
            <a:prstDash val="solid"/>
          </a:ln>
        </p:spPr>
      </p:sp>
      <p:sp>
        <p:nvSpPr>
          <p:cNvPr id="22" name="Shape 20"/>
          <p:cNvSpPr/>
          <p:nvPr/>
        </p:nvSpPr>
        <p:spPr>
          <a:xfrm>
            <a:off x="10012680" y="3749040"/>
            <a:ext cx="109728" cy="109728"/>
          </a:xfrm>
          <a:prstGeom prst="ellipse">
            <a:avLst/>
          </a:prstGeom>
          <a:solidFill>
            <a:srgbClr val="22B8A0"/>
          </a:solidFill>
          <a:ln w="12700">
            <a:solidFill>
              <a:srgbClr val="22B8A0"/>
            </a:solidFill>
            <a:prstDash val="solid"/>
          </a:ln>
        </p:spPr>
      </p:sp>
      <p:sp>
        <p:nvSpPr>
          <p:cNvPr id="23" name="Text 21"/>
          <p:cNvSpPr/>
          <p:nvPr/>
        </p:nvSpPr>
        <p:spPr>
          <a:xfrm>
            <a:off x="658368" y="658368"/>
            <a:ext cx="2194560" cy="256032"/>
          </a:xfrm>
          <a:prstGeom prst="rect">
            <a:avLst/>
          </a:prstGeom>
          <a:noFill/>
          <a:ln/>
        </p:spPr>
        <p:txBody>
          <a:bodyPr wrap="square" lIns="0" tIns="0" rIns="0" bIns="0" rtlCol="0" anchor="ctr"/>
          <a:lstStyle/>
          <a:p>
            <a:pPr indent="0" marL="0">
              <a:buNone/>
            </a:pPr>
            <a:r>
              <a:rPr lang="en-US" sz="1100" b="1" dirty="0">
                <a:solidFill>
                  <a:srgbClr val="22B8A0"/>
                </a:solidFill>
                <a:latin typeface="Arial" pitchFamily="34" charset="0"/>
                <a:ea typeface="Arial" pitchFamily="34" charset="-122"/>
                <a:cs typeface="Arial" pitchFamily="34" charset="-120"/>
              </a:rPr>
              <a:t>FINAL PROJECT</a:t>
            </a:r>
            <a:endParaRPr lang="en-US" sz="1100" dirty="0"/>
          </a:p>
        </p:txBody>
      </p:sp>
      <p:sp>
        <p:nvSpPr>
          <p:cNvPr id="24" name="Text 22"/>
          <p:cNvSpPr/>
          <p:nvPr/>
        </p:nvSpPr>
        <p:spPr>
          <a:xfrm>
            <a:off x="658368" y="1143000"/>
            <a:ext cx="6400800" cy="132588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rial" pitchFamily="34" charset="0"/>
                <a:ea typeface="Arial" pitchFamily="34" charset="-122"/>
                <a:cs typeface="Arial" pitchFamily="34" charset="-120"/>
              </a:rPr>
              <a:t>FORECASTING</a:t>
            </a:r>
            <a:endParaRPr lang="en-US" sz="3500" dirty="0"/>
          </a:p>
          <a:p>
            <a:pPr indent="0" marL="0">
              <a:buNone/>
            </a:pPr>
            <a:r>
              <a:rPr lang="en-US" sz="3500" b="1" dirty="0">
                <a:solidFill>
                  <a:srgbClr val="FFFFFF"/>
                </a:solidFill>
                <a:latin typeface="Arial" pitchFamily="34" charset="0"/>
                <a:ea typeface="Arial" pitchFamily="34" charset="-122"/>
                <a:cs typeface="Arial" pitchFamily="34" charset="-120"/>
              </a:rPr>
              <a:t>COMPETITIVE FOOTBALL</a:t>
            </a:r>
            <a:endParaRPr lang="en-US" sz="3500" dirty="0"/>
          </a:p>
        </p:txBody>
      </p:sp>
      <p:sp>
        <p:nvSpPr>
          <p:cNvPr id="25" name="Text 23"/>
          <p:cNvSpPr/>
          <p:nvPr/>
        </p:nvSpPr>
        <p:spPr>
          <a:xfrm>
            <a:off x="676656" y="2679192"/>
            <a:ext cx="6217920" cy="402336"/>
          </a:xfrm>
          <a:prstGeom prst="rect">
            <a:avLst/>
          </a:prstGeom>
          <a:noFill/>
          <a:ln/>
        </p:spPr>
        <p:txBody>
          <a:bodyPr wrap="square" lIns="0" tIns="0" rIns="0" bIns="0" rtlCol="0" anchor="ctr">
            <a:normAutofit/>
          </a:bodyPr>
          <a:lstStyle/>
          <a:p>
            <a:pPr indent="0" marL="0">
              <a:buNone/>
            </a:pPr>
            <a:r>
              <a:rPr lang="en-US" sz="1600" b="1" dirty="0">
                <a:solidFill>
                  <a:srgbClr val="BFEFE3"/>
                </a:solidFill>
                <a:latin typeface="Arial" pitchFamily="34" charset="0"/>
                <a:ea typeface="Arial" pitchFamily="34" charset="-122"/>
                <a:cs typeface="Arial" pitchFamily="34" charset="-120"/>
              </a:rPr>
              <a:t>Pre-Match &amp; In-Play Prediction from Raw Event Data</a:t>
            </a:r>
            <a:endParaRPr lang="en-US" sz="1600" dirty="0"/>
          </a:p>
        </p:txBody>
      </p:sp>
      <p:sp>
        <p:nvSpPr>
          <p:cNvPr id="26" name="Shape 24"/>
          <p:cNvSpPr/>
          <p:nvPr/>
        </p:nvSpPr>
        <p:spPr>
          <a:xfrm>
            <a:off x="676656" y="3273552"/>
            <a:ext cx="3840480" cy="109728"/>
          </a:xfrm>
          <a:prstGeom prst="rect">
            <a:avLst/>
          </a:prstGeom>
          <a:solidFill>
            <a:srgbClr val="0B8F6A"/>
          </a:solidFill>
          <a:ln w="12700">
            <a:solidFill>
              <a:srgbClr val="0B8F6A"/>
            </a:solidFill>
            <a:prstDash val="solid"/>
          </a:ln>
        </p:spPr>
      </p:sp>
      <p:sp>
        <p:nvSpPr>
          <p:cNvPr id="27" name="Shape 25"/>
          <p:cNvSpPr/>
          <p:nvPr/>
        </p:nvSpPr>
        <p:spPr>
          <a:xfrm>
            <a:off x="4517136" y="3273552"/>
            <a:ext cx="1417320" cy="109728"/>
          </a:xfrm>
          <a:prstGeom prst="rect">
            <a:avLst/>
          </a:prstGeom>
          <a:solidFill>
            <a:srgbClr val="22B8A0"/>
          </a:solidFill>
          <a:ln w="12700">
            <a:solidFill>
              <a:srgbClr val="22B8A0"/>
            </a:solidFill>
            <a:prstDash val="solid"/>
          </a:ln>
        </p:spPr>
      </p:sp>
      <p:sp>
        <p:nvSpPr>
          <p:cNvPr id="28" name="Shape 26"/>
          <p:cNvSpPr/>
          <p:nvPr/>
        </p:nvSpPr>
        <p:spPr>
          <a:xfrm>
            <a:off x="5934456" y="3273552"/>
            <a:ext cx="685800" cy="109728"/>
          </a:xfrm>
          <a:prstGeom prst="rect">
            <a:avLst/>
          </a:prstGeom>
          <a:solidFill>
            <a:srgbClr val="F4B942"/>
          </a:solidFill>
          <a:ln w="12700">
            <a:solidFill>
              <a:srgbClr val="F4B942"/>
            </a:solidFill>
            <a:prstDash val="solid"/>
          </a:ln>
        </p:spPr>
      </p:sp>
      <p:sp>
        <p:nvSpPr>
          <p:cNvPr id="29" name="Shape 27"/>
          <p:cNvSpPr/>
          <p:nvPr/>
        </p:nvSpPr>
        <p:spPr>
          <a:xfrm>
            <a:off x="676656" y="3840480"/>
            <a:ext cx="1188720" cy="310896"/>
          </a:xfrm>
          <a:prstGeom prst="roundRect">
            <a:avLst>
              <a:gd name="adj" fmla="val 23529"/>
            </a:avLst>
          </a:prstGeom>
          <a:solidFill>
            <a:srgbClr val="15263A"/>
          </a:solidFill>
          <a:ln w="12700">
            <a:solidFill>
              <a:srgbClr val="15263A"/>
            </a:solidFill>
            <a:prstDash val="solid"/>
          </a:ln>
        </p:spPr>
      </p:sp>
      <p:sp>
        <p:nvSpPr>
          <p:cNvPr id="30" name="Text 28"/>
          <p:cNvSpPr/>
          <p:nvPr/>
        </p:nvSpPr>
        <p:spPr>
          <a:xfrm>
            <a:off x="749808" y="3895344"/>
            <a:ext cx="1042416" cy="164592"/>
          </a:xfrm>
          <a:prstGeom prst="rect">
            <a:avLst/>
          </a:prstGeom>
          <a:noFill/>
          <a:ln/>
        </p:spPr>
        <p:txBody>
          <a:bodyPr wrap="square" lIns="0" tIns="0" rIns="0" bIns="0" rtlCol="0" anchor="ctr">
            <a:normAutofit/>
          </a:bodyPr>
          <a:lstStyle/>
          <a:p>
            <a:pPr algn="ctr" indent="0" marL="0">
              <a:buNone/>
            </a:pPr>
            <a:r>
              <a:rPr lang="en-US" sz="850" b="1" dirty="0">
                <a:solidFill>
                  <a:srgbClr val="BFEFE3"/>
                </a:solidFill>
                <a:latin typeface="Arial" pitchFamily="34" charset="0"/>
                <a:ea typeface="Arial" pitchFamily="34" charset="-122"/>
                <a:cs typeface="Arial" pitchFamily="34" charset="-120"/>
              </a:rPr>
              <a:t>NOSRATI</a:t>
            </a:r>
            <a:endParaRPr lang="en-US" sz="850" dirty="0"/>
          </a:p>
        </p:txBody>
      </p:sp>
      <p:sp>
        <p:nvSpPr>
          <p:cNvPr id="31" name="Shape 29"/>
          <p:cNvSpPr/>
          <p:nvPr/>
        </p:nvSpPr>
        <p:spPr>
          <a:xfrm>
            <a:off x="1965960" y="3840480"/>
            <a:ext cx="1188720" cy="310896"/>
          </a:xfrm>
          <a:prstGeom prst="roundRect">
            <a:avLst>
              <a:gd name="adj" fmla="val 23529"/>
            </a:avLst>
          </a:prstGeom>
          <a:solidFill>
            <a:srgbClr val="15263A"/>
          </a:solidFill>
          <a:ln w="12700">
            <a:solidFill>
              <a:srgbClr val="15263A"/>
            </a:solidFill>
            <a:prstDash val="solid"/>
          </a:ln>
        </p:spPr>
      </p:sp>
      <p:sp>
        <p:nvSpPr>
          <p:cNvPr id="32" name="Text 30"/>
          <p:cNvSpPr/>
          <p:nvPr/>
        </p:nvSpPr>
        <p:spPr>
          <a:xfrm>
            <a:off x="2039112" y="3895344"/>
            <a:ext cx="1042416" cy="164592"/>
          </a:xfrm>
          <a:prstGeom prst="rect">
            <a:avLst/>
          </a:prstGeom>
          <a:noFill/>
          <a:ln/>
        </p:spPr>
        <p:txBody>
          <a:bodyPr wrap="square" lIns="0" tIns="0" rIns="0" bIns="0" rtlCol="0" anchor="ctr">
            <a:normAutofit/>
          </a:bodyPr>
          <a:lstStyle/>
          <a:p>
            <a:pPr algn="ctr" indent="0" marL="0">
              <a:buNone/>
            </a:pPr>
            <a:r>
              <a:rPr lang="en-US" sz="850" b="1" dirty="0">
                <a:solidFill>
                  <a:srgbClr val="BFEFE3"/>
                </a:solidFill>
                <a:latin typeface="Arial" pitchFamily="34" charset="0"/>
                <a:ea typeface="Arial" pitchFamily="34" charset="-122"/>
                <a:cs typeface="Arial" pitchFamily="34" charset="-120"/>
              </a:rPr>
              <a:t>YAZDANI</a:t>
            </a:r>
            <a:endParaRPr lang="en-US" sz="850" dirty="0"/>
          </a:p>
        </p:txBody>
      </p:sp>
      <p:sp>
        <p:nvSpPr>
          <p:cNvPr id="33" name="Text 31"/>
          <p:cNvSpPr/>
          <p:nvPr/>
        </p:nvSpPr>
        <p:spPr>
          <a:xfrm>
            <a:off x="685800" y="4370832"/>
            <a:ext cx="4023360" cy="274320"/>
          </a:xfrm>
          <a:prstGeom prst="rect">
            <a:avLst/>
          </a:prstGeom>
          <a:noFill/>
          <a:ln/>
        </p:spPr>
        <p:txBody>
          <a:bodyPr wrap="square" lIns="0" tIns="0" rIns="0" bIns="0" rtlCol="0" anchor="ctr"/>
          <a:lstStyle/>
          <a:p>
            <a:pPr indent="0" marL="0">
              <a:buNone/>
            </a:pPr>
            <a:r>
              <a:rPr lang="en-US" sz="1200" dirty="0">
                <a:solidFill>
                  <a:srgbClr val="D7E0E8"/>
                </a:solidFill>
                <a:latin typeface="Arial" pitchFamily="34" charset="0"/>
                <a:ea typeface="Arial" pitchFamily="34" charset="-122"/>
                <a:cs typeface="Arial" pitchFamily="34" charset="-120"/>
              </a:rPr>
              <a:t>Instructor: Sattar Hashemi</a:t>
            </a:r>
            <a:endParaRPr lang="en-US" sz="1200" dirty="0"/>
          </a:p>
        </p:txBody>
      </p:sp>
      <p:sp>
        <p:nvSpPr>
          <p:cNvPr id="34" name="Text 32"/>
          <p:cNvSpPr/>
          <p:nvPr/>
        </p:nvSpPr>
        <p:spPr>
          <a:xfrm>
            <a:off x="685800" y="4773168"/>
            <a:ext cx="5394960" cy="256032"/>
          </a:xfrm>
          <a:prstGeom prst="rect">
            <a:avLst/>
          </a:prstGeom>
          <a:noFill/>
          <a:ln/>
        </p:spPr>
        <p:txBody>
          <a:bodyPr wrap="square" lIns="0" tIns="0" rIns="0" bIns="0" rtlCol="0" anchor="ctr"/>
          <a:lstStyle/>
          <a:p>
            <a:pPr indent="0" marL="0">
              <a:buNone/>
            </a:pPr>
            <a:r>
              <a:rPr lang="en-US" sz="950" dirty="0">
                <a:solidFill>
                  <a:srgbClr val="9EACBA"/>
                </a:solidFill>
                <a:latin typeface="Arial" pitchFamily="34" charset="0"/>
                <a:ea typeface="Arial" pitchFamily="34" charset="-122"/>
                <a:cs typeface="Arial" pitchFamily="34" charset="-120"/>
              </a:rPr>
              <a:t>Machine Learning Course · Department of Computer Science</a:t>
            </a:r>
            <a:endParaRPr lang="en-US" sz="950" dirty="0"/>
          </a:p>
        </p:txBody>
      </p:sp>
      <p:sp>
        <p:nvSpPr>
          <p:cNvPr id="35" name="Text 33"/>
          <p:cNvSpPr/>
          <p:nvPr/>
        </p:nvSpPr>
        <p:spPr>
          <a:xfrm>
            <a:off x="685800" y="5943600"/>
            <a:ext cx="2194560" cy="228600"/>
          </a:xfrm>
          <a:prstGeom prst="rect">
            <a:avLst/>
          </a:prstGeom>
          <a:noFill/>
          <a:ln/>
        </p:spPr>
        <p:txBody>
          <a:bodyPr wrap="square" lIns="0" tIns="0" rIns="0" bIns="0" rtlCol="0" anchor="ctr"/>
          <a:lstStyle/>
          <a:p>
            <a:pPr indent="0" marL="0">
              <a:buNone/>
            </a:pPr>
            <a:r>
              <a:rPr lang="en-US" sz="850" b="1" spc="120" kern="0" dirty="0">
                <a:solidFill>
                  <a:srgbClr val="F4B942"/>
                </a:solidFill>
                <a:latin typeface="Arial" pitchFamily="34" charset="0"/>
                <a:ea typeface="Arial" pitchFamily="34" charset="-122"/>
                <a:cs typeface="Arial" pitchFamily="34" charset="-120"/>
              </a:rPr>
              <a:t>DEFENSE-READY DECK</a:t>
            </a:r>
            <a:endParaRPr lang="en-US" sz="850" dirty="0"/>
          </a:p>
        </p:txBody>
      </p:sp>
      <p:sp>
        <p:nvSpPr>
          <p:cNvPr id="36" name="Shape 34"/>
          <p:cNvSpPr/>
          <p:nvPr/>
        </p:nvSpPr>
        <p:spPr>
          <a:xfrm>
            <a:off x="0" y="6400800"/>
            <a:ext cx="12191695" cy="457200"/>
          </a:xfrm>
          <a:prstGeom prst="rect">
            <a:avLst/>
          </a:prstGeom>
          <a:solidFill>
            <a:srgbClr val="0B1220"/>
          </a:solidFill>
          <a:ln w="12700">
            <a:solidFill>
              <a:srgbClr val="0B1220"/>
            </a:solidFill>
            <a:prstDash val="solid"/>
          </a:ln>
        </p:spPr>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01 · OVERVIEW</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lang="en-US" sz="2500" b="1" dirty="0">
                <a:solidFill>
                  <a:srgbClr val="0B1220"/>
                </a:solidFill>
                <a:latin typeface="Arial" pitchFamily="34" charset="0"/>
                <a:ea typeface="Arial" pitchFamily="34" charset="-122"/>
                <a:cs typeface="Arial" pitchFamily="34" charset="-120"/>
              </a:rPr>
              <a:t>Project at a glance</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Three deliverables, one leakage-aware data foundation.</a:t>
            </a:r>
            <a:endParaRPr lang="en-US" sz="1050" dirty="0"/>
          </a:p>
        </p:txBody>
      </p:sp>
      <p:sp>
        <p:nvSpPr>
          <p:cNvPr id="5" name="Shape 3"/>
          <p:cNvSpPr/>
          <p:nvPr/>
        </p:nvSpPr>
        <p:spPr>
          <a:xfrm>
            <a:off x="566928" y="1627632"/>
            <a:ext cx="1965960"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15240" dist="5080" dir="2700000">
              <a:srgbClr val="000000">
                <a:alpha val="14000"/>
              </a:srgbClr>
            </a:outerShdw>
          </a:effectLst>
        </p:spPr>
      </p:sp>
      <p:sp>
        <p:nvSpPr>
          <p:cNvPr id="6" name="Shape 4"/>
          <p:cNvSpPr/>
          <p:nvPr/>
        </p:nvSpPr>
        <p:spPr>
          <a:xfrm>
            <a:off x="566928" y="1627632"/>
            <a:ext cx="73152" cy="960120"/>
          </a:xfrm>
          <a:prstGeom prst="rect">
            <a:avLst/>
          </a:prstGeom>
          <a:solidFill>
            <a:srgbClr val="0B8F6A"/>
          </a:solidFill>
          <a:ln w="12700">
            <a:solidFill>
              <a:srgbClr val="0B8F6A"/>
            </a:solidFill>
            <a:prstDash val="solid"/>
          </a:ln>
        </p:spPr>
      </p:sp>
      <p:sp>
        <p:nvSpPr>
          <p:cNvPr id="7" name="Text 5"/>
          <p:cNvSpPr/>
          <p:nvPr/>
        </p:nvSpPr>
        <p:spPr>
          <a:xfrm>
            <a:off x="749808" y="1773936"/>
            <a:ext cx="1691640" cy="365760"/>
          </a:xfrm>
          <a:prstGeom prst="rect">
            <a:avLst/>
          </a:prstGeom>
          <a:noFill/>
          <a:ln/>
        </p:spPr>
        <p:txBody>
          <a:bodyPr wrap="square" lIns="0" tIns="0" rIns="0" bIns="0" rtlCol="0" anchor="ctr">
            <a:normAutofit/>
          </a:bodyPr>
          <a:lstStyle/>
          <a:p>
            <a:pPr algn="ctr" indent="0" marL="0">
              <a:buNone/>
            </a:pPr>
            <a:r>
              <a:rPr lang="en-US" sz="2300" b="1" dirty="0">
                <a:solidFill>
                  <a:srgbClr val="0B1220"/>
                </a:solidFill>
                <a:latin typeface="Arial" pitchFamily="34" charset="0"/>
                <a:ea typeface="Arial" pitchFamily="34" charset="-122"/>
                <a:cs typeface="Arial" pitchFamily="34" charset="-120"/>
              </a:rPr>
              <a:t>138</a:t>
            </a:r>
            <a:endParaRPr lang="en-US" sz="2300" dirty="0"/>
          </a:p>
        </p:txBody>
      </p:sp>
      <p:sp>
        <p:nvSpPr>
          <p:cNvPr id="8" name="Text 6"/>
          <p:cNvSpPr/>
          <p:nvPr/>
        </p:nvSpPr>
        <p:spPr>
          <a:xfrm>
            <a:off x="713232" y="2212848"/>
            <a:ext cx="1746504" cy="182880"/>
          </a:xfrm>
          <a:prstGeom prst="rect">
            <a:avLst/>
          </a:prstGeom>
          <a:noFill/>
          <a:ln/>
        </p:spPr>
        <p:txBody>
          <a:bodyPr wrap="square" lIns="0" tIns="0" rIns="0" bIns="0" rtlCol="0" anchor="ctr">
            <a:normAutofit/>
          </a:bodyPr>
          <a:lstStyle/>
          <a:p>
            <a:pPr algn="ctr" indent="0" marL="0">
              <a:buNone/>
            </a:pPr>
            <a:r>
              <a:rPr lang="en-US" sz="850" b="1" dirty="0">
                <a:solidFill>
                  <a:srgbClr val="5B6577"/>
                </a:solidFill>
                <a:latin typeface="Arial" pitchFamily="34" charset="0"/>
                <a:ea typeface="Arial" pitchFamily="34" charset="-122"/>
                <a:cs typeface="Arial" pitchFamily="34" charset="-120"/>
              </a:rPr>
              <a:t>raw matches</a:t>
            </a:r>
            <a:endParaRPr lang="en-US" sz="850" dirty="0"/>
          </a:p>
        </p:txBody>
      </p:sp>
      <p:sp>
        <p:nvSpPr>
          <p:cNvPr id="9" name="Shape 7"/>
          <p:cNvSpPr/>
          <p:nvPr/>
        </p:nvSpPr>
        <p:spPr>
          <a:xfrm>
            <a:off x="2724912" y="1627632"/>
            <a:ext cx="1965960"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193548000" dist="64516000" dir="162000000000">
              <a:srgbClr val="000000">
                <a:alpha val="1400000000"/>
              </a:srgbClr>
            </a:outerShdw>
          </a:effectLst>
        </p:spPr>
      </p:sp>
      <p:sp>
        <p:nvSpPr>
          <p:cNvPr id="10" name="Shape 8"/>
          <p:cNvSpPr/>
          <p:nvPr/>
        </p:nvSpPr>
        <p:spPr>
          <a:xfrm>
            <a:off x="2724912" y="1627632"/>
            <a:ext cx="73152" cy="960120"/>
          </a:xfrm>
          <a:prstGeom prst="rect">
            <a:avLst/>
          </a:prstGeom>
          <a:solidFill>
            <a:srgbClr val="22B8A0"/>
          </a:solidFill>
          <a:ln w="12700">
            <a:solidFill>
              <a:srgbClr val="22B8A0"/>
            </a:solidFill>
            <a:prstDash val="solid"/>
          </a:ln>
        </p:spPr>
      </p:sp>
      <p:sp>
        <p:nvSpPr>
          <p:cNvPr id="11" name="Text 9"/>
          <p:cNvSpPr/>
          <p:nvPr/>
        </p:nvSpPr>
        <p:spPr>
          <a:xfrm>
            <a:off x="2907792" y="1773936"/>
            <a:ext cx="1691640" cy="365760"/>
          </a:xfrm>
          <a:prstGeom prst="rect">
            <a:avLst/>
          </a:prstGeom>
          <a:noFill/>
          <a:ln/>
        </p:spPr>
        <p:txBody>
          <a:bodyPr wrap="square" lIns="0" tIns="0" rIns="0" bIns="0" rtlCol="0" anchor="ctr">
            <a:normAutofit/>
          </a:bodyPr>
          <a:lstStyle/>
          <a:p>
            <a:pPr algn="ctr" indent="0" marL="0">
              <a:buNone/>
            </a:pPr>
            <a:r>
              <a:rPr lang="en-US" sz="2300" b="1" dirty="0">
                <a:solidFill>
                  <a:srgbClr val="0B1220"/>
                </a:solidFill>
                <a:latin typeface="Arial" pitchFamily="34" charset="0"/>
                <a:ea typeface="Arial" pitchFamily="34" charset="-122"/>
                <a:cs typeface="Arial" pitchFamily="34" charset="-120"/>
              </a:rPr>
              <a:t>536,328</a:t>
            </a:r>
            <a:endParaRPr lang="en-US" sz="2300" dirty="0"/>
          </a:p>
        </p:txBody>
      </p:sp>
      <p:sp>
        <p:nvSpPr>
          <p:cNvPr id="12" name="Text 10"/>
          <p:cNvSpPr/>
          <p:nvPr/>
        </p:nvSpPr>
        <p:spPr>
          <a:xfrm>
            <a:off x="2871216" y="2212848"/>
            <a:ext cx="1746504" cy="182880"/>
          </a:xfrm>
          <a:prstGeom prst="rect">
            <a:avLst/>
          </a:prstGeom>
          <a:noFill/>
          <a:ln/>
        </p:spPr>
        <p:txBody>
          <a:bodyPr wrap="square" lIns="0" tIns="0" rIns="0" bIns="0" rtlCol="0" anchor="ctr">
            <a:normAutofit/>
          </a:bodyPr>
          <a:lstStyle/>
          <a:p>
            <a:pPr algn="ctr" indent="0" marL="0">
              <a:buNone/>
            </a:pPr>
            <a:r>
              <a:rPr lang="en-US" sz="850" b="1" dirty="0">
                <a:solidFill>
                  <a:srgbClr val="5B6577"/>
                </a:solidFill>
                <a:latin typeface="Arial" pitchFamily="34" charset="0"/>
                <a:ea typeface="Arial" pitchFamily="34" charset="-122"/>
                <a:cs typeface="Arial" pitchFamily="34" charset="-120"/>
              </a:rPr>
              <a:t>events</a:t>
            </a:r>
            <a:endParaRPr lang="en-US" sz="850" dirty="0"/>
          </a:p>
        </p:txBody>
      </p:sp>
      <p:sp>
        <p:nvSpPr>
          <p:cNvPr id="13" name="Shape 11"/>
          <p:cNvSpPr/>
          <p:nvPr/>
        </p:nvSpPr>
        <p:spPr>
          <a:xfrm>
            <a:off x="4882896" y="1627632"/>
            <a:ext cx="1965960"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2458059600000" dist="819353200000" dir="9720000000000000">
              <a:srgbClr val="000000">
                <a:alpha val="140000000000000"/>
              </a:srgbClr>
            </a:outerShdw>
          </a:effectLst>
        </p:spPr>
      </p:sp>
      <p:sp>
        <p:nvSpPr>
          <p:cNvPr id="14" name="Shape 12"/>
          <p:cNvSpPr/>
          <p:nvPr/>
        </p:nvSpPr>
        <p:spPr>
          <a:xfrm>
            <a:off x="4882896" y="1627632"/>
            <a:ext cx="73152" cy="960120"/>
          </a:xfrm>
          <a:prstGeom prst="rect">
            <a:avLst/>
          </a:prstGeom>
          <a:solidFill>
            <a:srgbClr val="F4B942"/>
          </a:solidFill>
          <a:ln w="12700">
            <a:solidFill>
              <a:srgbClr val="F4B942"/>
            </a:solidFill>
            <a:prstDash val="solid"/>
          </a:ln>
        </p:spPr>
      </p:sp>
      <p:sp>
        <p:nvSpPr>
          <p:cNvPr id="15" name="Text 13"/>
          <p:cNvSpPr/>
          <p:nvPr/>
        </p:nvSpPr>
        <p:spPr>
          <a:xfrm>
            <a:off x="5065776" y="1773936"/>
            <a:ext cx="1691640" cy="365760"/>
          </a:xfrm>
          <a:prstGeom prst="rect">
            <a:avLst/>
          </a:prstGeom>
          <a:noFill/>
          <a:ln/>
        </p:spPr>
        <p:txBody>
          <a:bodyPr wrap="square" lIns="0" tIns="0" rIns="0" bIns="0" rtlCol="0" anchor="ctr">
            <a:normAutofit/>
          </a:bodyPr>
          <a:lstStyle/>
          <a:p>
            <a:pPr algn="ctr" indent="0" marL="0">
              <a:buNone/>
            </a:pPr>
            <a:r>
              <a:rPr lang="en-US" sz="2300" b="1" dirty="0">
                <a:solidFill>
                  <a:srgbClr val="0B1220"/>
                </a:solidFill>
                <a:latin typeface="Arial" pitchFamily="34" charset="0"/>
                <a:ea typeface="Arial" pitchFamily="34" charset="-122"/>
                <a:cs typeface="Arial" pitchFamily="34" charset="-120"/>
              </a:rPr>
              <a:t>111</a:t>
            </a:r>
            <a:endParaRPr lang="en-US" sz="2300" dirty="0"/>
          </a:p>
        </p:txBody>
      </p:sp>
      <p:sp>
        <p:nvSpPr>
          <p:cNvPr id="16" name="Text 14"/>
          <p:cNvSpPr/>
          <p:nvPr/>
        </p:nvSpPr>
        <p:spPr>
          <a:xfrm>
            <a:off x="5029200" y="2212848"/>
            <a:ext cx="1746504" cy="182880"/>
          </a:xfrm>
          <a:prstGeom prst="rect">
            <a:avLst/>
          </a:prstGeom>
          <a:noFill/>
          <a:ln/>
        </p:spPr>
        <p:txBody>
          <a:bodyPr wrap="square" lIns="0" tIns="0" rIns="0" bIns="0" rtlCol="0" anchor="ctr">
            <a:normAutofit/>
          </a:bodyPr>
          <a:lstStyle/>
          <a:p>
            <a:pPr algn="ctr" indent="0" marL="0">
              <a:buNone/>
            </a:pPr>
            <a:r>
              <a:rPr lang="en-US" sz="850" b="1" dirty="0">
                <a:solidFill>
                  <a:srgbClr val="5B6577"/>
                </a:solidFill>
                <a:latin typeface="Arial" pitchFamily="34" charset="0"/>
                <a:ea typeface="Arial" pitchFamily="34" charset="-122"/>
                <a:cs typeface="Arial" pitchFamily="34" charset="-120"/>
              </a:rPr>
              <a:t>pre-match examples</a:t>
            </a:r>
            <a:endParaRPr lang="en-US" sz="850" dirty="0"/>
          </a:p>
        </p:txBody>
      </p:sp>
      <p:sp>
        <p:nvSpPr>
          <p:cNvPr id="17" name="Shape 15"/>
          <p:cNvSpPr/>
          <p:nvPr/>
        </p:nvSpPr>
        <p:spPr>
          <a:xfrm>
            <a:off x="7040880" y="1627632"/>
            <a:ext cx="1965960"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31217356920000000" dist="10405785640000000" dir="583200000000000000000">
              <a:srgbClr val="000000">
                <a:alpha val="14000000000000000000"/>
              </a:srgbClr>
            </a:outerShdw>
          </a:effectLst>
        </p:spPr>
      </p:sp>
      <p:sp>
        <p:nvSpPr>
          <p:cNvPr id="18" name="Shape 16"/>
          <p:cNvSpPr/>
          <p:nvPr/>
        </p:nvSpPr>
        <p:spPr>
          <a:xfrm>
            <a:off x="7040880" y="1627632"/>
            <a:ext cx="73152" cy="960120"/>
          </a:xfrm>
          <a:prstGeom prst="rect">
            <a:avLst/>
          </a:prstGeom>
          <a:solidFill>
            <a:srgbClr val="0B8F6A"/>
          </a:solidFill>
          <a:ln w="12700">
            <a:solidFill>
              <a:srgbClr val="0B8F6A"/>
            </a:solidFill>
            <a:prstDash val="solid"/>
          </a:ln>
        </p:spPr>
      </p:sp>
      <p:sp>
        <p:nvSpPr>
          <p:cNvPr id="19" name="Text 17"/>
          <p:cNvSpPr/>
          <p:nvPr/>
        </p:nvSpPr>
        <p:spPr>
          <a:xfrm>
            <a:off x="7223760" y="1773936"/>
            <a:ext cx="1691640" cy="365760"/>
          </a:xfrm>
          <a:prstGeom prst="rect">
            <a:avLst/>
          </a:prstGeom>
          <a:noFill/>
          <a:ln/>
        </p:spPr>
        <p:txBody>
          <a:bodyPr wrap="square" lIns="0" tIns="0" rIns="0" bIns="0" rtlCol="0" anchor="ctr">
            <a:normAutofit/>
          </a:bodyPr>
          <a:lstStyle/>
          <a:p>
            <a:pPr algn="ctr" indent="0" marL="0">
              <a:buNone/>
            </a:pPr>
            <a:r>
              <a:rPr lang="en-US" sz="2300" b="1" dirty="0">
                <a:solidFill>
                  <a:srgbClr val="0B1220"/>
                </a:solidFill>
                <a:latin typeface="Arial" pitchFamily="34" charset="0"/>
                <a:ea typeface="Arial" pitchFamily="34" charset="-122"/>
                <a:cs typeface="Arial" pitchFamily="34" charset="-120"/>
              </a:rPr>
              <a:t>1,998</a:t>
            </a:r>
            <a:endParaRPr lang="en-US" sz="2300" dirty="0"/>
          </a:p>
        </p:txBody>
      </p:sp>
      <p:sp>
        <p:nvSpPr>
          <p:cNvPr id="20" name="Text 18"/>
          <p:cNvSpPr/>
          <p:nvPr/>
        </p:nvSpPr>
        <p:spPr>
          <a:xfrm>
            <a:off x="7187184" y="2212848"/>
            <a:ext cx="1746504" cy="182880"/>
          </a:xfrm>
          <a:prstGeom prst="rect">
            <a:avLst/>
          </a:prstGeom>
          <a:noFill/>
          <a:ln/>
        </p:spPr>
        <p:txBody>
          <a:bodyPr wrap="square" lIns="0" tIns="0" rIns="0" bIns="0" rtlCol="0" anchor="ctr">
            <a:normAutofit/>
          </a:bodyPr>
          <a:lstStyle/>
          <a:p>
            <a:pPr algn="ctr" indent="0" marL="0">
              <a:buNone/>
            </a:pPr>
            <a:r>
              <a:rPr lang="en-US" sz="850" b="1" dirty="0">
                <a:solidFill>
                  <a:srgbClr val="5B6577"/>
                </a:solidFill>
                <a:latin typeface="Arial" pitchFamily="34" charset="0"/>
                <a:ea typeface="Arial" pitchFamily="34" charset="-122"/>
                <a:cs typeface="Arial" pitchFamily="34" charset="-120"/>
              </a:rPr>
              <a:t>in-play snapshots</a:t>
            </a:r>
            <a:endParaRPr lang="en-US" sz="850" dirty="0"/>
          </a:p>
        </p:txBody>
      </p:sp>
      <p:sp>
        <p:nvSpPr>
          <p:cNvPr id="21" name="Shape 19"/>
          <p:cNvSpPr/>
          <p:nvPr/>
        </p:nvSpPr>
        <p:spPr>
          <a:xfrm>
            <a:off x="9198864" y="1627632"/>
            <a:ext cx="1965960"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396460432884000000000" dist="132153477628000000000" dir="3.4992e+25">
              <a:srgbClr val="000000">
                <a:alpha val="1.4e+24"/>
              </a:srgbClr>
            </a:outerShdw>
          </a:effectLst>
        </p:spPr>
      </p:sp>
      <p:sp>
        <p:nvSpPr>
          <p:cNvPr id="22" name="Shape 20"/>
          <p:cNvSpPr/>
          <p:nvPr/>
        </p:nvSpPr>
        <p:spPr>
          <a:xfrm>
            <a:off x="9198864" y="1627632"/>
            <a:ext cx="73152" cy="960120"/>
          </a:xfrm>
          <a:prstGeom prst="rect">
            <a:avLst/>
          </a:prstGeom>
          <a:solidFill>
            <a:srgbClr val="22B8A0"/>
          </a:solidFill>
          <a:ln w="12700">
            <a:solidFill>
              <a:srgbClr val="22B8A0"/>
            </a:solidFill>
            <a:prstDash val="solid"/>
          </a:ln>
        </p:spPr>
      </p:sp>
      <p:sp>
        <p:nvSpPr>
          <p:cNvPr id="23" name="Text 21"/>
          <p:cNvSpPr/>
          <p:nvPr/>
        </p:nvSpPr>
        <p:spPr>
          <a:xfrm>
            <a:off x="9381744" y="1773936"/>
            <a:ext cx="1691640" cy="365760"/>
          </a:xfrm>
          <a:prstGeom prst="rect">
            <a:avLst/>
          </a:prstGeom>
          <a:noFill/>
          <a:ln/>
        </p:spPr>
        <p:txBody>
          <a:bodyPr wrap="square" lIns="0" tIns="0" rIns="0" bIns="0" rtlCol="0" anchor="ctr">
            <a:normAutofit/>
          </a:bodyPr>
          <a:lstStyle/>
          <a:p>
            <a:pPr algn="ctr" indent="0" marL="0">
              <a:buNone/>
            </a:pPr>
            <a:r>
              <a:rPr lang="en-US" sz="2300" b="1" dirty="0">
                <a:solidFill>
                  <a:srgbClr val="0B1220"/>
                </a:solidFill>
                <a:latin typeface="Arial" pitchFamily="34" charset="0"/>
                <a:ea typeface="Arial" pitchFamily="34" charset="-122"/>
                <a:cs typeface="Arial" pitchFamily="34" charset="-120"/>
              </a:rPr>
              <a:t>3</a:t>
            </a:r>
            <a:endParaRPr lang="en-US" sz="2300" dirty="0"/>
          </a:p>
        </p:txBody>
      </p:sp>
      <p:sp>
        <p:nvSpPr>
          <p:cNvPr id="24" name="Text 22"/>
          <p:cNvSpPr/>
          <p:nvPr/>
        </p:nvSpPr>
        <p:spPr>
          <a:xfrm>
            <a:off x="9345168" y="2212848"/>
            <a:ext cx="1746504" cy="182880"/>
          </a:xfrm>
          <a:prstGeom prst="rect">
            <a:avLst/>
          </a:prstGeom>
          <a:noFill/>
          <a:ln/>
        </p:spPr>
        <p:txBody>
          <a:bodyPr wrap="square" lIns="0" tIns="0" rIns="0" bIns="0" rtlCol="0" anchor="ctr">
            <a:normAutofit/>
          </a:bodyPr>
          <a:lstStyle/>
          <a:p>
            <a:pPr algn="ctr" indent="0" marL="0">
              <a:buNone/>
            </a:pPr>
            <a:r>
              <a:rPr lang="en-US" sz="850" b="1" dirty="0">
                <a:solidFill>
                  <a:srgbClr val="5B6577"/>
                </a:solidFill>
                <a:latin typeface="Arial" pitchFamily="34" charset="0"/>
                <a:ea typeface="Arial" pitchFamily="34" charset="-122"/>
                <a:cs typeface="Arial" pitchFamily="34" charset="-120"/>
              </a:rPr>
              <a:t>future-season tests</a:t>
            </a:r>
            <a:endParaRPr lang="en-US" sz="850" dirty="0"/>
          </a:p>
        </p:txBody>
      </p:sp>
      <p:sp>
        <p:nvSpPr>
          <p:cNvPr id="25" name="Shape 23"/>
          <p:cNvSpPr/>
          <p:nvPr/>
        </p:nvSpPr>
        <p:spPr>
          <a:xfrm>
            <a:off x="566928" y="2944368"/>
            <a:ext cx="3529584" cy="2267712"/>
          </a:xfrm>
          <a:prstGeom prst="roundRect">
            <a:avLst>
              <a:gd name="adj" fmla="val 3226"/>
            </a:avLst>
          </a:prstGeom>
          <a:solidFill>
            <a:srgbClr val="FFFFFF"/>
          </a:solidFill>
          <a:ln w="10160">
            <a:solidFill>
              <a:srgbClr val="DDE5EA"/>
            </a:solidFill>
            <a:prstDash val="solid"/>
          </a:ln>
          <a:effectLst>
            <a:outerShdw sx="100000" sy="100000" kx="0" ky="0" algn="bl" rotWithShape="0" blurRad="5.0350474976268e+24" dist="1.6783491658756e+24" dir="2.09952e+30">
              <a:srgbClr val="000000">
                <a:alpha val="1.4000000000000002e+29"/>
              </a:srgbClr>
            </a:outerShdw>
          </a:effectLst>
        </p:spPr>
      </p:sp>
      <p:sp>
        <p:nvSpPr>
          <p:cNvPr id="26" name="Shape 24"/>
          <p:cNvSpPr/>
          <p:nvPr/>
        </p:nvSpPr>
        <p:spPr>
          <a:xfrm>
            <a:off x="566928" y="2944368"/>
            <a:ext cx="73152" cy="2267712"/>
          </a:xfrm>
          <a:prstGeom prst="rect">
            <a:avLst/>
          </a:prstGeom>
          <a:solidFill>
            <a:srgbClr val="0B8F6A"/>
          </a:solidFill>
          <a:ln w="12700">
            <a:solidFill>
              <a:srgbClr val="0B8F6A"/>
            </a:solidFill>
            <a:prstDash val="solid"/>
          </a:ln>
        </p:spPr>
      </p:sp>
      <p:sp>
        <p:nvSpPr>
          <p:cNvPr id="27" name="Text 25"/>
          <p:cNvSpPr/>
          <p:nvPr/>
        </p:nvSpPr>
        <p:spPr>
          <a:xfrm>
            <a:off x="768096" y="3090672"/>
            <a:ext cx="3182112" cy="256032"/>
          </a:xfrm>
          <a:prstGeom prst="rect">
            <a:avLst/>
          </a:prstGeom>
          <a:noFill/>
          <a:ln/>
        </p:spPr>
        <p:txBody>
          <a:bodyPr wrap="square" lIns="0" tIns="0" rIns="0" bIns="0" rtlCol="0" anchor="ctr">
            <a:normAutofit/>
          </a:bodyPr>
          <a:lstStyle/>
          <a:p>
            <a:pPr indent="0" marL="0">
              <a:buNone/>
            </a:pPr>
            <a:r>
              <a:rPr lang="en-US" sz="1150" b="1" dirty="0">
                <a:solidFill>
                  <a:srgbClr val="0B1220"/>
                </a:solidFill>
                <a:latin typeface="Arial" pitchFamily="34" charset="0"/>
                <a:ea typeface="Arial" pitchFamily="34" charset="-122"/>
                <a:cs typeface="Arial" pitchFamily="34" charset="-120"/>
              </a:rPr>
              <a:t>Model 1 · Outcome Classification</a:t>
            </a:r>
            <a:endParaRPr lang="en-US" sz="1150" dirty="0"/>
          </a:p>
        </p:txBody>
      </p:sp>
      <p:sp>
        <p:nvSpPr>
          <p:cNvPr id="28" name="Text 26"/>
          <p:cNvSpPr/>
          <p:nvPr/>
        </p:nvSpPr>
        <p:spPr>
          <a:xfrm>
            <a:off x="768096" y="3419856"/>
            <a:ext cx="3163824" cy="1673352"/>
          </a:xfrm>
          <a:prstGeom prst="rect">
            <a:avLst/>
          </a:prstGeom>
          <a:noFill/>
          <a:ln/>
        </p:spPr>
        <p:txBody>
          <a:bodyPr wrap="square" lIns="0" tIns="0" rIns="0" bIns="0" rtlCol="0" anchor="t">
            <a:normAutofit/>
          </a:bodyPr>
          <a:lstStyle/>
          <a:p>
            <a:pPr indent="0" marL="0">
              <a:buNone/>
            </a:pPr>
            <a:r>
              <a:rPr lang="en-US" sz="940" dirty="0">
                <a:solidFill>
                  <a:srgbClr val="273142"/>
                </a:solidFill>
                <a:latin typeface="Arial" pitchFamily="34" charset="0"/>
                <a:ea typeface="Arial" pitchFamily="34" charset="-122"/>
                <a:cs typeface="Arial" pitchFamily="34" charset="-120"/>
              </a:rPr>
              <a:t>One vector per match → calibrated probabilities for Home / Draw / Away.</a:t>
            </a:r>
            <a:endParaRPr lang="en-US" sz="940" dirty="0"/>
          </a:p>
          <a:p>
            <a:pPr indent="0" marL="0">
              <a:buNone/>
            </a:pPr>
            <a:endParaRPr lang="en-US" sz="940" dirty="0"/>
          </a:p>
          <a:p>
            <a:pPr indent="0" marL="0">
              <a:buNone/>
            </a:pPr>
            <a:r>
              <a:rPr lang="en-US" sz="940" dirty="0">
                <a:solidFill>
                  <a:srgbClr val="273142"/>
                </a:solidFill>
                <a:latin typeface="Arial" pitchFamily="34" charset="0"/>
                <a:ea typeface="Arial" pitchFamily="34" charset="-122"/>
                <a:cs typeface="Arial" pitchFamily="34" charset="-120"/>
              </a:rPr>
              <a:t>Headline scoring: RPS, plus Log Loss, Brier, ECE and balanced accuracy.</a:t>
            </a:r>
            <a:endParaRPr lang="en-US" sz="940" dirty="0"/>
          </a:p>
        </p:txBody>
      </p:sp>
      <p:sp>
        <p:nvSpPr>
          <p:cNvPr id="29" name="Shape 27"/>
          <p:cNvSpPr/>
          <p:nvPr/>
        </p:nvSpPr>
        <p:spPr>
          <a:xfrm>
            <a:off x="4334256" y="2944368"/>
            <a:ext cx="3529584" cy="2267712"/>
          </a:xfrm>
          <a:prstGeom prst="roundRect">
            <a:avLst>
              <a:gd name="adj" fmla="val 3226"/>
            </a:avLst>
          </a:prstGeom>
          <a:solidFill>
            <a:srgbClr val="FFFFFF"/>
          </a:solidFill>
          <a:ln w="10160">
            <a:solidFill>
              <a:srgbClr val="DDE5EA"/>
            </a:solidFill>
            <a:prstDash val="solid"/>
          </a:ln>
          <a:effectLst>
            <a:outerShdw sx="100000" sy="100000" kx="0" ky="0" algn="bl" rotWithShape="0" blurRad="6.3945103219860365e+28" dist="2.1315034406620117e+28" dir="1.259712e+35">
              <a:srgbClr val="000000">
                <a:alpha val="1.4000000000000003e+34"/>
              </a:srgbClr>
            </a:outerShdw>
          </a:effectLst>
        </p:spPr>
      </p:sp>
      <p:sp>
        <p:nvSpPr>
          <p:cNvPr id="30" name="Shape 28"/>
          <p:cNvSpPr/>
          <p:nvPr/>
        </p:nvSpPr>
        <p:spPr>
          <a:xfrm>
            <a:off x="4334256" y="2944368"/>
            <a:ext cx="73152" cy="2267712"/>
          </a:xfrm>
          <a:prstGeom prst="rect">
            <a:avLst/>
          </a:prstGeom>
          <a:solidFill>
            <a:srgbClr val="22B8A0"/>
          </a:solidFill>
          <a:ln w="12700">
            <a:solidFill>
              <a:srgbClr val="22B8A0"/>
            </a:solidFill>
            <a:prstDash val="solid"/>
          </a:ln>
        </p:spPr>
      </p:sp>
      <p:sp>
        <p:nvSpPr>
          <p:cNvPr id="31" name="Text 29"/>
          <p:cNvSpPr/>
          <p:nvPr/>
        </p:nvSpPr>
        <p:spPr>
          <a:xfrm>
            <a:off x="4535424" y="3090672"/>
            <a:ext cx="3182112" cy="256032"/>
          </a:xfrm>
          <a:prstGeom prst="rect">
            <a:avLst/>
          </a:prstGeom>
          <a:noFill/>
          <a:ln/>
        </p:spPr>
        <p:txBody>
          <a:bodyPr wrap="square" lIns="0" tIns="0" rIns="0" bIns="0" rtlCol="0" anchor="ctr">
            <a:normAutofit/>
          </a:bodyPr>
          <a:lstStyle/>
          <a:p>
            <a:pPr indent="0" marL="0">
              <a:buNone/>
            </a:pPr>
            <a:r>
              <a:rPr lang="en-US" sz="1150" b="1" dirty="0">
                <a:solidFill>
                  <a:srgbClr val="0B1220"/>
                </a:solidFill>
                <a:latin typeface="Arial" pitchFamily="34" charset="0"/>
                <a:ea typeface="Arial" pitchFamily="34" charset="-122"/>
                <a:cs typeface="Arial" pitchFamily="34" charset="-120"/>
              </a:rPr>
              <a:t>Model 2 · Goal-Margin Regression</a:t>
            </a:r>
            <a:endParaRPr lang="en-US" sz="1150" dirty="0"/>
          </a:p>
        </p:txBody>
      </p:sp>
      <p:sp>
        <p:nvSpPr>
          <p:cNvPr id="32" name="Text 30"/>
          <p:cNvSpPr/>
          <p:nvPr/>
        </p:nvSpPr>
        <p:spPr>
          <a:xfrm>
            <a:off x="4535424" y="3419856"/>
            <a:ext cx="3163824" cy="1673352"/>
          </a:xfrm>
          <a:prstGeom prst="rect">
            <a:avLst/>
          </a:prstGeom>
          <a:noFill/>
          <a:ln/>
        </p:spPr>
        <p:txBody>
          <a:bodyPr wrap="square" lIns="0" tIns="0" rIns="0" bIns="0" rtlCol="0" anchor="t">
            <a:normAutofit/>
          </a:bodyPr>
          <a:lstStyle/>
          <a:p>
            <a:pPr indent="0" marL="0">
              <a:buNone/>
            </a:pPr>
            <a:r>
              <a:rPr lang="en-US" sz="940" dirty="0">
                <a:solidFill>
                  <a:srgbClr val="273142"/>
                </a:solidFill>
                <a:latin typeface="Arial" pitchFamily="34" charset="0"/>
                <a:ea typeface="Arial" pitchFamily="34" charset="-122"/>
                <a:cs typeface="Arial" pitchFamily="34" charset="-120"/>
              </a:rPr>
              <a:t>Same pre-match history → signed home-minus-away goal margin.</a:t>
            </a:r>
            <a:endParaRPr lang="en-US" sz="940" dirty="0"/>
          </a:p>
          <a:p>
            <a:pPr indent="0" marL="0">
              <a:buNone/>
            </a:pPr>
            <a:endParaRPr lang="en-US" sz="940" dirty="0"/>
          </a:p>
          <a:p>
            <a:pPr indent="0" marL="0">
              <a:buNone/>
            </a:pPr>
            <a:r>
              <a:rPr lang="en-US" sz="940" dirty="0">
                <a:solidFill>
                  <a:srgbClr val="273142"/>
                </a:solidFill>
                <a:latin typeface="Arial" pitchFamily="34" charset="0"/>
                <a:ea typeface="Arial" pitchFamily="34" charset="-122"/>
                <a:cs typeface="Arial" pitchFamily="34" charset="-120"/>
              </a:rPr>
              <a:t>Measured with MAE, RMSE, R² and correlation.</a:t>
            </a:r>
            <a:endParaRPr lang="en-US" sz="940" dirty="0"/>
          </a:p>
        </p:txBody>
      </p:sp>
      <p:sp>
        <p:nvSpPr>
          <p:cNvPr id="33" name="Shape 31"/>
          <p:cNvSpPr/>
          <p:nvPr/>
        </p:nvSpPr>
        <p:spPr>
          <a:xfrm>
            <a:off x="8101584" y="2944368"/>
            <a:ext cx="3529584" cy="2267712"/>
          </a:xfrm>
          <a:prstGeom prst="roundRect">
            <a:avLst>
              <a:gd name="adj" fmla="val 3226"/>
            </a:avLst>
          </a:prstGeom>
          <a:solidFill>
            <a:srgbClr val="FFFFFF"/>
          </a:solidFill>
          <a:ln w="10160">
            <a:solidFill>
              <a:srgbClr val="DDE5EA"/>
            </a:solidFill>
            <a:prstDash val="solid"/>
          </a:ln>
          <a:effectLst>
            <a:outerShdw sx="100000" sy="100000" kx="0" ky="0" algn="bl" rotWithShape="0" blurRad="8.121028108922266e+32" dist="2.7070093696407548e+32" dir="7.558272e+39">
              <a:srgbClr val="000000">
                <a:alpha val="1.4000000000000003e+39"/>
              </a:srgbClr>
            </a:outerShdw>
          </a:effectLst>
        </p:spPr>
      </p:sp>
      <p:sp>
        <p:nvSpPr>
          <p:cNvPr id="34" name="Shape 32"/>
          <p:cNvSpPr/>
          <p:nvPr/>
        </p:nvSpPr>
        <p:spPr>
          <a:xfrm>
            <a:off x="8101584" y="2944368"/>
            <a:ext cx="73152" cy="2267712"/>
          </a:xfrm>
          <a:prstGeom prst="rect">
            <a:avLst/>
          </a:prstGeom>
          <a:solidFill>
            <a:srgbClr val="F4B942"/>
          </a:solidFill>
          <a:ln w="12700">
            <a:solidFill>
              <a:srgbClr val="F4B942"/>
            </a:solidFill>
            <a:prstDash val="solid"/>
          </a:ln>
        </p:spPr>
      </p:sp>
      <p:sp>
        <p:nvSpPr>
          <p:cNvPr id="35" name="Text 33"/>
          <p:cNvSpPr/>
          <p:nvPr/>
        </p:nvSpPr>
        <p:spPr>
          <a:xfrm>
            <a:off x="8302752" y="3090672"/>
            <a:ext cx="3182112" cy="256032"/>
          </a:xfrm>
          <a:prstGeom prst="rect">
            <a:avLst/>
          </a:prstGeom>
          <a:noFill/>
          <a:ln/>
        </p:spPr>
        <p:txBody>
          <a:bodyPr wrap="square" lIns="0" tIns="0" rIns="0" bIns="0" rtlCol="0" anchor="ctr">
            <a:normAutofit/>
          </a:bodyPr>
          <a:lstStyle/>
          <a:p>
            <a:pPr indent="0" marL="0">
              <a:buNone/>
            </a:pPr>
            <a:r>
              <a:rPr lang="en-US" sz="1150" b="1" dirty="0">
                <a:solidFill>
                  <a:srgbClr val="0B1220"/>
                </a:solidFill>
                <a:latin typeface="Arial" pitchFamily="34" charset="0"/>
                <a:ea typeface="Arial" pitchFamily="34" charset="-122"/>
                <a:cs typeface="Arial" pitchFamily="34" charset="-120"/>
              </a:rPr>
              <a:t>Model 3 · In-Play Prediction</a:t>
            </a:r>
            <a:endParaRPr lang="en-US" sz="1150" dirty="0"/>
          </a:p>
        </p:txBody>
      </p:sp>
      <p:sp>
        <p:nvSpPr>
          <p:cNvPr id="36" name="Text 34"/>
          <p:cNvSpPr/>
          <p:nvPr/>
        </p:nvSpPr>
        <p:spPr>
          <a:xfrm>
            <a:off x="8302752" y="3419856"/>
            <a:ext cx="3163824" cy="1673352"/>
          </a:xfrm>
          <a:prstGeom prst="rect">
            <a:avLst/>
          </a:prstGeom>
          <a:noFill/>
          <a:ln/>
        </p:spPr>
        <p:txBody>
          <a:bodyPr wrap="square" lIns="0" tIns="0" rIns="0" bIns="0" rtlCol="0" anchor="t">
            <a:normAutofit/>
          </a:bodyPr>
          <a:lstStyle/>
          <a:p>
            <a:pPr indent="0" marL="0">
              <a:buNone/>
            </a:pPr>
            <a:r>
              <a:rPr lang="en-US" sz="940" dirty="0">
                <a:solidFill>
                  <a:srgbClr val="273142"/>
                </a:solidFill>
                <a:latin typeface="Arial" pitchFamily="34" charset="0"/>
                <a:ea typeface="Arial" pitchFamily="34" charset="-122"/>
                <a:cs typeface="Arial" pitchFamily="34" charset="-120"/>
              </a:rPr>
              <a:t>18 snapshots per match (5, 10, …, 90 minutes) → updated outcome probabilities and expected margin.</a:t>
            </a:r>
            <a:endParaRPr lang="en-US" sz="940" dirty="0"/>
          </a:p>
        </p:txBody>
      </p:sp>
      <p:sp>
        <p:nvSpPr>
          <p:cNvPr id="37" name="Shape 35"/>
          <p:cNvSpPr/>
          <p:nvPr/>
        </p:nvSpPr>
        <p:spPr>
          <a:xfrm>
            <a:off x="566928" y="5532120"/>
            <a:ext cx="11064240" cy="676656"/>
          </a:xfrm>
          <a:prstGeom prst="roundRect">
            <a:avLst>
              <a:gd name="adj" fmla="val 8108"/>
            </a:avLst>
          </a:prstGeom>
          <a:solidFill>
            <a:srgbClr val="E9F8F3"/>
          </a:solidFill>
          <a:ln w="12700">
            <a:solidFill>
              <a:srgbClr val="E9F8F3"/>
            </a:solidFill>
            <a:prstDash val="solid"/>
          </a:ln>
        </p:spPr>
      </p:sp>
      <p:sp>
        <p:nvSpPr>
          <p:cNvPr id="38" name="Shape 36"/>
          <p:cNvSpPr/>
          <p:nvPr/>
        </p:nvSpPr>
        <p:spPr>
          <a:xfrm>
            <a:off x="566928" y="5532120"/>
            <a:ext cx="91440" cy="676656"/>
          </a:xfrm>
          <a:prstGeom prst="rect">
            <a:avLst/>
          </a:prstGeom>
          <a:solidFill>
            <a:srgbClr val="0B8F6A"/>
          </a:solidFill>
          <a:ln w="12700">
            <a:solidFill>
              <a:srgbClr val="0B8F6A"/>
            </a:solidFill>
            <a:prstDash val="solid"/>
          </a:ln>
        </p:spPr>
      </p:sp>
      <p:sp>
        <p:nvSpPr>
          <p:cNvPr id="39" name="Text 37"/>
          <p:cNvSpPr/>
          <p:nvPr/>
        </p:nvSpPr>
        <p:spPr>
          <a:xfrm>
            <a:off x="786384" y="5650992"/>
            <a:ext cx="10698480"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Defense principle</a:t>
            </a:r>
            <a:endParaRPr lang="en-US" sz="1050" dirty="0"/>
          </a:p>
        </p:txBody>
      </p:sp>
      <p:sp>
        <p:nvSpPr>
          <p:cNvPr id="40" name="Text 38"/>
          <p:cNvSpPr/>
          <p:nvPr/>
        </p:nvSpPr>
        <p:spPr>
          <a:xfrm>
            <a:off x="786384" y="5925312"/>
            <a:ext cx="10680192" cy="182880"/>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Every number in this presentation is tied to a specific test season and data scope. We do not present accuracy as a universal constant.</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02 · DATA</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lang="en-US" sz="2500" b="1" dirty="0">
                <a:solidFill>
                  <a:srgbClr val="0B1220"/>
                </a:solidFill>
                <a:latin typeface="Arial" pitchFamily="34" charset="0"/>
                <a:ea typeface="Arial" pitchFamily="34" charset="-122"/>
                <a:cs typeface="Arial" pitchFamily="34" charset="-120"/>
              </a:rPr>
              <a:t>What data did we actually evaluate?</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This scope must be stated before quoting any accuracy.</a:t>
            </a:r>
            <a:endParaRPr lang="en-US" sz="1050" dirty="0"/>
          </a:p>
        </p:txBody>
      </p:sp>
      <p:sp>
        <p:nvSpPr>
          <p:cNvPr id="5" name="Shape 3"/>
          <p:cNvSpPr/>
          <p:nvPr/>
        </p:nvSpPr>
        <p:spPr>
          <a:xfrm>
            <a:off x="566928" y="1508760"/>
            <a:ext cx="6720840" cy="4160520"/>
          </a:xfrm>
          <a:prstGeom prst="roundRect">
            <a:avLst>
              <a:gd name="adj" fmla="val 1099"/>
            </a:avLst>
          </a:prstGeom>
          <a:solidFill>
            <a:srgbClr val="FFFFFF"/>
          </a:solidFill>
          <a:ln w="10160">
            <a:solidFill>
              <a:srgbClr val="DDE5EA"/>
            </a:solidFill>
            <a:prstDash val="solid"/>
          </a:ln>
          <a:effectLst>
            <a:outerShdw sx="100000" sy="100000" kx="0" ky="0" algn="bl" rotWithShape="0" blurRad="1.0313705698331278e+37" dist="3.4379018994437585e+36" dir="4.5349632000000006e+44">
              <a:srgbClr val="000000">
                <a:alpha val="1.4000000000000002e+44"/>
              </a:srgbClr>
            </a:outerShdw>
          </a:effectLst>
        </p:spPr>
      </p:sp>
      <p:pic>
        <p:nvPicPr>
          <p:cNvPr id="6" name="Image 0" descr="/mnt/data/final_artifacts/assets/data_scope_by_season.png">    </p:cNvPr>
          <p:cNvPicPr>
            <a:picLocks noChangeAspect="1"/>
          </p:cNvPicPr>
          <p:nvPr/>
        </p:nvPicPr>
        <p:blipFill>
          <a:blip r:embed="rId1"/>
          <a:stretch>
            <a:fillRect/>
          </a:stretch>
        </p:blipFill>
        <p:spPr>
          <a:xfrm>
            <a:off x="739609" y="1600200"/>
            <a:ext cx="6375478" cy="3721608"/>
          </a:xfrm>
          <a:prstGeom prst="rect">
            <a:avLst/>
          </a:prstGeom>
        </p:spPr>
      </p:pic>
      <p:sp>
        <p:nvSpPr>
          <p:cNvPr id="7" name="Text 4"/>
          <p:cNvSpPr/>
          <p:nvPr/>
        </p:nvSpPr>
        <p:spPr>
          <a:xfrm>
            <a:off x="731520" y="5367528"/>
            <a:ext cx="6391656" cy="164592"/>
          </a:xfrm>
          <a:prstGeom prst="rect">
            <a:avLst/>
          </a:prstGeom>
          <a:noFill/>
          <a:ln/>
        </p:spPr>
        <p:txBody>
          <a:bodyPr wrap="square" lIns="0" tIns="0" rIns="0" bIns="0" rtlCol="0" anchor="ctr">
            <a:normAutofit/>
          </a:bodyPr>
          <a:lstStyle/>
          <a:p>
            <a:pPr algn="ctr" indent="0" marL="0">
              <a:buNone/>
            </a:pPr>
            <a:r>
              <a:rPr lang="en-US" sz="780" i="1" dirty="0">
                <a:solidFill>
                  <a:srgbClr val="5B6577"/>
                </a:solidFill>
                <a:latin typeface="Arial" pitchFamily="34" charset="0"/>
                <a:ea typeface="Arial" pitchFamily="34" charset="-122"/>
                <a:cs typeface="Arial" pitchFamily="34" charset="-120"/>
              </a:rPr>
              <a:t>Modeling examples after rolling-history filtering.</a:t>
            </a:r>
            <a:endParaRPr lang="en-US" sz="780" dirty="0"/>
          </a:p>
        </p:txBody>
      </p:sp>
      <p:sp>
        <p:nvSpPr>
          <p:cNvPr id="8" name="Shape 5"/>
          <p:cNvSpPr/>
          <p:nvPr/>
        </p:nvSpPr>
        <p:spPr>
          <a:xfrm>
            <a:off x="7534656" y="1508760"/>
            <a:ext cx="4096512" cy="1024128"/>
          </a:xfrm>
          <a:prstGeom prst="roundRect">
            <a:avLst>
              <a:gd name="adj" fmla="val 7143"/>
            </a:avLst>
          </a:prstGeom>
          <a:solidFill>
            <a:srgbClr val="FFFFFF"/>
          </a:solidFill>
          <a:ln w="10160">
            <a:solidFill>
              <a:srgbClr val="DDE5EA"/>
            </a:solidFill>
            <a:prstDash val="solid"/>
          </a:ln>
          <a:effectLst>
            <a:outerShdw sx="100000" sy="100000" kx="0" ky="0" algn="bl" rotWithShape="0" blurRad="1.3098406236880722e+41" dist="4.366135412293573e+40" dir="2.72097792e+49">
              <a:srgbClr val="000000">
                <a:alpha val="1.4000000000000002e+49"/>
              </a:srgbClr>
            </a:outerShdw>
          </a:effectLst>
        </p:spPr>
      </p:sp>
      <p:sp>
        <p:nvSpPr>
          <p:cNvPr id="9" name="Shape 6"/>
          <p:cNvSpPr/>
          <p:nvPr/>
        </p:nvSpPr>
        <p:spPr>
          <a:xfrm>
            <a:off x="7534656" y="1508760"/>
            <a:ext cx="73152" cy="1024128"/>
          </a:xfrm>
          <a:prstGeom prst="rect">
            <a:avLst/>
          </a:prstGeom>
          <a:solidFill>
            <a:srgbClr val="0B8F6A"/>
          </a:solidFill>
          <a:ln w="12700">
            <a:solidFill>
              <a:srgbClr val="0B8F6A"/>
            </a:solidFill>
            <a:prstDash val="solid"/>
          </a:ln>
        </p:spPr>
      </p:sp>
      <p:sp>
        <p:nvSpPr>
          <p:cNvPr id="10" name="Text 7"/>
          <p:cNvSpPr/>
          <p:nvPr/>
        </p:nvSpPr>
        <p:spPr>
          <a:xfrm>
            <a:off x="7735824" y="1655064"/>
            <a:ext cx="3749040"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Competition &amp; seasons</a:t>
            </a:r>
            <a:endParaRPr lang="en-US" sz="1100" dirty="0"/>
          </a:p>
        </p:txBody>
      </p:sp>
      <p:sp>
        <p:nvSpPr>
          <p:cNvPr id="11" name="Text 8"/>
          <p:cNvSpPr/>
          <p:nvPr/>
        </p:nvSpPr>
        <p:spPr>
          <a:xfrm>
            <a:off x="7735824" y="1984248"/>
            <a:ext cx="3730752" cy="429768"/>
          </a:xfrm>
          <a:prstGeom prst="rect">
            <a:avLst/>
          </a:prstGeom>
          <a:noFill/>
          <a:ln/>
        </p:spPr>
        <p:txBody>
          <a:bodyPr wrap="square" lIns="0" tIns="0" rIns="0" bIns="0" rtlCol="0" anchor="t">
            <a:normAutofit/>
          </a:bodyPr>
          <a:lstStyle/>
          <a:p>
            <a:pPr indent="0" marL="0">
              <a:buNone/>
            </a:pPr>
            <a:r>
              <a:rPr lang="en-US" sz="1000" dirty="0">
                <a:solidFill>
                  <a:srgbClr val="273142"/>
                </a:solidFill>
                <a:latin typeface="Arial" pitchFamily="34" charset="0"/>
                <a:ea typeface="Arial" pitchFamily="34" charset="-122"/>
                <a:cs typeface="Arial" pitchFamily="34" charset="-120"/>
              </a:rPr>
              <a:t>La Liga · 2017/18, 2018/19, 2019/20, 2020/21</a:t>
            </a:r>
            <a:endParaRPr lang="en-US" sz="1000" dirty="0"/>
          </a:p>
        </p:txBody>
      </p:sp>
      <p:sp>
        <p:nvSpPr>
          <p:cNvPr id="12" name="Shape 9"/>
          <p:cNvSpPr/>
          <p:nvPr/>
        </p:nvSpPr>
        <p:spPr>
          <a:xfrm>
            <a:off x="7534656" y="2697480"/>
            <a:ext cx="4096512" cy="1298448"/>
          </a:xfrm>
          <a:prstGeom prst="roundRect">
            <a:avLst>
              <a:gd name="adj" fmla="val 5634"/>
            </a:avLst>
          </a:prstGeom>
          <a:solidFill>
            <a:srgbClr val="FFF5D8"/>
          </a:solidFill>
          <a:ln w="10160">
            <a:solidFill>
              <a:srgbClr val="DDE5EA"/>
            </a:solidFill>
            <a:prstDash val="solid"/>
          </a:ln>
          <a:effectLst>
            <a:outerShdw sx="100000" sy="100000" kx="0" ky="0" algn="bl" rotWithShape="0" blurRad="1.6634975920838518e+45" dist="5.544991973612838e+44" dir="1.6325867520000003e+54">
              <a:srgbClr val="000000">
                <a:alpha val="1.4e+54"/>
              </a:srgbClr>
            </a:outerShdw>
          </a:effectLst>
        </p:spPr>
      </p:sp>
      <p:sp>
        <p:nvSpPr>
          <p:cNvPr id="13" name="Shape 10"/>
          <p:cNvSpPr/>
          <p:nvPr/>
        </p:nvSpPr>
        <p:spPr>
          <a:xfrm>
            <a:off x="7534656" y="2697480"/>
            <a:ext cx="73152" cy="1298448"/>
          </a:xfrm>
          <a:prstGeom prst="rect">
            <a:avLst/>
          </a:prstGeom>
          <a:solidFill>
            <a:srgbClr val="F4B942"/>
          </a:solidFill>
          <a:ln w="12700">
            <a:solidFill>
              <a:srgbClr val="F4B942"/>
            </a:solidFill>
            <a:prstDash val="solid"/>
          </a:ln>
        </p:spPr>
      </p:sp>
      <p:sp>
        <p:nvSpPr>
          <p:cNvPr id="14" name="Text 11"/>
          <p:cNvSpPr/>
          <p:nvPr/>
        </p:nvSpPr>
        <p:spPr>
          <a:xfrm>
            <a:off x="7735824" y="2843784"/>
            <a:ext cx="3749040"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Important sampling fact</a:t>
            </a:r>
            <a:endParaRPr lang="en-US" sz="1100" dirty="0"/>
          </a:p>
        </p:txBody>
      </p:sp>
      <p:sp>
        <p:nvSpPr>
          <p:cNvPr id="15" name="Text 12"/>
          <p:cNvSpPr/>
          <p:nvPr/>
        </p:nvSpPr>
        <p:spPr>
          <a:xfrm>
            <a:off x="7735824" y="3172968"/>
            <a:ext cx="3730752" cy="704088"/>
          </a:xfrm>
          <a:prstGeom prst="rect">
            <a:avLst/>
          </a:prstGeom>
          <a:noFill/>
          <a:ln/>
        </p:spPr>
        <p:txBody>
          <a:bodyPr wrap="square" lIns="0" tIns="0" rIns="0" bIns="0" rtlCol="0" anchor="t">
            <a:normAutofit/>
          </a:bodyPr>
          <a:lstStyle/>
          <a:p>
            <a:pPr indent="0" marL="0">
              <a:buNone/>
            </a:pPr>
            <a:r>
              <a:rPr lang="en-US" sz="950" dirty="0">
                <a:solidFill>
                  <a:srgbClr val="273142"/>
                </a:solidFill>
                <a:latin typeface="Arial" pitchFamily="34" charset="0"/>
                <a:ea typeface="Arial" pitchFamily="34" charset="-122"/>
                <a:cs typeface="Arial" pitchFamily="34" charset="-120"/>
              </a:rPr>
              <a:t>The available StatsBomb matches in these seasons are Barcelona-centered. Every retained modeling match includes Barcelona as home or away.</a:t>
            </a:r>
            <a:endParaRPr lang="en-US" sz="950" dirty="0"/>
          </a:p>
        </p:txBody>
      </p:sp>
      <p:sp>
        <p:nvSpPr>
          <p:cNvPr id="16" name="Shape 13"/>
          <p:cNvSpPr/>
          <p:nvPr/>
        </p:nvSpPr>
        <p:spPr>
          <a:xfrm>
            <a:off x="7534656" y="4178808"/>
            <a:ext cx="4096512" cy="1143000"/>
          </a:xfrm>
          <a:prstGeom prst="roundRect">
            <a:avLst>
              <a:gd name="adj" fmla="val 6400"/>
            </a:avLst>
          </a:prstGeom>
          <a:solidFill>
            <a:srgbClr val="FFFFFF"/>
          </a:solidFill>
          <a:ln w="10160">
            <a:solidFill>
              <a:srgbClr val="DDE5EA"/>
            </a:solidFill>
            <a:prstDash val="solid"/>
          </a:ln>
          <a:effectLst>
            <a:outerShdw sx="100000" sy="100000" kx="0" ky="0" algn="bl" rotWithShape="0" blurRad="2.1126419419464918e+49" dist="7.042139806488304e+48" dir="9.795520512000002e+58">
              <a:srgbClr val="000000">
                <a:alpha val="1.4000000000000001e+59"/>
              </a:srgbClr>
            </a:outerShdw>
          </a:effectLst>
        </p:spPr>
      </p:sp>
      <p:sp>
        <p:nvSpPr>
          <p:cNvPr id="17" name="Shape 14"/>
          <p:cNvSpPr/>
          <p:nvPr/>
        </p:nvSpPr>
        <p:spPr>
          <a:xfrm>
            <a:off x="7534656" y="4178808"/>
            <a:ext cx="73152" cy="1143000"/>
          </a:xfrm>
          <a:prstGeom prst="rect">
            <a:avLst/>
          </a:prstGeom>
          <a:solidFill>
            <a:srgbClr val="22B8A0"/>
          </a:solidFill>
          <a:ln w="12700">
            <a:solidFill>
              <a:srgbClr val="22B8A0"/>
            </a:solidFill>
            <a:prstDash val="solid"/>
          </a:ln>
        </p:spPr>
      </p:sp>
      <p:sp>
        <p:nvSpPr>
          <p:cNvPr id="18" name="Text 15"/>
          <p:cNvSpPr/>
          <p:nvPr/>
        </p:nvSpPr>
        <p:spPr>
          <a:xfrm>
            <a:off x="7735824" y="4325112"/>
            <a:ext cx="3749040"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360 coverage</a:t>
            </a:r>
            <a:endParaRPr lang="en-US" sz="1100" dirty="0"/>
          </a:p>
        </p:txBody>
      </p:sp>
      <p:sp>
        <p:nvSpPr>
          <p:cNvPr id="19" name="Text 16"/>
          <p:cNvSpPr/>
          <p:nvPr/>
        </p:nvSpPr>
        <p:spPr>
          <a:xfrm>
            <a:off x="7735824" y="4654296"/>
            <a:ext cx="3730752" cy="548640"/>
          </a:xfrm>
          <a:prstGeom prst="rect">
            <a:avLst/>
          </a:prstGeom>
          <a:noFill/>
          <a:ln/>
        </p:spPr>
        <p:txBody>
          <a:bodyPr wrap="square" lIns="0" tIns="0" rIns="0" bIns="0" rtlCol="0" anchor="t">
            <a:normAutofit/>
          </a:bodyPr>
          <a:lstStyle/>
          <a:p>
            <a:pPr indent="0" marL="0">
              <a:buNone/>
            </a:pPr>
            <a:r>
              <a:rPr lang="en-US" sz="930" dirty="0">
                <a:solidFill>
                  <a:srgbClr val="273142"/>
                </a:solidFill>
                <a:latin typeface="Arial" pitchFamily="34" charset="0"/>
                <a:ea typeface="Arial" pitchFamily="34" charset="-122"/>
                <a:cs typeface="Arial" pitchFamily="34" charset="-120"/>
              </a:rPr>
              <a:t>35 of 138 raw matches have 360 frames (25.4%). Final engineered features are primarily event-stream features, not full-coverage 360 inputs.</a:t>
            </a:r>
            <a:endParaRPr lang="en-US" sz="930" dirty="0"/>
          </a:p>
        </p:txBody>
      </p:sp>
      <p:sp>
        <p:nvSpPr>
          <p:cNvPr id="20" name="Shape 17"/>
          <p:cNvSpPr/>
          <p:nvPr/>
        </p:nvSpPr>
        <p:spPr>
          <a:xfrm>
            <a:off x="7534656" y="5504688"/>
            <a:ext cx="4096512" cy="658368"/>
          </a:xfrm>
          <a:prstGeom prst="roundRect">
            <a:avLst>
              <a:gd name="adj" fmla="val 8333"/>
            </a:avLst>
          </a:prstGeom>
          <a:solidFill>
            <a:srgbClr val="FDECEC"/>
          </a:solidFill>
          <a:ln w="12700">
            <a:solidFill>
              <a:srgbClr val="FDECEC"/>
            </a:solidFill>
            <a:prstDash val="solid"/>
          </a:ln>
        </p:spPr>
      </p:sp>
      <p:sp>
        <p:nvSpPr>
          <p:cNvPr id="21" name="Shape 18"/>
          <p:cNvSpPr/>
          <p:nvPr/>
        </p:nvSpPr>
        <p:spPr>
          <a:xfrm>
            <a:off x="7534656" y="5504688"/>
            <a:ext cx="91440" cy="658368"/>
          </a:xfrm>
          <a:prstGeom prst="rect">
            <a:avLst/>
          </a:prstGeom>
          <a:solidFill>
            <a:srgbClr val="C94949"/>
          </a:solidFill>
          <a:ln w="12700">
            <a:solidFill>
              <a:srgbClr val="C94949"/>
            </a:solidFill>
            <a:prstDash val="solid"/>
          </a:ln>
        </p:spPr>
      </p:sp>
      <p:sp>
        <p:nvSpPr>
          <p:cNvPr id="22" name="Text 19"/>
          <p:cNvSpPr/>
          <p:nvPr/>
        </p:nvSpPr>
        <p:spPr>
          <a:xfrm>
            <a:off x="7754112" y="5623560"/>
            <a:ext cx="3730752"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Correct claim</a:t>
            </a:r>
            <a:endParaRPr lang="en-US" sz="1050" dirty="0"/>
          </a:p>
        </p:txBody>
      </p:sp>
      <p:sp>
        <p:nvSpPr>
          <p:cNvPr id="23" name="Text 20"/>
          <p:cNvSpPr/>
          <p:nvPr/>
        </p:nvSpPr>
        <p:spPr>
          <a:xfrm>
            <a:off x="7754112" y="5897880"/>
            <a:ext cx="3712464" cy="164592"/>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“La Liga / Barcelona-centered StatsBomb subset” — not “all La Liga” and not “all leagues.”</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03 · PIPELINE</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lang="en-US" sz="2500" b="1" dirty="0">
                <a:solidFill>
                  <a:srgbClr val="0B1220"/>
                </a:solidFill>
                <a:latin typeface="Arial" pitchFamily="34" charset="0"/>
                <a:ea typeface="Arial" pitchFamily="34" charset="-122"/>
                <a:cs typeface="Arial" pitchFamily="34" charset="-120"/>
              </a:rPr>
              <a:t>End-to-end pipeline &amp; leakage boundaries</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Two feature pipelines share one chronological match-level split.</a:t>
            </a:r>
            <a:endParaRPr lang="en-US" sz="1050" dirty="0"/>
          </a:p>
        </p:txBody>
      </p:sp>
      <p:sp>
        <p:nvSpPr>
          <p:cNvPr id="5" name="Shape 3"/>
          <p:cNvSpPr/>
          <p:nvPr/>
        </p:nvSpPr>
        <p:spPr>
          <a:xfrm>
            <a:off x="685800" y="1691640"/>
            <a:ext cx="1417320" cy="1115568"/>
          </a:xfrm>
          <a:prstGeom prst="roundRect">
            <a:avLst>
              <a:gd name="adj" fmla="val 6557"/>
            </a:avLst>
          </a:prstGeom>
          <a:solidFill>
            <a:srgbClr val="FFFFFF"/>
          </a:solidFill>
          <a:ln w="10160">
            <a:solidFill>
              <a:srgbClr val="DDE5EA"/>
            </a:solidFill>
            <a:prstDash val="solid"/>
          </a:ln>
          <a:effectLst>
            <a:outerShdw sx="100000" sy="100000" kx="0" ky="0" algn="bl" rotWithShape="0" blurRad="2.6830552662720448e+53" dist="8.943517554240147e+52" dir="5.877312307200001e+63">
              <a:srgbClr val="000000">
                <a:alpha val="1.4e+64"/>
              </a:srgbClr>
            </a:outerShdw>
          </a:effectLst>
        </p:spPr>
      </p:sp>
      <p:sp>
        <p:nvSpPr>
          <p:cNvPr id="6" name="Shape 4"/>
          <p:cNvSpPr/>
          <p:nvPr/>
        </p:nvSpPr>
        <p:spPr>
          <a:xfrm>
            <a:off x="685800" y="1691640"/>
            <a:ext cx="73152" cy="1115568"/>
          </a:xfrm>
          <a:prstGeom prst="rect">
            <a:avLst/>
          </a:prstGeom>
          <a:solidFill>
            <a:srgbClr val="0B8F6A"/>
          </a:solidFill>
          <a:ln w="12700">
            <a:solidFill>
              <a:srgbClr val="0B8F6A"/>
            </a:solidFill>
            <a:prstDash val="solid"/>
          </a:ln>
        </p:spPr>
      </p:sp>
      <p:sp>
        <p:nvSpPr>
          <p:cNvPr id="7" name="Text 5"/>
          <p:cNvSpPr/>
          <p:nvPr/>
        </p:nvSpPr>
        <p:spPr>
          <a:xfrm>
            <a:off x="886968" y="1837944"/>
            <a:ext cx="1069848" cy="256032"/>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Raw JSON</a:t>
            </a:r>
            <a:endParaRPr lang="en-US" sz="1050" dirty="0"/>
          </a:p>
        </p:txBody>
      </p:sp>
      <p:sp>
        <p:nvSpPr>
          <p:cNvPr id="8" name="Text 6"/>
          <p:cNvSpPr/>
          <p:nvPr/>
        </p:nvSpPr>
        <p:spPr>
          <a:xfrm>
            <a:off x="886968" y="2167128"/>
            <a:ext cx="1051560" cy="521208"/>
          </a:xfrm>
          <a:prstGeom prst="rect">
            <a:avLst/>
          </a:prstGeom>
          <a:noFill/>
          <a:ln/>
        </p:spPr>
        <p:txBody>
          <a:bodyPr wrap="square" lIns="0" tIns="0" rIns="0" bIns="0" rtlCol="0" anchor="t">
            <a:normAutofit/>
          </a:bodyPr>
          <a:lstStyle/>
          <a:p>
            <a:pPr indent="0" marL="0">
              <a:buNone/>
            </a:pPr>
            <a:r>
              <a:rPr lang="en-US" sz="820" dirty="0">
                <a:solidFill>
                  <a:srgbClr val="273142"/>
                </a:solidFill>
                <a:latin typeface="Arial" pitchFamily="34" charset="0"/>
                <a:ea typeface="Arial" pitchFamily="34" charset="-122"/>
                <a:cs typeface="Arial" pitchFamily="34" charset="-120"/>
              </a:rPr>
              <a:t>matches · events</a:t>
            </a:r>
            <a:endParaRPr lang="en-US" sz="820" dirty="0"/>
          </a:p>
          <a:p>
            <a:pPr indent="0" marL="0">
              <a:buNone/>
            </a:pPr>
            <a:r>
              <a:rPr lang="en-US" sz="820" dirty="0">
                <a:solidFill>
                  <a:srgbClr val="273142"/>
                </a:solidFill>
                <a:latin typeface="Arial" pitchFamily="34" charset="0"/>
                <a:ea typeface="Arial" pitchFamily="34" charset="-122"/>
                <a:cs typeface="Arial" pitchFamily="34" charset="-120"/>
              </a:rPr>
              <a:t>lineups · 360</a:t>
            </a:r>
            <a:endParaRPr lang="en-US" sz="820" dirty="0"/>
          </a:p>
        </p:txBody>
      </p:sp>
      <p:sp>
        <p:nvSpPr>
          <p:cNvPr id="9" name="Shape 7"/>
          <p:cNvSpPr/>
          <p:nvPr/>
        </p:nvSpPr>
        <p:spPr>
          <a:xfrm>
            <a:off x="2121408" y="2240280"/>
            <a:ext cx="164592" cy="0"/>
          </a:xfrm>
          <a:prstGeom prst="line">
            <a:avLst/>
          </a:prstGeom>
          <a:noFill/>
          <a:ln w="19050">
            <a:solidFill>
              <a:srgbClr val="5B6577"/>
            </a:solidFill>
            <a:prstDash val="solid"/>
            <a:headEnd type="none"/>
            <a:tailEnd type="triangle"/>
          </a:ln>
        </p:spPr>
      </p:sp>
      <p:sp>
        <p:nvSpPr>
          <p:cNvPr id="10" name="Shape 8"/>
          <p:cNvSpPr/>
          <p:nvPr/>
        </p:nvSpPr>
        <p:spPr>
          <a:xfrm>
            <a:off x="2331720" y="1691640"/>
            <a:ext cx="1417320" cy="1115568"/>
          </a:xfrm>
          <a:prstGeom prst="roundRect">
            <a:avLst>
              <a:gd name="adj" fmla="val 6557"/>
            </a:avLst>
          </a:prstGeom>
          <a:solidFill>
            <a:srgbClr val="FFFFFF"/>
          </a:solidFill>
          <a:ln w="10160">
            <a:solidFill>
              <a:srgbClr val="DDE5EA"/>
            </a:solidFill>
            <a:prstDash val="solid"/>
          </a:ln>
          <a:effectLst>
            <a:outerShdw sx="100000" sy="100000" kx="0" ky="0" algn="bl" rotWithShape="0" blurRad="3.407480188165497e+57" dist="1.1358267293884986e+57" dir="3.526387384320001e+68">
              <a:srgbClr val="000000">
                <a:alpha val="1.4000000000000001e+69"/>
              </a:srgbClr>
            </a:outerShdw>
          </a:effectLst>
        </p:spPr>
      </p:sp>
      <p:sp>
        <p:nvSpPr>
          <p:cNvPr id="11" name="Shape 9"/>
          <p:cNvSpPr/>
          <p:nvPr/>
        </p:nvSpPr>
        <p:spPr>
          <a:xfrm>
            <a:off x="2331720" y="1691640"/>
            <a:ext cx="73152" cy="1115568"/>
          </a:xfrm>
          <a:prstGeom prst="rect">
            <a:avLst/>
          </a:prstGeom>
          <a:solidFill>
            <a:srgbClr val="22B8A0"/>
          </a:solidFill>
          <a:ln w="12700">
            <a:solidFill>
              <a:srgbClr val="22B8A0"/>
            </a:solidFill>
            <a:prstDash val="solid"/>
          </a:ln>
        </p:spPr>
      </p:sp>
      <p:sp>
        <p:nvSpPr>
          <p:cNvPr id="12" name="Text 10"/>
          <p:cNvSpPr/>
          <p:nvPr/>
        </p:nvSpPr>
        <p:spPr>
          <a:xfrm>
            <a:off x="2532888" y="1837944"/>
            <a:ext cx="1069848" cy="256032"/>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Integration</a:t>
            </a:r>
            <a:endParaRPr lang="en-US" sz="1050" dirty="0"/>
          </a:p>
        </p:txBody>
      </p:sp>
      <p:sp>
        <p:nvSpPr>
          <p:cNvPr id="13" name="Text 11"/>
          <p:cNvSpPr/>
          <p:nvPr/>
        </p:nvSpPr>
        <p:spPr>
          <a:xfrm>
            <a:off x="2532888" y="2167128"/>
            <a:ext cx="1051560" cy="521208"/>
          </a:xfrm>
          <a:prstGeom prst="rect">
            <a:avLst/>
          </a:prstGeom>
          <a:noFill/>
          <a:ln/>
        </p:spPr>
        <p:txBody>
          <a:bodyPr wrap="square" lIns="0" tIns="0" rIns="0" bIns="0" rtlCol="0" anchor="t">
            <a:normAutofit/>
          </a:bodyPr>
          <a:lstStyle/>
          <a:p>
            <a:pPr indent="0" marL="0">
              <a:buNone/>
            </a:pPr>
            <a:r>
              <a:rPr lang="en-US" sz="820" dirty="0">
                <a:solidFill>
                  <a:srgbClr val="273142"/>
                </a:solidFill>
                <a:latin typeface="Arial" pitchFamily="34" charset="0"/>
                <a:ea typeface="Arial" pitchFamily="34" charset="-122"/>
                <a:cs typeface="Arial" pitchFamily="34" charset="-120"/>
              </a:rPr>
              <a:t>keys · identities</a:t>
            </a:r>
            <a:endParaRPr lang="en-US" sz="820" dirty="0"/>
          </a:p>
          <a:p>
            <a:pPr indent="0" marL="0">
              <a:buNone/>
            </a:pPr>
            <a:r>
              <a:rPr lang="en-US" sz="820" dirty="0">
                <a:solidFill>
                  <a:srgbClr val="273142"/>
                </a:solidFill>
                <a:latin typeface="Arial" pitchFamily="34" charset="0"/>
                <a:ea typeface="Arial" pitchFamily="34" charset="-122"/>
                <a:cs typeface="Arial" pitchFamily="34" charset="-120"/>
              </a:rPr>
              <a:t>labels · cleaning</a:t>
            </a:r>
            <a:endParaRPr lang="en-US" sz="820" dirty="0"/>
          </a:p>
        </p:txBody>
      </p:sp>
      <p:sp>
        <p:nvSpPr>
          <p:cNvPr id="14" name="Shape 12"/>
          <p:cNvSpPr/>
          <p:nvPr/>
        </p:nvSpPr>
        <p:spPr>
          <a:xfrm>
            <a:off x="3767328" y="2240280"/>
            <a:ext cx="164592" cy="0"/>
          </a:xfrm>
          <a:prstGeom prst="line">
            <a:avLst/>
          </a:prstGeom>
          <a:noFill/>
          <a:ln w="19050">
            <a:solidFill>
              <a:srgbClr val="5B6577"/>
            </a:solidFill>
            <a:prstDash val="solid"/>
            <a:headEnd type="none"/>
            <a:tailEnd type="triangle"/>
          </a:ln>
        </p:spPr>
      </p:sp>
      <p:sp>
        <p:nvSpPr>
          <p:cNvPr id="15" name="Shape 13"/>
          <p:cNvSpPr/>
          <p:nvPr/>
        </p:nvSpPr>
        <p:spPr>
          <a:xfrm>
            <a:off x="3977640" y="1691640"/>
            <a:ext cx="1417320" cy="1115568"/>
          </a:xfrm>
          <a:prstGeom prst="roundRect">
            <a:avLst>
              <a:gd name="adj" fmla="val 6557"/>
            </a:avLst>
          </a:prstGeom>
          <a:solidFill>
            <a:srgbClr val="FFFFFF"/>
          </a:solidFill>
          <a:ln w="10160">
            <a:solidFill>
              <a:srgbClr val="DDE5EA"/>
            </a:solidFill>
            <a:prstDash val="solid"/>
          </a:ln>
          <a:effectLst>
            <a:outerShdw sx="100000" sy="100000" kx="0" ky="0" algn="bl" rotWithShape="0" blurRad="4.327499838970181e+61" dist="1.4424999463233932e+61" dir="2.1158324305920003e+73">
              <a:srgbClr val="000000">
                <a:alpha val="1.4e+74"/>
              </a:srgbClr>
            </a:outerShdw>
          </a:effectLst>
        </p:spPr>
      </p:sp>
      <p:sp>
        <p:nvSpPr>
          <p:cNvPr id="16" name="Shape 14"/>
          <p:cNvSpPr/>
          <p:nvPr/>
        </p:nvSpPr>
        <p:spPr>
          <a:xfrm>
            <a:off x="3977640" y="1691640"/>
            <a:ext cx="73152" cy="1115568"/>
          </a:xfrm>
          <a:prstGeom prst="rect">
            <a:avLst/>
          </a:prstGeom>
          <a:solidFill>
            <a:srgbClr val="0B8F6A"/>
          </a:solidFill>
          <a:ln w="12700">
            <a:solidFill>
              <a:srgbClr val="0B8F6A"/>
            </a:solidFill>
            <a:prstDash val="solid"/>
          </a:ln>
        </p:spPr>
      </p:sp>
      <p:sp>
        <p:nvSpPr>
          <p:cNvPr id="17" name="Text 15"/>
          <p:cNvSpPr/>
          <p:nvPr/>
        </p:nvSpPr>
        <p:spPr>
          <a:xfrm>
            <a:off x="4178808" y="1837944"/>
            <a:ext cx="1069848" cy="256032"/>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Temporal split</a:t>
            </a:r>
            <a:endParaRPr lang="en-US" sz="1050" dirty="0"/>
          </a:p>
        </p:txBody>
      </p:sp>
      <p:sp>
        <p:nvSpPr>
          <p:cNvPr id="18" name="Text 16"/>
          <p:cNvSpPr/>
          <p:nvPr/>
        </p:nvSpPr>
        <p:spPr>
          <a:xfrm>
            <a:off x="4178808" y="2167128"/>
            <a:ext cx="1051560" cy="521208"/>
          </a:xfrm>
          <a:prstGeom prst="rect">
            <a:avLst/>
          </a:prstGeom>
          <a:noFill/>
          <a:ln/>
        </p:spPr>
        <p:txBody>
          <a:bodyPr wrap="square" lIns="0" tIns="0" rIns="0" bIns="0" rtlCol="0" anchor="t">
            <a:normAutofit/>
          </a:bodyPr>
          <a:lstStyle/>
          <a:p>
            <a:pPr indent="0" marL="0">
              <a:buNone/>
            </a:pPr>
            <a:r>
              <a:rPr lang="en-US" sz="820" dirty="0">
                <a:solidFill>
                  <a:srgbClr val="273142"/>
                </a:solidFill>
                <a:latin typeface="Arial" pitchFamily="34" charset="0"/>
                <a:ea typeface="Arial" pitchFamily="34" charset="-122"/>
                <a:cs typeface="Arial" pitchFamily="34" charset="-120"/>
              </a:rPr>
              <a:t>season-ahead</a:t>
            </a:r>
            <a:endParaRPr lang="en-US" sz="820" dirty="0"/>
          </a:p>
          <a:p>
            <a:pPr indent="0" marL="0">
              <a:buNone/>
            </a:pPr>
            <a:r>
              <a:rPr lang="en-US" sz="820" dirty="0">
                <a:solidFill>
                  <a:srgbClr val="273142"/>
                </a:solidFill>
                <a:latin typeface="Arial" pitchFamily="34" charset="0"/>
                <a:ea typeface="Arial" pitchFamily="34" charset="-122"/>
                <a:cs typeface="Arial" pitchFamily="34" charset="-120"/>
              </a:rPr>
              <a:t>match-level</a:t>
            </a:r>
            <a:endParaRPr lang="en-US" sz="820" dirty="0"/>
          </a:p>
        </p:txBody>
      </p:sp>
      <p:sp>
        <p:nvSpPr>
          <p:cNvPr id="19" name="Shape 17"/>
          <p:cNvSpPr/>
          <p:nvPr/>
        </p:nvSpPr>
        <p:spPr>
          <a:xfrm>
            <a:off x="5413248" y="2240280"/>
            <a:ext cx="164592" cy="0"/>
          </a:xfrm>
          <a:prstGeom prst="line">
            <a:avLst/>
          </a:prstGeom>
          <a:noFill/>
          <a:ln w="19050">
            <a:solidFill>
              <a:srgbClr val="5B6577"/>
            </a:solidFill>
            <a:prstDash val="solid"/>
            <a:headEnd type="none"/>
            <a:tailEnd type="triangle"/>
          </a:ln>
        </p:spPr>
      </p:sp>
      <p:sp>
        <p:nvSpPr>
          <p:cNvPr id="20" name="Shape 18"/>
          <p:cNvSpPr/>
          <p:nvPr/>
        </p:nvSpPr>
        <p:spPr>
          <a:xfrm>
            <a:off x="5623560" y="1691640"/>
            <a:ext cx="1417320" cy="1115568"/>
          </a:xfrm>
          <a:prstGeom prst="roundRect">
            <a:avLst>
              <a:gd name="adj" fmla="val 6557"/>
            </a:avLst>
          </a:prstGeom>
          <a:solidFill>
            <a:srgbClr val="FFFFFF"/>
          </a:solidFill>
          <a:ln w="10160">
            <a:solidFill>
              <a:srgbClr val="DDE5EA"/>
            </a:solidFill>
            <a:prstDash val="solid"/>
          </a:ln>
          <a:effectLst>
            <a:outerShdw sx="100000" sy="100000" kx="0" ky="0" algn="bl" rotWithShape="0" blurRad="5.49592479549213e+65" dist="1.8319749318307093e+65" dir="1.2694994583552002e+78">
              <a:srgbClr val="000000">
                <a:alpha val="1.4e+79"/>
              </a:srgbClr>
            </a:outerShdw>
          </a:effectLst>
        </p:spPr>
      </p:sp>
      <p:sp>
        <p:nvSpPr>
          <p:cNvPr id="21" name="Shape 19"/>
          <p:cNvSpPr/>
          <p:nvPr/>
        </p:nvSpPr>
        <p:spPr>
          <a:xfrm>
            <a:off x="5623560" y="1691640"/>
            <a:ext cx="73152" cy="1115568"/>
          </a:xfrm>
          <a:prstGeom prst="rect">
            <a:avLst/>
          </a:prstGeom>
          <a:solidFill>
            <a:srgbClr val="F4B942"/>
          </a:solidFill>
          <a:ln w="12700">
            <a:solidFill>
              <a:srgbClr val="F4B942"/>
            </a:solidFill>
            <a:prstDash val="solid"/>
          </a:ln>
        </p:spPr>
      </p:sp>
      <p:sp>
        <p:nvSpPr>
          <p:cNvPr id="22" name="Text 20"/>
          <p:cNvSpPr/>
          <p:nvPr/>
        </p:nvSpPr>
        <p:spPr>
          <a:xfrm>
            <a:off x="5824728" y="1837944"/>
            <a:ext cx="1069848" cy="256032"/>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Features</a:t>
            </a:r>
            <a:endParaRPr lang="en-US" sz="1050" dirty="0"/>
          </a:p>
        </p:txBody>
      </p:sp>
      <p:sp>
        <p:nvSpPr>
          <p:cNvPr id="23" name="Text 21"/>
          <p:cNvSpPr/>
          <p:nvPr/>
        </p:nvSpPr>
        <p:spPr>
          <a:xfrm>
            <a:off x="5824728" y="2167128"/>
            <a:ext cx="1051560" cy="521208"/>
          </a:xfrm>
          <a:prstGeom prst="rect">
            <a:avLst/>
          </a:prstGeom>
          <a:noFill/>
          <a:ln/>
        </p:spPr>
        <p:txBody>
          <a:bodyPr wrap="square" lIns="0" tIns="0" rIns="0" bIns="0" rtlCol="0" anchor="t">
            <a:normAutofit/>
          </a:bodyPr>
          <a:lstStyle/>
          <a:p>
            <a:pPr indent="0" marL="0">
              <a:buNone/>
            </a:pPr>
            <a:r>
              <a:rPr lang="en-US" sz="820" dirty="0">
                <a:solidFill>
                  <a:srgbClr val="273142"/>
                </a:solidFill>
                <a:latin typeface="Arial" pitchFamily="34" charset="0"/>
                <a:ea typeface="Arial" pitchFamily="34" charset="-122"/>
                <a:cs typeface="Arial" pitchFamily="34" charset="-120"/>
              </a:rPr>
              <a:t>pre-match</a:t>
            </a:r>
            <a:endParaRPr lang="en-US" sz="820" dirty="0"/>
          </a:p>
          <a:p>
            <a:pPr indent="0" marL="0">
              <a:buNone/>
            </a:pPr>
            <a:r>
              <a:rPr lang="en-US" sz="820" dirty="0">
                <a:solidFill>
                  <a:srgbClr val="273142"/>
                </a:solidFill>
                <a:latin typeface="Arial" pitchFamily="34" charset="0"/>
                <a:ea typeface="Arial" pitchFamily="34" charset="-122"/>
                <a:cs typeface="Arial" pitchFamily="34" charset="-120"/>
              </a:rPr>
              <a:t>+ in-play</a:t>
            </a:r>
            <a:endParaRPr lang="en-US" sz="820" dirty="0"/>
          </a:p>
        </p:txBody>
      </p:sp>
      <p:sp>
        <p:nvSpPr>
          <p:cNvPr id="24" name="Shape 22"/>
          <p:cNvSpPr/>
          <p:nvPr/>
        </p:nvSpPr>
        <p:spPr>
          <a:xfrm>
            <a:off x="7059168" y="2240280"/>
            <a:ext cx="256032" cy="0"/>
          </a:xfrm>
          <a:prstGeom prst="line">
            <a:avLst/>
          </a:prstGeom>
          <a:noFill/>
          <a:ln w="19050">
            <a:solidFill>
              <a:srgbClr val="5B6577"/>
            </a:solidFill>
            <a:prstDash val="solid"/>
            <a:headEnd type="none"/>
            <a:tailEnd type="triangle"/>
          </a:ln>
        </p:spPr>
      </p:sp>
      <p:sp>
        <p:nvSpPr>
          <p:cNvPr id="25" name="Shape 23"/>
          <p:cNvSpPr/>
          <p:nvPr/>
        </p:nvSpPr>
        <p:spPr>
          <a:xfrm>
            <a:off x="7360920" y="1691640"/>
            <a:ext cx="1417320" cy="1115568"/>
          </a:xfrm>
          <a:prstGeom prst="roundRect">
            <a:avLst>
              <a:gd name="adj" fmla="val 6557"/>
            </a:avLst>
          </a:prstGeom>
          <a:solidFill>
            <a:srgbClr val="FFFFFF"/>
          </a:solidFill>
          <a:ln w="10160">
            <a:solidFill>
              <a:srgbClr val="DDE5EA"/>
            </a:solidFill>
            <a:prstDash val="solid"/>
          </a:ln>
          <a:effectLst>
            <a:outerShdw sx="100000" sy="100000" kx="0" ky="0" algn="bl" rotWithShape="0" blurRad="6.979824490275004e+69" dist="2.326608163425001e+69" dir="7.616996750131201e+82">
              <a:srgbClr val="000000">
                <a:alpha val="1.4000000000000001e+84"/>
              </a:srgbClr>
            </a:outerShdw>
          </a:effectLst>
        </p:spPr>
      </p:sp>
      <p:sp>
        <p:nvSpPr>
          <p:cNvPr id="26" name="Shape 24"/>
          <p:cNvSpPr/>
          <p:nvPr/>
        </p:nvSpPr>
        <p:spPr>
          <a:xfrm>
            <a:off x="7360920" y="1691640"/>
            <a:ext cx="73152" cy="1115568"/>
          </a:xfrm>
          <a:prstGeom prst="rect">
            <a:avLst/>
          </a:prstGeom>
          <a:solidFill>
            <a:srgbClr val="0B8F6A"/>
          </a:solidFill>
          <a:ln w="12700">
            <a:solidFill>
              <a:srgbClr val="0B8F6A"/>
            </a:solidFill>
            <a:prstDash val="solid"/>
          </a:ln>
        </p:spPr>
      </p:sp>
      <p:sp>
        <p:nvSpPr>
          <p:cNvPr id="27" name="Text 25"/>
          <p:cNvSpPr/>
          <p:nvPr/>
        </p:nvSpPr>
        <p:spPr>
          <a:xfrm>
            <a:off x="7562088" y="1837944"/>
            <a:ext cx="1069848" cy="256032"/>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Models</a:t>
            </a:r>
            <a:endParaRPr lang="en-US" sz="1050" dirty="0"/>
          </a:p>
        </p:txBody>
      </p:sp>
      <p:sp>
        <p:nvSpPr>
          <p:cNvPr id="28" name="Text 26"/>
          <p:cNvSpPr/>
          <p:nvPr/>
        </p:nvSpPr>
        <p:spPr>
          <a:xfrm>
            <a:off x="7562088" y="2167128"/>
            <a:ext cx="1051560" cy="521208"/>
          </a:xfrm>
          <a:prstGeom prst="rect">
            <a:avLst/>
          </a:prstGeom>
          <a:noFill/>
          <a:ln/>
        </p:spPr>
        <p:txBody>
          <a:bodyPr wrap="square" lIns="0" tIns="0" rIns="0" bIns="0" rtlCol="0" anchor="t">
            <a:normAutofit/>
          </a:bodyPr>
          <a:lstStyle/>
          <a:p>
            <a:pPr indent="0" marL="0">
              <a:buNone/>
            </a:pPr>
            <a:r>
              <a:rPr lang="en-US" sz="820" dirty="0">
                <a:solidFill>
                  <a:srgbClr val="273142"/>
                </a:solidFill>
                <a:latin typeface="Arial" pitchFamily="34" charset="0"/>
                <a:ea typeface="Arial" pitchFamily="34" charset="-122"/>
                <a:cs typeface="Arial" pitchFamily="34" charset="-120"/>
              </a:rPr>
              <a:t>C · R · L</a:t>
            </a:r>
            <a:endParaRPr lang="en-US" sz="820" dirty="0"/>
          </a:p>
          <a:p>
            <a:pPr indent="0" marL="0">
              <a:buNone/>
            </a:pPr>
            <a:r>
              <a:rPr lang="en-US" sz="820" dirty="0">
                <a:solidFill>
                  <a:srgbClr val="273142"/>
                </a:solidFill>
                <a:latin typeface="Arial" pitchFamily="34" charset="0"/>
                <a:ea typeface="Arial" pitchFamily="34" charset="-122"/>
                <a:cs typeface="Arial" pitchFamily="34" charset="-120"/>
              </a:rPr>
              <a:t>calibration</a:t>
            </a:r>
            <a:endParaRPr lang="en-US" sz="820" dirty="0"/>
          </a:p>
        </p:txBody>
      </p:sp>
      <p:sp>
        <p:nvSpPr>
          <p:cNvPr id="29" name="Shape 27"/>
          <p:cNvSpPr/>
          <p:nvPr/>
        </p:nvSpPr>
        <p:spPr>
          <a:xfrm>
            <a:off x="8796528" y="2240280"/>
            <a:ext cx="301752" cy="0"/>
          </a:xfrm>
          <a:prstGeom prst="line">
            <a:avLst/>
          </a:prstGeom>
          <a:noFill/>
          <a:ln w="19050">
            <a:solidFill>
              <a:srgbClr val="5B6577"/>
            </a:solidFill>
            <a:prstDash val="solid"/>
            <a:headEnd type="none"/>
            <a:tailEnd type="triangle"/>
          </a:ln>
        </p:spPr>
      </p:sp>
      <p:sp>
        <p:nvSpPr>
          <p:cNvPr id="30" name="Shape 28"/>
          <p:cNvSpPr/>
          <p:nvPr/>
        </p:nvSpPr>
        <p:spPr>
          <a:xfrm>
            <a:off x="9144000" y="1691640"/>
            <a:ext cx="1417320" cy="1115568"/>
          </a:xfrm>
          <a:prstGeom prst="roundRect">
            <a:avLst>
              <a:gd name="adj" fmla="val 6557"/>
            </a:avLst>
          </a:prstGeom>
          <a:solidFill>
            <a:srgbClr val="FFFFFF"/>
          </a:solidFill>
          <a:ln w="10160">
            <a:solidFill>
              <a:srgbClr val="DDE5EA"/>
            </a:solidFill>
            <a:prstDash val="solid"/>
          </a:ln>
          <a:effectLst>
            <a:outerShdw sx="100000" sy="100000" kx="0" ky="0" algn="bl" rotWithShape="0" blurRad="8.864377102649255e+73" dist="2.9547923675497515e+73" dir="4.57019805007872e+87">
              <a:srgbClr val="000000">
                <a:alpha val="1.4000000000000002e+89"/>
              </a:srgbClr>
            </a:outerShdw>
          </a:effectLst>
        </p:spPr>
      </p:sp>
      <p:sp>
        <p:nvSpPr>
          <p:cNvPr id="31" name="Shape 29"/>
          <p:cNvSpPr/>
          <p:nvPr/>
        </p:nvSpPr>
        <p:spPr>
          <a:xfrm>
            <a:off x="9144000" y="1691640"/>
            <a:ext cx="73152" cy="1115568"/>
          </a:xfrm>
          <a:prstGeom prst="rect">
            <a:avLst/>
          </a:prstGeom>
          <a:solidFill>
            <a:srgbClr val="22B8A0"/>
          </a:solidFill>
          <a:ln w="12700">
            <a:solidFill>
              <a:srgbClr val="22B8A0"/>
            </a:solidFill>
            <a:prstDash val="solid"/>
          </a:ln>
        </p:spPr>
      </p:sp>
      <p:sp>
        <p:nvSpPr>
          <p:cNvPr id="32" name="Text 30"/>
          <p:cNvSpPr/>
          <p:nvPr/>
        </p:nvSpPr>
        <p:spPr>
          <a:xfrm>
            <a:off x="9345168" y="1837944"/>
            <a:ext cx="1069848" cy="256032"/>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Evaluation</a:t>
            </a:r>
            <a:endParaRPr lang="en-US" sz="1050" dirty="0"/>
          </a:p>
        </p:txBody>
      </p:sp>
      <p:sp>
        <p:nvSpPr>
          <p:cNvPr id="33" name="Text 31"/>
          <p:cNvSpPr/>
          <p:nvPr/>
        </p:nvSpPr>
        <p:spPr>
          <a:xfrm>
            <a:off x="9345168" y="2167128"/>
            <a:ext cx="1051560" cy="521208"/>
          </a:xfrm>
          <a:prstGeom prst="rect">
            <a:avLst/>
          </a:prstGeom>
          <a:noFill/>
          <a:ln/>
        </p:spPr>
        <p:txBody>
          <a:bodyPr wrap="square" lIns="0" tIns="0" rIns="0" bIns="0" rtlCol="0" anchor="t">
            <a:normAutofit/>
          </a:bodyPr>
          <a:lstStyle/>
          <a:p>
            <a:pPr indent="0" marL="0">
              <a:buNone/>
            </a:pPr>
            <a:r>
              <a:rPr lang="en-US" sz="820" dirty="0">
                <a:solidFill>
                  <a:srgbClr val="273142"/>
                </a:solidFill>
                <a:latin typeface="Arial" pitchFamily="34" charset="0"/>
                <a:ea typeface="Arial" pitchFamily="34" charset="-122"/>
                <a:cs typeface="Arial" pitchFamily="34" charset="-120"/>
              </a:rPr>
              <a:t>RPS · Log Loss</a:t>
            </a:r>
            <a:endParaRPr lang="en-US" sz="820" dirty="0"/>
          </a:p>
          <a:p>
            <a:pPr indent="0" marL="0">
              <a:buNone/>
            </a:pPr>
            <a:r>
              <a:rPr lang="en-US" sz="820" dirty="0">
                <a:solidFill>
                  <a:srgbClr val="273142"/>
                </a:solidFill>
                <a:latin typeface="Arial" pitchFamily="34" charset="0"/>
                <a:ea typeface="Arial" pitchFamily="34" charset="-122"/>
                <a:cs typeface="Arial" pitchFamily="34" charset="-120"/>
              </a:rPr>
              <a:t>MAE · ECE · SHAP</a:t>
            </a:r>
            <a:endParaRPr lang="en-US" sz="820" dirty="0"/>
          </a:p>
        </p:txBody>
      </p:sp>
      <p:sp>
        <p:nvSpPr>
          <p:cNvPr id="34" name="Text 32"/>
          <p:cNvSpPr/>
          <p:nvPr/>
        </p:nvSpPr>
        <p:spPr>
          <a:xfrm>
            <a:off x="694944" y="3154680"/>
            <a:ext cx="4572000" cy="274320"/>
          </a:xfrm>
          <a:prstGeom prst="rect">
            <a:avLst/>
          </a:prstGeom>
          <a:noFill/>
          <a:ln/>
        </p:spPr>
        <p:txBody>
          <a:bodyPr wrap="square" lIns="0" tIns="0" rIns="0" bIns="0" rtlCol="0" anchor="ctr"/>
          <a:lstStyle/>
          <a:p>
            <a:pPr indent="0" marL="0">
              <a:buNone/>
            </a:pPr>
            <a:r>
              <a:rPr lang="en-US" sz="1400" b="1" dirty="0">
                <a:solidFill>
                  <a:srgbClr val="0B8F6A"/>
                </a:solidFill>
                <a:latin typeface="Arial" pitchFamily="34" charset="0"/>
                <a:ea typeface="Arial" pitchFamily="34" charset="-122"/>
                <a:cs typeface="Arial" pitchFamily="34" charset="-120"/>
              </a:rPr>
              <a:t>Leakage defenses implemented in code</a:t>
            </a:r>
            <a:endParaRPr lang="en-US" sz="1400" dirty="0"/>
          </a:p>
        </p:txBody>
      </p:sp>
      <p:sp>
        <p:nvSpPr>
          <p:cNvPr id="35" name="Shape 33"/>
          <p:cNvSpPr/>
          <p:nvPr/>
        </p:nvSpPr>
        <p:spPr>
          <a:xfrm>
            <a:off x="694944" y="3566160"/>
            <a:ext cx="3383280" cy="1078992"/>
          </a:xfrm>
          <a:prstGeom prst="roundRect">
            <a:avLst>
              <a:gd name="adj" fmla="val 6780"/>
            </a:avLst>
          </a:prstGeom>
          <a:solidFill>
            <a:srgbClr val="E9F8F3"/>
          </a:solidFill>
          <a:ln w="10160">
            <a:solidFill>
              <a:srgbClr val="DDE5EA"/>
            </a:solidFill>
            <a:prstDash val="solid"/>
          </a:ln>
          <a:effectLst>
            <a:outerShdw sx="100000" sy="100000" kx="0" ky="0" algn="bl" rotWithShape="0" blurRad="1.1257758920364555e+78" dist="3.7525863067881844e+77" dir="2.742118830047232e+92">
              <a:srgbClr val="000000">
                <a:alpha val="1.4000000000000002e+94"/>
              </a:srgbClr>
            </a:outerShdw>
          </a:effectLst>
        </p:spPr>
      </p:sp>
      <p:sp>
        <p:nvSpPr>
          <p:cNvPr id="36" name="Shape 34"/>
          <p:cNvSpPr/>
          <p:nvPr/>
        </p:nvSpPr>
        <p:spPr>
          <a:xfrm>
            <a:off x="694944" y="3566160"/>
            <a:ext cx="73152" cy="1078992"/>
          </a:xfrm>
          <a:prstGeom prst="rect">
            <a:avLst/>
          </a:prstGeom>
          <a:solidFill>
            <a:srgbClr val="0B8F6A"/>
          </a:solidFill>
          <a:ln w="12700">
            <a:solidFill>
              <a:srgbClr val="0B8F6A"/>
            </a:solidFill>
            <a:prstDash val="solid"/>
          </a:ln>
        </p:spPr>
      </p:sp>
      <p:sp>
        <p:nvSpPr>
          <p:cNvPr id="37" name="Text 35"/>
          <p:cNvSpPr/>
          <p:nvPr/>
        </p:nvSpPr>
        <p:spPr>
          <a:xfrm>
            <a:off x="896112" y="3712464"/>
            <a:ext cx="3035808" cy="256032"/>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Pre-match boundary</a:t>
            </a:r>
            <a:endParaRPr lang="en-US" sz="1050" dirty="0"/>
          </a:p>
        </p:txBody>
      </p:sp>
      <p:sp>
        <p:nvSpPr>
          <p:cNvPr id="38" name="Text 36"/>
          <p:cNvSpPr/>
          <p:nvPr/>
        </p:nvSpPr>
        <p:spPr>
          <a:xfrm>
            <a:off x="896112" y="4041648"/>
            <a:ext cx="3017520" cy="484632"/>
          </a:xfrm>
          <a:prstGeom prst="rect">
            <a:avLst/>
          </a:prstGeom>
          <a:noFill/>
          <a:ln/>
        </p:spPr>
        <p:txBody>
          <a:bodyPr wrap="square" lIns="0" tIns="0" rIns="0" bIns="0" rtlCol="0" anchor="t">
            <a:normAutofit/>
          </a:bodyPr>
          <a:lstStyle/>
          <a:p>
            <a:pPr indent="0" marL="0">
              <a:buNone/>
            </a:pPr>
            <a:r>
              <a:rPr lang="en-US" sz="920" dirty="0">
                <a:solidFill>
                  <a:srgbClr val="273142"/>
                </a:solidFill>
                <a:latin typeface="Arial" pitchFamily="34" charset="0"/>
                <a:ea typeface="Arial" pitchFamily="34" charset="-122"/>
                <a:cs typeface="Arial" pitchFamily="34" charset="-120"/>
              </a:rPr>
              <a:t>Rolling history uses shift(1): the target match is excluded from its own form features.</a:t>
            </a:r>
            <a:endParaRPr lang="en-US" sz="920" dirty="0"/>
          </a:p>
        </p:txBody>
      </p:sp>
      <p:sp>
        <p:nvSpPr>
          <p:cNvPr id="39" name="Shape 37"/>
          <p:cNvSpPr/>
          <p:nvPr/>
        </p:nvSpPr>
        <p:spPr>
          <a:xfrm>
            <a:off x="4297680" y="3566160"/>
            <a:ext cx="3383280" cy="1078992"/>
          </a:xfrm>
          <a:prstGeom prst="roundRect">
            <a:avLst>
              <a:gd name="adj" fmla="val 6780"/>
            </a:avLst>
          </a:prstGeom>
          <a:solidFill>
            <a:srgbClr val="E9F8F3"/>
          </a:solidFill>
          <a:ln w="10160">
            <a:solidFill>
              <a:srgbClr val="DDE5EA"/>
            </a:solidFill>
            <a:prstDash val="solid"/>
          </a:ln>
          <a:effectLst>
            <a:outerShdw sx="100000" sy="100000" kx="0" ky="0" algn="bl" rotWithShape="0" blurRad="1.4297353828862985e+82" dist="4.765784609620994e+81" dir="1.6452712980283393e+97">
              <a:srgbClr val="000000">
                <a:alpha val="1.4000000000000001e+99"/>
              </a:srgbClr>
            </a:outerShdw>
          </a:effectLst>
        </p:spPr>
      </p:sp>
      <p:sp>
        <p:nvSpPr>
          <p:cNvPr id="40" name="Shape 38"/>
          <p:cNvSpPr/>
          <p:nvPr/>
        </p:nvSpPr>
        <p:spPr>
          <a:xfrm>
            <a:off x="4297680" y="3566160"/>
            <a:ext cx="73152" cy="1078992"/>
          </a:xfrm>
          <a:prstGeom prst="rect">
            <a:avLst/>
          </a:prstGeom>
          <a:solidFill>
            <a:srgbClr val="22B8A0"/>
          </a:solidFill>
          <a:ln w="12700">
            <a:solidFill>
              <a:srgbClr val="22B8A0"/>
            </a:solidFill>
            <a:prstDash val="solid"/>
          </a:ln>
        </p:spPr>
      </p:sp>
      <p:sp>
        <p:nvSpPr>
          <p:cNvPr id="41" name="Text 39"/>
          <p:cNvSpPr/>
          <p:nvPr/>
        </p:nvSpPr>
        <p:spPr>
          <a:xfrm>
            <a:off x="4498848" y="3712464"/>
            <a:ext cx="3035808" cy="256032"/>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Live time-t boundary</a:t>
            </a:r>
            <a:endParaRPr lang="en-US" sz="1050" dirty="0"/>
          </a:p>
        </p:txBody>
      </p:sp>
      <p:sp>
        <p:nvSpPr>
          <p:cNvPr id="42" name="Text 40"/>
          <p:cNvSpPr/>
          <p:nvPr/>
        </p:nvSpPr>
        <p:spPr>
          <a:xfrm>
            <a:off x="4498848" y="4041648"/>
            <a:ext cx="3017520" cy="484632"/>
          </a:xfrm>
          <a:prstGeom prst="rect">
            <a:avLst/>
          </a:prstGeom>
          <a:noFill/>
          <a:ln/>
        </p:spPr>
        <p:txBody>
          <a:bodyPr wrap="square" lIns="0" tIns="0" rIns="0" bIns="0" rtlCol="0" anchor="t">
            <a:normAutofit/>
          </a:bodyPr>
          <a:lstStyle/>
          <a:p>
            <a:pPr indent="0" marL="0">
              <a:buNone/>
            </a:pPr>
            <a:r>
              <a:rPr lang="en-US" sz="920" dirty="0">
                <a:solidFill>
                  <a:srgbClr val="273142"/>
                </a:solidFill>
                <a:latin typeface="Arial" pitchFamily="34" charset="0"/>
                <a:ea typeface="Arial" pitchFamily="34" charset="-122"/>
                <a:cs typeface="Arial" pitchFamily="34" charset="-120"/>
              </a:rPr>
              <a:t>assert_time_t_cut(): no event after the snapshot minute can contribute.</a:t>
            </a:r>
            <a:endParaRPr lang="en-US" sz="920" dirty="0"/>
          </a:p>
        </p:txBody>
      </p:sp>
      <p:sp>
        <p:nvSpPr>
          <p:cNvPr id="43" name="Shape 41"/>
          <p:cNvSpPr/>
          <p:nvPr/>
        </p:nvSpPr>
        <p:spPr>
          <a:xfrm>
            <a:off x="7900416" y="3566160"/>
            <a:ext cx="3383280" cy="1078992"/>
          </a:xfrm>
          <a:prstGeom prst="roundRect">
            <a:avLst>
              <a:gd name="adj" fmla="val 6780"/>
            </a:avLst>
          </a:prstGeom>
          <a:solidFill>
            <a:srgbClr val="FFF5D8"/>
          </a:solidFill>
          <a:ln w="10160">
            <a:solidFill>
              <a:srgbClr val="DDE5EA"/>
            </a:solidFill>
            <a:prstDash val="solid"/>
          </a:ln>
          <a:effectLst>
            <a:outerShdw sx="100000" sy="100000" kx="0" ky="0" algn="bl" rotWithShape="0" blurRad="1.815763936265599e+86" dist="6.052546454218663e+85" dir="9.871627788170037e+101">
              <a:srgbClr val="000000">
                <a:alpha val="1.4000000000000002e+104"/>
              </a:srgbClr>
            </a:outerShdw>
          </a:effectLst>
        </p:spPr>
      </p:sp>
      <p:sp>
        <p:nvSpPr>
          <p:cNvPr id="44" name="Shape 42"/>
          <p:cNvSpPr/>
          <p:nvPr/>
        </p:nvSpPr>
        <p:spPr>
          <a:xfrm>
            <a:off x="7900416" y="3566160"/>
            <a:ext cx="73152" cy="1078992"/>
          </a:xfrm>
          <a:prstGeom prst="rect">
            <a:avLst/>
          </a:prstGeom>
          <a:solidFill>
            <a:srgbClr val="F4B942"/>
          </a:solidFill>
          <a:ln w="12700">
            <a:solidFill>
              <a:srgbClr val="F4B942"/>
            </a:solidFill>
            <a:prstDash val="solid"/>
          </a:ln>
        </p:spPr>
      </p:sp>
      <p:sp>
        <p:nvSpPr>
          <p:cNvPr id="45" name="Text 43"/>
          <p:cNvSpPr/>
          <p:nvPr/>
        </p:nvSpPr>
        <p:spPr>
          <a:xfrm>
            <a:off x="8101584" y="3712464"/>
            <a:ext cx="3035808" cy="256032"/>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Match-level grouping</a:t>
            </a:r>
            <a:endParaRPr lang="en-US" sz="1050" dirty="0"/>
          </a:p>
        </p:txBody>
      </p:sp>
      <p:sp>
        <p:nvSpPr>
          <p:cNvPr id="46" name="Text 44"/>
          <p:cNvSpPr/>
          <p:nvPr/>
        </p:nvSpPr>
        <p:spPr>
          <a:xfrm>
            <a:off x="8101584" y="4041648"/>
            <a:ext cx="3017520" cy="484632"/>
          </a:xfrm>
          <a:prstGeom prst="rect">
            <a:avLst/>
          </a:prstGeom>
          <a:noFill/>
          <a:ln/>
        </p:spPr>
        <p:txBody>
          <a:bodyPr wrap="square" lIns="0" tIns="0" rIns="0" bIns="0" rtlCol="0" anchor="t">
            <a:normAutofit/>
          </a:bodyPr>
          <a:lstStyle/>
          <a:p>
            <a:pPr indent="0" marL="0">
              <a:buNone/>
            </a:pPr>
            <a:r>
              <a:rPr lang="en-US" sz="920" dirty="0">
                <a:solidFill>
                  <a:srgbClr val="273142"/>
                </a:solidFill>
                <a:latin typeface="Arial" pitchFamily="34" charset="0"/>
                <a:ea typeface="Arial" pitchFamily="34" charset="-122"/>
                <a:cs typeface="Arial" pitchFamily="34" charset="-120"/>
              </a:rPr>
              <a:t>All 18 snapshots from one match inherit the same train/test side.</a:t>
            </a:r>
            <a:endParaRPr lang="en-US" sz="920" dirty="0"/>
          </a:p>
        </p:txBody>
      </p:sp>
      <p:sp>
        <p:nvSpPr>
          <p:cNvPr id="47" name="Shape 45"/>
          <p:cNvSpPr/>
          <p:nvPr/>
        </p:nvSpPr>
        <p:spPr>
          <a:xfrm>
            <a:off x="694944" y="5010912"/>
            <a:ext cx="3310128" cy="310896"/>
          </a:xfrm>
          <a:prstGeom prst="roundRect">
            <a:avLst>
              <a:gd name="adj" fmla="val 23529"/>
            </a:avLst>
          </a:prstGeom>
          <a:solidFill>
            <a:srgbClr val="E9F8F3"/>
          </a:solidFill>
          <a:ln w="12700">
            <a:solidFill>
              <a:srgbClr val="E9F8F3"/>
            </a:solidFill>
            <a:prstDash val="solid"/>
          </a:ln>
        </p:spPr>
      </p:sp>
      <p:sp>
        <p:nvSpPr>
          <p:cNvPr id="48" name="Text 46"/>
          <p:cNvSpPr/>
          <p:nvPr/>
        </p:nvSpPr>
        <p:spPr>
          <a:xfrm>
            <a:off x="768096" y="5065776"/>
            <a:ext cx="3163824" cy="164592"/>
          </a:xfrm>
          <a:prstGeom prst="rect">
            <a:avLst/>
          </a:prstGeom>
          <a:noFill/>
          <a:ln/>
        </p:spPr>
        <p:txBody>
          <a:bodyPr wrap="square" lIns="0" tIns="0" rIns="0" bIns="0" rtlCol="0" anchor="ctr">
            <a:normAutofit/>
          </a:bodyPr>
          <a:lstStyle/>
          <a:p>
            <a:pPr algn="ctr" indent="0" marL="0">
              <a:buNone/>
            </a:pPr>
            <a:r>
              <a:rPr lang="en-US" sz="850" b="1" dirty="0">
                <a:solidFill>
                  <a:srgbClr val="0B8F6A"/>
                </a:solidFill>
                <a:latin typeface="Arial" pitchFamily="34" charset="0"/>
                <a:ea typeface="Arial" pitchFamily="34" charset="-122"/>
                <a:cs typeface="Arial" pitchFamily="34" charset="-120"/>
              </a:rPr>
              <a:t>PASS · pre-match history before kick-off</a:t>
            </a:r>
            <a:endParaRPr lang="en-US" sz="850" dirty="0"/>
          </a:p>
        </p:txBody>
      </p:sp>
      <p:sp>
        <p:nvSpPr>
          <p:cNvPr id="49" name="Shape 47"/>
          <p:cNvSpPr/>
          <p:nvPr/>
        </p:nvSpPr>
        <p:spPr>
          <a:xfrm>
            <a:off x="4297680" y="5010912"/>
            <a:ext cx="3310128" cy="310896"/>
          </a:xfrm>
          <a:prstGeom prst="roundRect">
            <a:avLst>
              <a:gd name="adj" fmla="val 23529"/>
            </a:avLst>
          </a:prstGeom>
          <a:solidFill>
            <a:srgbClr val="E9F8F3"/>
          </a:solidFill>
          <a:ln w="12700">
            <a:solidFill>
              <a:srgbClr val="E9F8F3"/>
            </a:solidFill>
            <a:prstDash val="solid"/>
          </a:ln>
        </p:spPr>
      </p:sp>
      <p:sp>
        <p:nvSpPr>
          <p:cNvPr id="50" name="Text 48"/>
          <p:cNvSpPr/>
          <p:nvPr/>
        </p:nvSpPr>
        <p:spPr>
          <a:xfrm>
            <a:off x="4370832" y="5065776"/>
            <a:ext cx="3163824" cy="164592"/>
          </a:xfrm>
          <a:prstGeom prst="rect">
            <a:avLst/>
          </a:prstGeom>
          <a:noFill/>
          <a:ln/>
        </p:spPr>
        <p:txBody>
          <a:bodyPr wrap="square" lIns="0" tIns="0" rIns="0" bIns="0" rtlCol="0" anchor="ctr">
            <a:normAutofit/>
          </a:bodyPr>
          <a:lstStyle/>
          <a:p>
            <a:pPr algn="ctr" indent="0" marL="0">
              <a:buNone/>
            </a:pPr>
            <a:r>
              <a:rPr lang="en-US" sz="850" b="1" dirty="0">
                <a:solidFill>
                  <a:srgbClr val="0B8F6A"/>
                </a:solidFill>
                <a:latin typeface="Arial" pitchFamily="34" charset="0"/>
                <a:ea typeface="Arial" pitchFamily="34" charset="-122"/>
                <a:cs typeface="Arial" pitchFamily="34" charset="-120"/>
              </a:rPr>
              <a:t>PASS · event timestamp ≤ snapshot time</a:t>
            </a:r>
            <a:endParaRPr lang="en-US" sz="850" dirty="0"/>
          </a:p>
        </p:txBody>
      </p:sp>
      <p:sp>
        <p:nvSpPr>
          <p:cNvPr id="51" name="Shape 49"/>
          <p:cNvSpPr/>
          <p:nvPr/>
        </p:nvSpPr>
        <p:spPr>
          <a:xfrm>
            <a:off x="7900416" y="5010912"/>
            <a:ext cx="3310128" cy="310896"/>
          </a:xfrm>
          <a:prstGeom prst="roundRect">
            <a:avLst>
              <a:gd name="adj" fmla="val 23529"/>
            </a:avLst>
          </a:prstGeom>
          <a:solidFill>
            <a:srgbClr val="E9F8F3"/>
          </a:solidFill>
          <a:ln w="12700">
            <a:solidFill>
              <a:srgbClr val="E9F8F3"/>
            </a:solidFill>
            <a:prstDash val="solid"/>
          </a:ln>
        </p:spPr>
      </p:sp>
      <p:sp>
        <p:nvSpPr>
          <p:cNvPr id="52" name="Text 50"/>
          <p:cNvSpPr/>
          <p:nvPr/>
        </p:nvSpPr>
        <p:spPr>
          <a:xfrm>
            <a:off x="7973568" y="5065776"/>
            <a:ext cx="3163824" cy="164592"/>
          </a:xfrm>
          <a:prstGeom prst="rect">
            <a:avLst/>
          </a:prstGeom>
          <a:noFill/>
          <a:ln/>
        </p:spPr>
        <p:txBody>
          <a:bodyPr wrap="square" lIns="0" tIns="0" rIns="0" bIns="0" rtlCol="0" anchor="ctr">
            <a:normAutofit/>
          </a:bodyPr>
          <a:lstStyle/>
          <a:p>
            <a:pPr algn="ctr" indent="0" marL="0">
              <a:buNone/>
            </a:pPr>
            <a:r>
              <a:rPr lang="en-US" sz="850" b="1" dirty="0">
                <a:solidFill>
                  <a:srgbClr val="0B8F6A"/>
                </a:solidFill>
                <a:latin typeface="Arial" pitchFamily="34" charset="0"/>
                <a:ea typeface="Arial" pitchFamily="34" charset="-122"/>
                <a:cs typeface="Arial" pitchFamily="34" charset="-120"/>
              </a:rPr>
              <a:t>PASS · GMM sampling only on training</a:t>
            </a:r>
            <a:endParaRPr lang="en-US" sz="850" dirty="0"/>
          </a:p>
        </p:txBody>
      </p:sp>
      <p:sp>
        <p:nvSpPr>
          <p:cNvPr id="53" name="Shape 51"/>
          <p:cNvSpPr/>
          <p:nvPr/>
        </p:nvSpPr>
        <p:spPr>
          <a:xfrm>
            <a:off x="694944" y="5577840"/>
            <a:ext cx="10588752" cy="640080"/>
          </a:xfrm>
          <a:prstGeom prst="roundRect">
            <a:avLst>
              <a:gd name="adj" fmla="val 8571"/>
            </a:avLst>
          </a:prstGeom>
          <a:solidFill>
            <a:srgbClr val="E9F8F3"/>
          </a:solidFill>
          <a:ln w="12700">
            <a:solidFill>
              <a:srgbClr val="E9F8F3"/>
            </a:solidFill>
            <a:prstDash val="solid"/>
          </a:ln>
        </p:spPr>
      </p:sp>
      <p:sp>
        <p:nvSpPr>
          <p:cNvPr id="54" name="Shape 52"/>
          <p:cNvSpPr/>
          <p:nvPr/>
        </p:nvSpPr>
        <p:spPr>
          <a:xfrm>
            <a:off x="694944" y="5577840"/>
            <a:ext cx="91440" cy="640080"/>
          </a:xfrm>
          <a:prstGeom prst="rect">
            <a:avLst/>
          </a:prstGeom>
          <a:solidFill>
            <a:srgbClr val="0B8F6A"/>
          </a:solidFill>
          <a:ln w="12700">
            <a:solidFill>
              <a:srgbClr val="0B8F6A"/>
            </a:solidFill>
            <a:prstDash val="solid"/>
          </a:ln>
        </p:spPr>
      </p:sp>
      <p:sp>
        <p:nvSpPr>
          <p:cNvPr id="55" name="Text 53"/>
          <p:cNvSpPr/>
          <p:nvPr/>
        </p:nvSpPr>
        <p:spPr>
          <a:xfrm>
            <a:off x="914400" y="5696712"/>
            <a:ext cx="10222992"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Why it matters</a:t>
            </a:r>
            <a:endParaRPr lang="en-US" sz="1050" dirty="0"/>
          </a:p>
        </p:txBody>
      </p:sp>
      <p:sp>
        <p:nvSpPr>
          <p:cNvPr id="56" name="Text 54"/>
          <p:cNvSpPr/>
          <p:nvPr/>
        </p:nvSpPr>
        <p:spPr>
          <a:xfrm>
            <a:off x="914400" y="5971032"/>
            <a:ext cx="10204704" cy="146304"/>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A high score is scientifically meaningless if future information leaked into the features. Our validation claims begin with these boundaries.</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04 · FEATURES</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sz="2500" b="1">
                <a:solidFill>
                  <a:srgbClr val="0B1220"/>
                </a:solidFill>
                <a:latin typeface="Arial"/>
              </a:rPr>
              <a:t>Feature engineering: every group had to earn its place</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sz="1400">
                <a:solidFill>
                  <a:srgbClr val="5B6577"/>
                </a:solidFill>
                <a:latin typeface="Arial"/>
              </a:rPr>
              <a:t>11 pre-match + 3 live-state features — selected on future-season development RPS, not by “search and add”.</a:t>
            </a:r>
            <a:endParaRPr lang="en-US" sz="1050" dirty="0"/>
          </a:p>
        </p:txBody>
      </p:sp>
      <p:sp>
        <p:nvSpPr>
          <p:cNvPr id="5" name="Text 3"/>
          <p:cNvSpPr/>
          <p:nvPr/>
        </p:nvSpPr>
        <p:spPr>
          <a:xfrm>
            <a:off x="640080" y="1444752"/>
            <a:ext cx="1828800" cy="228600"/>
          </a:xfrm>
          <a:prstGeom prst="rect">
            <a:avLst/>
          </a:prstGeom>
          <a:noFill/>
          <a:ln/>
        </p:spPr>
        <p:txBody>
          <a:bodyPr wrap="square" lIns="0" tIns="0" rIns="0" bIns="0" rtlCol="0" anchor="ctr"/>
          <a:lstStyle/>
          <a:p>
            <a:pPr indent="0" marL="0">
              <a:buNone/>
            </a:pPr>
            <a:r>
              <a:rPr lang="en-US" sz="1000" b="1" spc="60" kern="0" dirty="0">
                <a:solidFill>
                  <a:srgbClr val="0B8F6A"/>
                </a:solidFill>
                <a:latin typeface="Arial" pitchFamily="34" charset="0"/>
                <a:ea typeface="Arial" pitchFamily="34" charset="-122"/>
                <a:cs typeface="Arial" pitchFamily="34" charset="-120"/>
              </a:rPr>
              <a:t>PRE-MATCH</a:t>
            </a:r>
            <a:endParaRPr lang="en-US" sz="1000" dirty="0"/>
          </a:p>
        </p:txBody>
      </p:sp>
      <p:sp>
        <p:nvSpPr>
          <p:cNvPr id="6" name="Shape 4"/>
          <p:cNvSpPr/>
          <p:nvPr/>
        </p:nvSpPr>
        <p:spPr>
          <a:xfrm>
            <a:off x="640080" y="1783080"/>
            <a:ext cx="3520440" cy="1005840"/>
          </a:xfrm>
          <a:prstGeom prst="roundRect">
            <a:avLst>
              <a:gd name="adj" fmla="val 7273"/>
            </a:avLst>
          </a:prstGeom>
          <a:solidFill>
            <a:srgbClr val="FFFFFF"/>
          </a:solidFill>
          <a:ln w="10160">
            <a:solidFill>
              <a:srgbClr val="DDE5EA"/>
            </a:solidFill>
            <a:prstDash val="solid"/>
          </a:ln>
          <a:effectLst>
            <a:outerShdw sx="100000" sy="100000" kx="0" ky="0" algn="bl" rotWithShape="0" blurRad="2.3060201990573107e+90" dist="7.686733996857701e+89" dir="5.9229766729020215e+106">
              <a:srgbClr val="000000">
                <a:alpha val="1.4e+109"/>
              </a:srgbClr>
            </a:outerShdw>
          </a:effectLst>
        </p:spPr>
      </p:sp>
      <p:sp>
        <p:nvSpPr>
          <p:cNvPr id="7" name="Shape 5"/>
          <p:cNvSpPr/>
          <p:nvPr/>
        </p:nvSpPr>
        <p:spPr>
          <a:xfrm>
            <a:off x="640080" y="1783080"/>
            <a:ext cx="73152" cy="1005840"/>
          </a:xfrm>
          <a:prstGeom prst="rect">
            <a:avLst/>
          </a:prstGeom>
          <a:solidFill>
            <a:srgbClr val="0B8F6A"/>
          </a:solidFill>
          <a:ln w="12700">
            <a:solidFill>
              <a:srgbClr val="0B8F6A"/>
            </a:solidFill>
            <a:prstDash val="solid"/>
          </a:ln>
        </p:spPr>
      </p:sp>
      <p:sp>
        <p:nvSpPr>
          <p:cNvPr id="8" name="Text 6"/>
          <p:cNvSpPr/>
          <p:nvPr/>
        </p:nvSpPr>
        <p:spPr>
          <a:xfrm>
            <a:off x="841248" y="1929384"/>
            <a:ext cx="3172968" cy="256032"/>
          </a:xfrm>
          <a:prstGeom prst="rect">
            <a:avLst/>
          </a:prstGeom>
          <a:noFill/>
          <a:ln/>
        </p:spPr>
        <p:txBody>
          <a:bodyPr wrap="square" lIns="0" tIns="0" rIns="0" bIns="0" rtlCol="0" anchor="ctr">
            <a:normAutofit/>
          </a:bodyPr>
          <a:lstStyle/>
          <a:p>
            <a:pPr indent="0" marL="0">
              <a:buNone/>
            </a:pPr>
            <a:r>
              <a:rPr sz="1050" b="1">
                <a:solidFill>
                  <a:srgbClr val="0B1220"/>
                </a:solidFill>
                <a:latin typeface="Arial"/>
              </a:rPr>
              <a:t>Core form · KEEP</a:t>
            </a:r>
            <a:endParaRPr lang="en-US" sz="1050" dirty="0"/>
          </a:p>
        </p:txBody>
      </p:sp>
      <p:sp>
        <p:nvSpPr>
          <p:cNvPr id="9" name="Text 7"/>
          <p:cNvSpPr/>
          <p:nvPr/>
        </p:nvSpPr>
        <p:spPr>
          <a:xfrm>
            <a:off x="841248" y="2258568"/>
            <a:ext cx="3154680" cy="411480"/>
          </a:xfrm>
          <a:prstGeom prst="rect">
            <a:avLst/>
          </a:prstGeom>
          <a:noFill/>
          <a:ln/>
        </p:spPr>
        <p:txBody>
          <a:bodyPr wrap="square" lIns="0" tIns="0" rIns="0" bIns="0" rtlCol="0" anchor="t">
            <a:normAutofit/>
          </a:bodyPr>
          <a:lstStyle/>
          <a:p>
            <a:pPr indent="0" marL="0">
              <a:buNone/>
            </a:pPr>
            <a:r>
              <a:rPr sz="1400">
                <a:solidFill>
                  <a:srgbClr val="273142"/>
                </a:solidFill>
                <a:latin typeface="Arial"/>
              </a:rPr>
              <a:t>6 domain anchors: 5-match points, goals for/against, shots, xG for/against. Dev mean RPS = 0.1606.</a:t>
            </a:r>
            <a:endParaRPr lang="en-US" sz="880" dirty="0"/>
          </a:p>
        </p:txBody>
      </p:sp>
      <p:sp>
        <p:nvSpPr>
          <p:cNvPr id="10" name="Shape 8"/>
          <p:cNvSpPr/>
          <p:nvPr/>
        </p:nvSpPr>
        <p:spPr>
          <a:xfrm>
            <a:off x="640080" y="2926080"/>
            <a:ext cx="3520440" cy="1005840"/>
          </a:xfrm>
          <a:prstGeom prst="roundRect">
            <a:avLst>
              <a:gd name="adj" fmla="val 7273"/>
            </a:avLst>
          </a:prstGeom>
          <a:solidFill>
            <a:srgbClr val="FFFFFF"/>
          </a:solidFill>
          <a:ln w="10160">
            <a:solidFill>
              <a:srgbClr val="DDE5EA"/>
            </a:solidFill>
            <a:prstDash val="solid"/>
          </a:ln>
          <a:effectLst>
            <a:outerShdw sx="100000" sy="100000" kx="0" ky="0" algn="bl" rotWithShape="0" blurRad="2.928645652802785e+94" dist="9.76215217600928e+93" dir="3.553786003741213e+111">
              <a:srgbClr val="000000">
                <a:alpha val="1.4e+114"/>
              </a:srgbClr>
            </a:outerShdw>
          </a:effectLst>
        </p:spPr>
      </p:sp>
      <p:sp>
        <p:nvSpPr>
          <p:cNvPr id="11" name="Shape 9"/>
          <p:cNvSpPr/>
          <p:nvPr/>
        </p:nvSpPr>
        <p:spPr>
          <a:xfrm>
            <a:off x="640080" y="2926080"/>
            <a:ext cx="73152" cy="1005840"/>
          </a:xfrm>
          <a:prstGeom prst="rect">
            <a:avLst/>
          </a:prstGeom>
          <a:solidFill>
            <a:srgbClr val="22B8A0"/>
          </a:solidFill>
          <a:ln w="12700">
            <a:solidFill>
              <a:srgbClr val="22B8A0"/>
            </a:solidFill>
            <a:prstDash val="solid"/>
          </a:ln>
        </p:spPr>
      </p:sp>
      <p:sp>
        <p:nvSpPr>
          <p:cNvPr id="12" name="Text 10"/>
          <p:cNvSpPr/>
          <p:nvPr/>
        </p:nvSpPr>
        <p:spPr>
          <a:xfrm>
            <a:off x="841248" y="3072384"/>
            <a:ext cx="3172968" cy="256032"/>
          </a:xfrm>
          <a:prstGeom prst="rect">
            <a:avLst/>
          </a:prstGeom>
          <a:noFill/>
          <a:ln/>
        </p:spPr>
        <p:txBody>
          <a:bodyPr wrap="square" lIns="0" tIns="0" rIns="0" bIns="0" rtlCol="0" anchor="ctr">
            <a:normAutofit/>
          </a:bodyPr>
          <a:lstStyle/>
          <a:p>
            <a:pPr indent="0" marL="0">
              <a:buNone/>
            </a:pPr>
            <a:r>
              <a:rPr sz="1050" b="1">
                <a:solidFill>
                  <a:srgbClr val="0B1220"/>
                </a:solidFill>
                <a:latin typeface="Arial"/>
              </a:rPr>
              <a:t>Style &amp; territory · KEEP</a:t>
            </a:r>
            <a:endParaRPr lang="en-US" sz="1050" dirty="0"/>
          </a:p>
        </p:txBody>
      </p:sp>
      <p:sp>
        <p:nvSpPr>
          <p:cNvPr id="13" name="Text 11"/>
          <p:cNvSpPr/>
          <p:nvPr/>
        </p:nvSpPr>
        <p:spPr>
          <a:xfrm>
            <a:off x="841248" y="3401568"/>
            <a:ext cx="3154680" cy="411480"/>
          </a:xfrm>
          <a:prstGeom prst="rect">
            <a:avLst/>
          </a:prstGeom>
          <a:noFill/>
          <a:ln/>
        </p:spPr>
        <p:txBody>
          <a:bodyPr wrap="square" lIns="0" tIns="0" rIns="0" bIns="0" rtlCol="0" anchor="t">
            <a:normAutofit/>
          </a:bodyPr>
          <a:lstStyle/>
          <a:p>
            <a:pPr indent="0" marL="0">
              <a:buNone/>
            </a:pPr>
            <a:r>
              <a:rPr sz="1400">
                <a:solidFill>
                  <a:srgbClr val="273142"/>
                </a:solidFill>
                <a:latin typeface="Arial"/>
              </a:rPr>
              <a:t>+5: passes, completed passes, pressures, final-third carries, event share. RPS 0.1458; ΔRPS = −0.0147.</a:t>
            </a:r>
            <a:endParaRPr lang="en-US" sz="880" dirty="0"/>
          </a:p>
        </p:txBody>
      </p:sp>
      <p:sp>
        <p:nvSpPr>
          <p:cNvPr id="14" name="Shape 12"/>
          <p:cNvSpPr/>
          <p:nvPr/>
        </p:nvSpPr>
        <p:spPr>
          <a:xfrm>
            <a:off x="640080" y="4069080"/>
            <a:ext cx="3520440" cy="1005840"/>
          </a:xfrm>
          <a:prstGeom prst="roundRect">
            <a:avLst>
              <a:gd name="adj" fmla="val 7273"/>
            </a:avLst>
          </a:prstGeom>
          <a:solidFill>
            <a:srgbClr val="FFFFFF"/>
          </a:solidFill>
          <a:ln w="10160">
            <a:solidFill>
              <a:srgbClr val="DDE5EA"/>
            </a:solidFill>
            <a:prstDash val="solid"/>
          </a:ln>
          <a:effectLst>
            <a:outerShdw sx="100000" sy="100000" kx="0" ky="0" algn="bl" rotWithShape="0" blurRad="3.7193799790595366e+98" dist="1.2397933263531787e+98" dir="2.1322716022447277e+116">
              <a:srgbClr val="000000">
                <a:alpha val="1.4e+119"/>
              </a:srgbClr>
            </a:outerShdw>
          </a:effectLst>
        </p:spPr>
      </p:sp>
      <p:sp>
        <p:nvSpPr>
          <p:cNvPr id="15" name="Shape 13"/>
          <p:cNvSpPr/>
          <p:nvPr/>
        </p:nvSpPr>
        <p:spPr>
          <a:xfrm>
            <a:off x="640080" y="4069080"/>
            <a:ext cx="73152" cy="1005840"/>
          </a:xfrm>
          <a:prstGeom prst="rect">
            <a:avLst/>
          </a:prstGeom>
          <a:solidFill>
            <a:srgbClr val="F4B942"/>
          </a:solidFill>
          <a:ln w="12700">
            <a:solidFill>
              <a:srgbClr val="F4B942"/>
            </a:solidFill>
            <a:prstDash val="solid"/>
          </a:ln>
        </p:spPr>
      </p:sp>
      <p:sp>
        <p:nvSpPr>
          <p:cNvPr id="16" name="Text 14"/>
          <p:cNvSpPr/>
          <p:nvPr/>
        </p:nvSpPr>
        <p:spPr>
          <a:xfrm>
            <a:off x="841248" y="4215384"/>
            <a:ext cx="3172968" cy="256032"/>
          </a:xfrm>
          <a:prstGeom prst="rect">
            <a:avLst/>
          </a:prstGeom>
          <a:noFill/>
          <a:ln/>
        </p:spPr>
        <p:txBody>
          <a:bodyPr wrap="square" lIns="0" tIns="0" rIns="0" bIns="0" rtlCol="0" anchor="ctr">
            <a:normAutofit/>
          </a:bodyPr>
          <a:lstStyle/>
          <a:p>
            <a:pPr indent="0" marL="0">
              <a:buNone/>
            </a:pPr>
            <a:r>
              <a:rPr sz="1050" b="1">
                <a:solidFill>
                  <a:srgbClr val="0B1220"/>
                </a:solidFill>
                <a:latin typeface="Arial"/>
              </a:rPr>
              <a:t>Context / efficiency · REJECT</a:t>
            </a:r>
            <a:endParaRPr lang="en-US" sz="1050" dirty="0"/>
          </a:p>
        </p:txBody>
      </p:sp>
      <p:sp>
        <p:nvSpPr>
          <p:cNvPr id="17" name="Text 15"/>
          <p:cNvSpPr/>
          <p:nvPr/>
        </p:nvSpPr>
        <p:spPr>
          <a:xfrm>
            <a:off x="841248" y="4544568"/>
            <a:ext cx="3154680" cy="411480"/>
          </a:xfrm>
          <a:prstGeom prst="rect">
            <a:avLst/>
          </a:prstGeom>
          <a:noFill/>
          <a:ln/>
        </p:spPr>
        <p:txBody>
          <a:bodyPr wrap="square" lIns="0" tIns="0" rIns="0" bIns="0" rtlCol="0" anchor="t">
            <a:normAutofit/>
          </a:bodyPr>
          <a:lstStyle/>
          <a:p>
            <a:pPr indent="0" marL="0">
              <a:buNone/>
            </a:pPr>
            <a:r>
              <a:rPr sz="1260">
                <a:solidFill>
                  <a:srgbClr val="273142"/>
                </a:solidFill>
                <a:latin typeface="Arial"/>
              </a:rPr>
              <a:t>Context gain only 0.0007 (&lt;0.001). Efficiency worsened RPS by 0.0013; short-form by 0.0014; defense/set-piece by 0.0096.</a:t>
            </a:r>
            <a:endParaRPr lang="en-US" sz="880" dirty="0"/>
          </a:p>
        </p:txBody>
      </p:sp>
      <p:sp>
        <p:nvSpPr>
          <p:cNvPr id="18" name="Shape 16"/>
          <p:cNvSpPr/>
          <p:nvPr/>
        </p:nvSpPr>
        <p:spPr>
          <a:xfrm>
            <a:off x="640080" y="5212080"/>
            <a:ext cx="3520440" cy="822960"/>
          </a:xfrm>
          <a:prstGeom prst="roundRect">
            <a:avLst>
              <a:gd name="adj" fmla="val 8889"/>
            </a:avLst>
          </a:prstGeom>
          <a:solidFill>
            <a:srgbClr val="FFFFFF"/>
          </a:solidFill>
          <a:ln w="10160">
            <a:solidFill>
              <a:srgbClr val="DDE5EA"/>
            </a:solidFill>
            <a:prstDash val="solid"/>
          </a:ln>
          <a:effectLst>
            <a:outerShdw sx="100000" sy="100000" kx="0" ky="0" algn="bl" rotWithShape="0" blurRad="4.723612573405612e+102" dist="1.574537524468537e+102" dir="1.2793629613468366e+121">
              <a:srgbClr val="000000">
                <a:alpha val="1.4e+124"/>
              </a:srgbClr>
            </a:outerShdw>
          </a:effectLst>
        </p:spPr>
      </p:sp>
      <p:sp>
        <p:nvSpPr>
          <p:cNvPr id="19" name="Shape 17"/>
          <p:cNvSpPr/>
          <p:nvPr/>
        </p:nvSpPr>
        <p:spPr>
          <a:xfrm>
            <a:off x="640080" y="5212080"/>
            <a:ext cx="73152" cy="822960"/>
          </a:xfrm>
          <a:prstGeom prst="rect">
            <a:avLst/>
          </a:prstGeom>
          <a:solidFill>
            <a:srgbClr val="0B8F6A"/>
          </a:solidFill>
          <a:ln w="12700">
            <a:solidFill>
              <a:srgbClr val="0B8F6A"/>
            </a:solidFill>
            <a:prstDash val="solid"/>
          </a:ln>
        </p:spPr>
      </p:sp>
      <p:sp>
        <p:nvSpPr>
          <p:cNvPr id="20" name="Text 18"/>
          <p:cNvSpPr/>
          <p:nvPr/>
        </p:nvSpPr>
        <p:spPr>
          <a:xfrm>
            <a:off x="841248" y="5358384"/>
            <a:ext cx="3172968" cy="256032"/>
          </a:xfrm>
          <a:prstGeom prst="rect">
            <a:avLst/>
          </a:prstGeom>
          <a:noFill/>
          <a:ln/>
        </p:spPr>
        <p:txBody>
          <a:bodyPr wrap="square" lIns="0" tIns="0" rIns="0" bIns="0" rtlCol="0" anchor="ctr">
            <a:normAutofit/>
          </a:bodyPr>
          <a:lstStyle/>
          <a:p>
            <a:pPr indent="0" marL="0">
              <a:buNone/>
            </a:pPr>
            <a:r>
              <a:rPr sz="1050" b="1">
                <a:solidFill>
                  <a:srgbClr val="0B1220"/>
                </a:solidFill>
                <a:latin typeface="Arial"/>
              </a:rPr>
              <a:t>Momentum · REJECT</a:t>
            </a:r>
            <a:endParaRPr lang="en-US" sz="1050" dirty="0"/>
          </a:p>
        </p:txBody>
      </p:sp>
      <p:sp>
        <p:nvSpPr>
          <p:cNvPr id="21" name="Text 19"/>
          <p:cNvSpPr/>
          <p:nvPr/>
        </p:nvSpPr>
        <p:spPr>
          <a:xfrm>
            <a:off x="841248" y="5687568"/>
            <a:ext cx="3154680" cy="228600"/>
          </a:xfrm>
          <a:prstGeom prst="rect">
            <a:avLst/>
          </a:prstGeom>
          <a:noFill/>
          <a:ln/>
        </p:spPr>
        <p:txBody>
          <a:bodyPr wrap="square" lIns="0" tIns="0" rIns="0" bIns="0" rtlCol="0" anchor="t">
            <a:normAutofit/>
          </a:bodyPr>
          <a:lstStyle/>
          <a:p>
            <a:pPr indent="0" marL="0">
              <a:buNone/>
            </a:pPr>
            <a:r>
              <a:rPr sz="1250">
                <a:solidFill>
                  <a:srgbClr val="273142"/>
                </a:solidFill>
                <a:latin typeface="Arial"/>
              </a:rPr>
              <a:t>42.3% mean missingness (&gt;30% pre-screen threshold). We did not let sparse trends enter model selection.</a:t>
            </a:r>
            <a:endParaRPr lang="en-US" sz="880" dirty="0"/>
          </a:p>
        </p:txBody>
      </p:sp>
      <p:sp>
        <p:nvSpPr>
          <p:cNvPr id="22" name="Text 20"/>
          <p:cNvSpPr/>
          <p:nvPr/>
        </p:nvSpPr>
        <p:spPr>
          <a:xfrm>
            <a:off x="4443984" y="1444752"/>
            <a:ext cx="1828800" cy="228600"/>
          </a:xfrm>
          <a:prstGeom prst="rect">
            <a:avLst/>
          </a:prstGeom>
          <a:noFill/>
          <a:ln/>
        </p:spPr>
        <p:txBody>
          <a:bodyPr wrap="square" lIns="0" tIns="0" rIns="0" bIns="0" rtlCol="0" anchor="ctr"/>
          <a:lstStyle/>
          <a:p>
            <a:pPr indent="0" marL="0">
              <a:buNone/>
            </a:pPr>
            <a:r>
              <a:rPr lang="en-US" sz="1000" b="1" spc="60" kern="0" dirty="0">
                <a:solidFill>
                  <a:srgbClr val="22B8A0"/>
                </a:solidFill>
                <a:latin typeface="Arial" pitchFamily="34" charset="0"/>
                <a:ea typeface="Arial" pitchFamily="34" charset="-122"/>
                <a:cs typeface="Arial" pitchFamily="34" charset="-120"/>
              </a:rPr>
              <a:t>IN-PLAY</a:t>
            </a:r>
            <a:endParaRPr lang="en-US" sz="1000" dirty="0"/>
          </a:p>
        </p:txBody>
      </p:sp>
      <p:sp>
        <p:nvSpPr>
          <p:cNvPr id="23" name="Shape 21"/>
          <p:cNvSpPr/>
          <p:nvPr/>
        </p:nvSpPr>
        <p:spPr>
          <a:xfrm>
            <a:off x="4443984" y="1783080"/>
            <a:ext cx="3520440" cy="1005840"/>
          </a:xfrm>
          <a:prstGeom prst="roundRect">
            <a:avLst>
              <a:gd name="adj" fmla="val 7273"/>
            </a:avLst>
          </a:prstGeom>
          <a:solidFill>
            <a:srgbClr val="FFFFFF"/>
          </a:solidFill>
          <a:ln w="10160">
            <a:solidFill>
              <a:srgbClr val="DDE5EA"/>
            </a:solidFill>
            <a:prstDash val="solid"/>
          </a:ln>
          <a:effectLst>
            <a:outerShdw sx="100000" sy="100000" kx="0" ky="0" algn="bl" rotWithShape="0" blurRad="5.998987968225127e+106" dist="1.999662656075042e+106" dir="7.67617776808102e+125">
              <a:srgbClr val="000000">
                <a:alpha val="1.4e+129"/>
              </a:srgbClr>
            </a:outerShdw>
          </a:effectLst>
        </p:spPr>
      </p:sp>
      <p:sp>
        <p:nvSpPr>
          <p:cNvPr id="24" name="Shape 22"/>
          <p:cNvSpPr/>
          <p:nvPr/>
        </p:nvSpPr>
        <p:spPr>
          <a:xfrm>
            <a:off x="4443984" y="1783080"/>
            <a:ext cx="73152" cy="1005840"/>
          </a:xfrm>
          <a:prstGeom prst="rect">
            <a:avLst/>
          </a:prstGeom>
          <a:solidFill>
            <a:srgbClr val="22B8A0"/>
          </a:solidFill>
          <a:ln w="12700">
            <a:solidFill>
              <a:srgbClr val="22B8A0"/>
            </a:solidFill>
            <a:prstDash val="solid"/>
          </a:ln>
        </p:spPr>
      </p:sp>
      <p:sp>
        <p:nvSpPr>
          <p:cNvPr id="25" name="Text 23"/>
          <p:cNvSpPr/>
          <p:nvPr/>
        </p:nvSpPr>
        <p:spPr>
          <a:xfrm>
            <a:off x="4645152" y="1929384"/>
            <a:ext cx="3172968" cy="256032"/>
          </a:xfrm>
          <a:prstGeom prst="rect">
            <a:avLst/>
          </a:prstGeom>
          <a:noFill/>
          <a:ln/>
        </p:spPr>
        <p:txBody>
          <a:bodyPr wrap="square" lIns="0" tIns="0" rIns="0" bIns="0" rtlCol="0" anchor="ctr">
            <a:normAutofit/>
          </a:bodyPr>
          <a:lstStyle/>
          <a:p>
            <a:pPr indent="0" marL="0">
              <a:buNone/>
            </a:pPr>
            <a:r>
              <a:rPr sz="1050" b="1">
                <a:solidFill>
                  <a:srgbClr val="0B1220"/>
                </a:solidFill>
                <a:latin typeface="Arial"/>
              </a:rPr>
              <a:t>Game state · KEEP</a:t>
            </a:r>
            <a:endParaRPr lang="en-US" sz="1050" dirty="0"/>
          </a:p>
        </p:txBody>
      </p:sp>
      <p:sp>
        <p:nvSpPr>
          <p:cNvPr id="26" name="Text 24"/>
          <p:cNvSpPr/>
          <p:nvPr/>
        </p:nvSpPr>
        <p:spPr>
          <a:xfrm>
            <a:off x="4645152" y="2258568"/>
            <a:ext cx="3154680" cy="411480"/>
          </a:xfrm>
          <a:prstGeom prst="rect">
            <a:avLst/>
          </a:prstGeom>
          <a:noFill/>
          <a:ln/>
        </p:spPr>
        <p:txBody>
          <a:bodyPr wrap="square" lIns="0" tIns="0" rIns="0" bIns="0" rtlCol="0" anchor="t">
            <a:normAutofit/>
          </a:bodyPr>
          <a:lstStyle/>
          <a:p>
            <a:pPr indent="0" marL="0">
              <a:buNone/>
            </a:pPr>
            <a:r>
              <a:rPr sz="1400">
                <a:solidFill>
                  <a:srgbClr val="273142"/>
                </a:solidFill>
                <a:latin typeface="Arial"/>
              </a:rPr>
              <a:t>Final live contract adds only: snapshot minute, current score difference, and home man advantage.</a:t>
            </a:r>
            <a:endParaRPr lang="en-US" sz="880" dirty="0"/>
          </a:p>
        </p:txBody>
      </p:sp>
      <p:sp>
        <p:nvSpPr>
          <p:cNvPr id="27" name="Shape 25"/>
          <p:cNvSpPr/>
          <p:nvPr/>
        </p:nvSpPr>
        <p:spPr>
          <a:xfrm>
            <a:off x="4443984" y="2926080"/>
            <a:ext cx="3520440" cy="1005840"/>
          </a:xfrm>
          <a:prstGeom prst="roundRect">
            <a:avLst>
              <a:gd name="adj" fmla="val 7273"/>
            </a:avLst>
          </a:prstGeom>
          <a:solidFill>
            <a:srgbClr val="FFFFFF"/>
          </a:solidFill>
          <a:ln w="10160">
            <a:solidFill>
              <a:srgbClr val="DDE5EA"/>
            </a:solidFill>
            <a:prstDash val="solid"/>
          </a:ln>
          <a:effectLst>
            <a:outerShdw sx="100000" sy="100000" kx="0" ky="0" algn="bl" rotWithShape="0" blurRad="7.618714719645911e+110" dist="2.5395715732153035e+110" dir="4.605706660848612e+130">
              <a:srgbClr val="000000">
                <a:alpha val="1.4e+134"/>
              </a:srgbClr>
            </a:outerShdw>
          </a:effectLst>
        </p:spPr>
      </p:sp>
      <p:sp>
        <p:nvSpPr>
          <p:cNvPr id="28" name="Shape 26"/>
          <p:cNvSpPr/>
          <p:nvPr/>
        </p:nvSpPr>
        <p:spPr>
          <a:xfrm>
            <a:off x="4443984" y="2926080"/>
            <a:ext cx="73152" cy="1005840"/>
          </a:xfrm>
          <a:prstGeom prst="rect">
            <a:avLst/>
          </a:prstGeom>
          <a:solidFill>
            <a:srgbClr val="0B8F6A"/>
          </a:solidFill>
          <a:ln w="12700">
            <a:solidFill>
              <a:srgbClr val="0B8F6A"/>
            </a:solidFill>
            <a:prstDash val="solid"/>
          </a:ln>
        </p:spPr>
      </p:sp>
      <p:sp>
        <p:nvSpPr>
          <p:cNvPr id="29" name="Text 27"/>
          <p:cNvSpPr/>
          <p:nvPr/>
        </p:nvSpPr>
        <p:spPr>
          <a:xfrm>
            <a:off x="4645152" y="3072384"/>
            <a:ext cx="3172968" cy="256032"/>
          </a:xfrm>
          <a:prstGeom prst="rect">
            <a:avLst/>
          </a:prstGeom>
          <a:noFill/>
          <a:ln/>
        </p:spPr>
        <p:txBody>
          <a:bodyPr wrap="square" lIns="0" tIns="0" rIns="0" bIns="0" rtlCol="0" anchor="ctr">
            <a:normAutofit/>
          </a:bodyPr>
          <a:lstStyle/>
          <a:p>
            <a:pPr indent="0" marL="0">
              <a:buNone/>
            </a:pPr>
            <a:r>
              <a:rPr sz="1050" b="1">
                <a:solidFill>
                  <a:srgbClr val="0B1220"/>
                </a:solidFill>
                <a:latin typeface="Arial"/>
              </a:rPr>
              <a:t>Cumulative event quality · REJECT</a:t>
            </a:r>
            <a:endParaRPr lang="en-US" sz="1050" dirty="0"/>
          </a:p>
        </p:txBody>
      </p:sp>
      <p:sp>
        <p:nvSpPr>
          <p:cNvPr id="30" name="Text 28"/>
          <p:cNvSpPr/>
          <p:nvPr/>
        </p:nvSpPr>
        <p:spPr>
          <a:xfrm>
            <a:off x="4645152" y="3401568"/>
            <a:ext cx="3154680" cy="411480"/>
          </a:xfrm>
          <a:prstGeom prst="rect">
            <a:avLst/>
          </a:prstGeom>
          <a:noFill/>
          <a:ln/>
        </p:spPr>
        <p:txBody>
          <a:bodyPr wrap="square" lIns="0" tIns="0" rIns="0" bIns="0" rtlCol="0" anchor="t">
            <a:normAutofit/>
          </a:bodyPr>
          <a:lstStyle/>
          <a:p>
            <a:pPr indent="0" marL="0">
              <a:buNone/>
            </a:pPr>
            <a:r>
              <a:rPr sz="1320">
                <a:solidFill>
                  <a:srgbClr val="273142"/>
                </a:solidFill>
                <a:latin typeface="Arial"/>
              </a:rPr>
              <a:t>Development gain = 0.00011 RPS — below the 0.0005 live-feature threshold.</a:t>
            </a:r>
            <a:endParaRPr lang="en-US" sz="880" dirty="0"/>
          </a:p>
        </p:txBody>
      </p:sp>
      <p:sp>
        <p:nvSpPr>
          <p:cNvPr id="31" name="Shape 29"/>
          <p:cNvSpPr/>
          <p:nvPr/>
        </p:nvSpPr>
        <p:spPr>
          <a:xfrm>
            <a:off x="4443984" y="4069080"/>
            <a:ext cx="3520440" cy="1005840"/>
          </a:xfrm>
          <a:prstGeom prst="roundRect">
            <a:avLst>
              <a:gd name="adj" fmla="val 7273"/>
            </a:avLst>
          </a:prstGeom>
          <a:solidFill>
            <a:srgbClr val="FFFFFF"/>
          </a:solidFill>
          <a:ln w="10160">
            <a:solidFill>
              <a:srgbClr val="DDE5EA"/>
            </a:solidFill>
            <a:prstDash val="solid"/>
          </a:ln>
          <a:effectLst>
            <a:outerShdw sx="100000" sy="100000" kx="0" ky="0" algn="bl" rotWithShape="0" blurRad="9.675767693950307e+114" dist="3.2252558979834355e+114" dir="2.763423996509167e+135">
              <a:srgbClr val="000000">
                <a:alpha val="1.4e+139"/>
              </a:srgbClr>
            </a:outerShdw>
          </a:effectLst>
        </p:spPr>
      </p:sp>
      <p:sp>
        <p:nvSpPr>
          <p:cNvPr id="32" name="Shape 30"/>
          <p:cNvSpPr/>
          <p:nvPr/>
        </p:nvSpPr>
        <p:spPr>
          <a:xfrm>
            <a:off x="4443984" y="4069080"/>
            <a:ext cx="73152" cy="1005840"/>
          </a:xfrm>
          <a:prstGeom prst="rect">
            <a:avLst/>
          </a:prstGeom>
          <a:solidFill>
            <a:srgbClr val="F4B942"/>
          </a:solidFill>
          <a:ln w="12700">
            <a:solidFill>
              <a:srgbClr val="F4B942"/>
            </a:solidFill>
            <a:prstDash val="solid"/>
          </a:ln>
        </p:spPr>
      </p:sp>
      <p:sp>
        <p:nvSpPr>
          <p:cNvPr id="33" name="Text 31"/>
          <p:cNvSpPr/>
          <p:nvPr/>
        </p:nvSpPr>
        <p:spPr>
          <a:xfrm>
            <a:off x="4645152" y="4215384"/>
            <a:ext cx="3172968" cy="256032"/>
          </a:xfrm>
          <a:prstGeom prst="rect">
            <a:avLst/>
          </a:prstGeom>
          <a:noFill/>
          <a:ln/>
        </p:spPr>
        <p:txBody>
          <a:bodyPr wrap="square" lIns="0" tIns="0" rIns="0" bIns="0" rtlCol="0" anchor="ctr">
            <a:normAutofit/>
          </a:bodyPr>
          <a:lstStyle/>
          <a:p>
            <a:pPr indent="0" marL="0">
              <a:buNone/>
            </a:pPr>
            <a:r>
              <a:rPr sz="1050" b="1">
                <a:solidFill>
                  <a:srgbClr val="0B1220"/>
                </a:solidFill>
                <a:latin typeface="Arial"/>
              </a:rPr>
              <a:t>Recent momentum · REJECT</a:t>
            </a:r>
            <a:endParaRPr lang="en-US" sz="1050" dirty="0"/>
          </a:p>
        </p:txBody>
      </p:sp>
      <p:sp>
        <p:nvSpPr>
          <p:cNvPr id="34" name="Text 32"/>
          <p:cNvSpPr/>
          <p:nvPr/>
        </p:nvSpPr>
        <p:spPr>
          <a:xfrm>
            <a:off x="4645152" y="4544568"/>
            <a:ext cx="3154680" cy="411480"/>
          </a:xfrm>
          <a:prstGeom prst="rect">
            <a:avLst/>
          </a:prstGeom>
          <a:noFill/>
          <a:ln/>
        </p:spPr>
        <p:txBody>
          <a:bodyPr wrap="square" lIns="0" tIns="0" rIns="0" bIns="0" rtlCol="0" anchor="t">
            <a:normAutofit/>
          </a:bodyPr>
          <a:lstStyle/>
          <a:p>
            <a:pPr indent="0" marL="0">
              <a:buNone/>
            </a:pPr>
            <a:r>
              <a:rPr sz="1260">
                <a:solidFill>
                  <a:srgbClr val="273142"/>
                </a:solidFill>
                <a:latin typeface="Arial"/>
              </a:rPr>
              <a:t>Development gain = 0.00016 RPS — below threshold. Extra live counts added latency/variance without enough value.</a:t>
            </a:r>
            <a:endParaRPr lang="en-US" sz="880" dirty="0"/>
          </a:p>
        </p:txBody>
      </p:sp>
      <p:sp>
        <p:nvSpPr>
          <p:cNvPr id="35" name="Shape 33"/>
          <p:cNvSpPr/>
          <p:nvPr/>
        </p:nvSpPr>
        <p:spPr>
          <a:xfrm>
            <a:off x="4443984" y="5212080"/>
            <a:ext cx="3520440" cy="822960"/>
          </a:xfrm>
          <a:prstGeom prst="roundRect">
            <a:avLst>
              <a:gd name="adj" fmla="val 8889"/>
            </a:avLst>
          </a:prstGeom>
          <a:solidFill>
            <a:srgbClr val="FFFFFF"/>
          </a:solidFill>
          <a:ln w="10160">
            <a:solidFill>
              <a:srgbClr val="DDE5EA"/>
            </a:solidFill>
            <a:prstDash val="solid"/>
          </a:ln>
          <a:effectLst>
            <a:outerShdw sx="100000" sy="100000" kx="0" ky="0" algn="bl" rotWithShape="0" blurRad="1.2288224971316889e+119" dist="4.096074990438963e+118" dir="1.6580543979055002e+140">
              <a:srgbClr val="000000">
                <a:alpha val="1.3999999999999999e+144"/>
              </a:srgbClr>
            </a:outerShdw>
          </a:effectLst>
        </p:spPr>
      </p:sp>
      <p:sp>
        <p:nvSpPr>
          <p:cNvPr id="36" name="Shape 34"/>
          <p:cNvSpPr/>
          <p:nvPr/>
        </p:nvSpPr>
        <p:spPr>
          <a:xfrm>
            <a:off x="4443984" y="5212080"/>
            <a:ext cx="73152" cy="822960"/>
          </a:xfrm>
          <a:prstGeom prst="rect">
            <a:avLst/>
          </a:prstGeom>
          <a:solidFill>
            <a:srgbClr val="22B8A0"/>
          </a:solidFill>
          <a:ln w="12700">
            <a:solidFill>
              <a:srgbClr val="22B8A0"/>
            </a:solidFill>
            <a:prstDash val="solid"/>
          </a:ln>
        </p:spPr>
      </p:sp>
      <p:sp>
        <p:nvSpPr>
          <p:cNvPr id="37" name="Text 35"/>
          <p:cNvSpPr/>
          <p:nvPr/>
        </p:nvSpPr>
        <p:spPr>
          <a:xfrm>
            <a:off x="4645152" y="5358384"/>
            <a:ext cx="3172968" cy="256032"/>
          </a:xfrm>
          <a:prstGeom prst="rect">
            <a:avLst/>
          </a:prstGeom>
          <a:noFill/>
          <a:ln/>
        </p:spPr>
        <p:txBody>
          <a:bodyPr wrap="square" lIns="0" tIns="0" rIns="0" bIns="0" rtlCol="0" anchor="ctr">
            <a:normAutofit/>
          </a:bodyPr>
          <a:lstStyle/>
          <a:p>
            <a:pPr indent="0" marL="0">
              <a:buNone/>
            </a:pPr>
            <a:r>
              <a:rPr sz="1050" b="1">
                <a:solidFill>
                  <a:srgbClr val="0B1220"/>
                </a:solidFill>
                <a:latin typeface="Arial"/>
              </a:rPr>
              <a:t>Decision rule</a:t>
            </a:r>
            <a:endParaRPr lang="en-US" sz="1050" dirty="0"/>
          </a:p>
        </p:txBody>
      </p:sp>
      <p:sp>
        <p:nvSpPr>
          <p:cNvPr id="38" name="Text 36"/>
          <p:cNvSpPr/>
          <p:nvPr/>
        </p:nvSpPr>
        <p:spPr>
          <a:xfrm>
            <a:off x="4645152" y="5687568"/>
            <a:ext cx="3154680" cy="228600"/>
          </a:xfrm>
          <a:prstGeom prst="rect">
            <a:avLst/>
          </a:prstGeom>
          <a:noFill/>
          <a:ln/>
        </p:spPr>
        <p:txBody>
          <a:bodyPr wrap="square" lIns="0" tIns="0" rIns="0" bIns="0" rtlCol="0" anchor="t">
            <a:normAutofit/>
          </a:bodyPr>
          <a:lstStyle/>
          <a:p>
            <a:pPr indent="0" marL="0">
              <a:buNone/>
            </a:pPr>
            <a:r>
              <a:rPr sz="1260">
                <a:solidFill>
                  <a:srgbClr val="273142"/>
                </a:solidFill>
                <a:latin typeface="Arial"/>
              </a:rPr>
              <a:t>Pre-screen missingness → future-season ablation → keep only measurable gain; odds remain baseline-only.</a:t>
            </a:r>
            <a:endParaRPr lang="en-US" sz="880" dirty="0"/>
          </a:p>
        </p:txBody>
      </p:sp>
      <p:sp>
        <p:nvSpPr>
          <p:cNvPr id="39" name="Shape 37"/>
          <p:cNvSpPr/>
          <p:nvPr/>
        </p:nvSpPr>
        <p:spPr>
          <a:xfrm>
            <a:off x="8275320" y="1874520"/>
            <a:ext cx="3063240"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1.5606045713572448e+123" dist="5.202015237857483e+122" dir="9.948326387433002e+144">
              <a:srgbClr val="000000">
                <a:alpha val="1.4e+149"/>
              </a:srgbClr>
            </a:outerShdw>
          </a:effectLst>
        </p:spPr>
      </p:sp>
      <p:sp>
        <p:nvSpPr>
          <p:cNvPr id="40" name="Shape 38"/>
          <p:cNvSpPr/>
          <p:nvPr/>
        </p:nvSpPr>
        <p:spPr>
          <a:xfrm>
            <a:off x="8275320" y="1874520"/>
            <a:ext cx="73152" cy="960120"/>
          </a:xfrm>
          <a:prstGeom prst="rect">
            <a:avLst/>
          </a:prstGeom>
          <a:solidFill>
            <a:srgbClr val="0B8F6A"/>
          </a:solidFill>
          <a:ln w="12700">
            <a:solidFill>
              <a:srgbClr val="0B8F6A"/>
            </a:solidFill>
            <a:prstDash val="solid"/>
          </a:ln>
        </p:spPr>
      </p:sp>
      <p:sp>
        <p:nvSpPr>
          <p:cNvPr id="41" name="Text 39"/>
          <p:cNvSpPr/>
          <p:nvPr/>
        </p:nvSpPr>
        <p:spPr>
          <a:xfrm>
            <a:off x="8458200" y="2020824"/>
            <a:ext cx="2788920" cy="365760"/>
          </a:xfrm>
          <a:prstGeom prst="rect">
            <a:avLst/>
          </a:prstGeom>
          <a:noFill/>
          <a:ln/>
        </p:spPr>
        <p:txBody>
          <a:bodyPr wrap="square" lIns="0" tIns="0" rIns="0" bIns="0" rtlCol="0" anchor="ctr">
            <a:normAutofit/>
          </a:bodyPr>
          <a:lstStyle/>
          <a:p>
            <a:pPr algn="ctr" indent="0" marL="0">
              <a:buNone/>
            </a:pPr>
            <a:r>
              <a:rPr sz="2300" b="1">
                <a:solidFill>
                  <a:srgbClr val="0B1220"/>
                </a:solidFill>
                <a:latin typeface="Arial"/>
              </a:rPr>
              <a:t>11</a:t>
            </a:r>
            <a:endParaRPr lang="en-US" sz="2300" dirty="0"/>
          </a:p>
        </p:txBody>
      </p:sp>
      <p:sp>
        <p:nvSpPr>
          <p:cNvPr id="42" name="Text 40"/>
          <p:cNvSpPr/>
          <p:nvPr/>
        </p:nvSpPr>
        <p:spPr>
          <a:xfrm>
            <a:off x="8421624" y="2459736"/>
            <a:ext cx="2843784" cy="182880"/>
          </a:xfrm>
          <a:prstGeom prst="rect">
            <a:avLst/>
          </a:prstGeom>
          <a:noFill/>
          <a:ln/>
        </p:spPr>
        <p:txBody>
          <a:bodyPr wrap="square" lIns="0" tIns="0" rIns="0" bIns="0" rtlCol="0" anchor="ctr">
            <a:normAutofit/>
          </a:bodyPr>
          <a:lstStyle/>
          <a:p>
            <a:pPr algn="ctr" indent="0" marL="0">
              <a:buNone/>
            </a:pPr>
            <a:r>
              <a:rPr sz="850" b="1">
                <a:solidFill>
                  <a:srgbClr val="5B6577"/>
                </a:solidFill>
                <a:latin typeface="Arial"/>
              </a:rPr>
              <a:t>final pre-match features</a:t>
            </a:r>
            <a:endParaRPr lang="en-US" sz="850" dirty="0"/>
          </a:p>
        </p:txBody>
      </p:sp>
      <p:sp>
        <p:nvSpPr>
          <p:cNvPr id="43" name="Shape 41"/>
          <p:cNvSpPr/>
          <p:nvPr/>
        </p:nvSpPr>
        <p:spPr>
          <a:xfrm>
            <a:off x="8275320" y="3154680"/>
            <a:ext cx="3063240"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1.9819678056237007e+127" dist="6.606559352079004e+126" dir="5.968995832459801e+149">
              <a:srgbClr val="000000">
                <a:alpha val="1.4e+154"/>
              </a:srgbClr>
            </a:outerShdw>
          </a:effectLst>
        </p:spPr>
      </p:sp>
      <p:sp>
        <p:nvSpPr>
          <p:cNvPr id="44" name="Shape 42"/>
          <p:cNvSpPr/>
          <p:nvPr/>
        </p:nvSpPr>
        <p:spPr>
          <a:xfrm>
            <a:off x="8275320" y="3154680"/>
            <a:ext cx="73152" cy="960120"/>
          </a:xfrm>
          <a:prstGeom prst="rect">
            <a:avLst/>
          </a:prstGeom>
          <a:solidFill>
            <a:srgbClr val="22B8A0"/>
          </a:solidFill>
          <a:ln w="12700">
            <a:solidFill>
              <a:srgbClr val="22B8A0"/>
            </a:solidFill>
            <a:prstDash val="solid"/>
          </a:ln>
        </p:spPr>
      </p:sp>
      <p:sp>
        <p:nvSpPr>
          <p:cNvPr id="45" name="Text 43"/>
          <p:cNvSpPr/>
          <p:nvPr/>
        </p:nvSpPr>
        <p:spPr>
          <a:xfrm>
            <a:off x="8458200" y="3300984"/>
            <a:ext cx="2788920" cy="365760"/>
          </a:xfrm>
          <a:prstGeom prst="rect">
            <a:avLst/>
          </a:prstGeom>
          <a:noFill/>
          <a:ln/>
        </p:spPr>
        <p:txBody>
          <a:bodyPr wrap="square" lIns="0" tIns="0" rIns="0" bIns="0" rtlCol="0" anchor="ctr">
            <a:normAutofit/>
          </a:bodyPr>
          <a:lstStyle/>
          <a:p>
            <a:pPr algn="ctr" indent="0" marL="0">
              <a:buNone/>
            </a:pPr>
            <a:r>
              <a:rPr sz="2300" b="1">
                <a:solidFill>
                  <a:srgbClr val="0B1220"/>
                </a:solidFill>
                <a:latin typeface="Arial"/>
              </a:rPr>
              <a:t>14</a:t>
            </a:r>
            <a:endParaRPr lang="en-US" sz="2300" dirty="0"/>
          </a:p>
        </p:txBody>
      </p:sp>
      <p:sp>
        <p:nvSpPr>
          <p:cNvPr id="46" name="Text 44"/>
          <p:cNvSpPr/>
          <p:nvPr/>
        </p:nvSpPr>
        <p:spPr>
          <a:xfrm>
            <a:off x="8421624" y="3739896"/>
            <a:ext cx="2843784" cy="182880"/>
          </a:xfrm>
          <a:prstGeom prst="rect">
            <a:avLst/>
          </a:prstGeom>
          <a:noFill/>
          <a:ln/>
        </p:spPr>
        <p:txBody>
          <a:bodyPr wrap="square" lIns="0" tIns="0" rIns="0" bIns="0" rtlCol="0" anchor="ctr">
            <a:normAutofit/>
          </a:bodyPr>
          <a:lstStyle/>
          <a:p>
            <a:pPr algn="ctr" indent="0" marL="0">
              <a:buNone/>
            </a:pPr>
            <a:r>
              <a:rPr sz="850" b="1">
                <a:solidFill>
                  <a:srgbClr val="5B6577"/>
                </a:solidFill>
                <a:latin typeface="Arial"/>
              </a:rPr>
              <a:t>final live features</a:t>
            </a:r>
            <a:endParaRPr lang="en-US" sz="850" dirty="0"/>
          </a:p>
        </p:txBody>
      </p:sp>
      <p:sp>
        <p:nvSpPr>
          <p:cNvPr id="47" name="Shape 45"/>
          <p:cNvSpPr/>
          <p:nvPr/>
        </p:nvSpPr>
        <p:spPr>
          <a:xfrm>
            <a:off x="8275320" y="4434840"/>
            <a:ext cx="3063240" cy="1234440"/>
          </a:xfrm>
          <a:prstGeom prst="roundRect">
            <a:avLst>
              <a:gd name="adj" fmla="val 4444"/>
            </a:avLst>
          </a:prstGeom>
          <a:solidFill>
            <a:srgbClr val="FFF5D8"/>
          </a:solidFill>
          <a:ln w="12700">
            <a:solidFill>
              <a:srgbClr val="FFF5D8"/>
            </a:solidFill>
            <a:prstDash val="solid"/>
          </a:ln>
        </p:spPr>
      </p:sp>
      <p:sp>
        <p:nvSpPr>
          <p:cNvPr id="48" name="Shape 46"/>
          <p:cNvSpPr/>
          <p:nvPr/>
        </p:nvSpPr>
        <p:spPr>
          <a:xfrm>
            <a:off x="8275320" y="4434840"/>
            <a:ext cx="91440" cy="1234440"/>
          </a:xfrm>
          <a:prstGeom prst="rect">
            <a:avLst/>
          </a:prstGeom>
          <a:solidFill>
            <a:srgbClr val="F4B942"/>
          </a:solidFill>
          <a:ln w="12700">
            <a:solidFill>
              <a:srgbClr val="F4B942"/>
            </a:solidFill>
            <a:prstDash val="solid"/>
          </a:ln>
        </p:spPr>
      </p:sp>
      <p:sp>
        <p:nvSpPr>
          <p:cNvPr id="49" name="Text 47"/>
          <p:cNvSpPr/>
          <p:nvPr/>
        </p:nvSpPr>
        <p:spPr>
          <a:xfrm>
            <a:off x="8494776" y="4553712"/>
            <a:ext cx="2697480" cy="219456"/>
          </a:xfrm>
          <a:prstGeom prst="rect">
            <a:avLst/>
          </a:prstGeom>
          <a:noFill/>
          <a:ln/>
        </p:spPr>
        <p:txBody>
          <a:bodyPr wrap="square" lIns="0" tIns="0" rIns="0" bIns="0" rtlCol="0" anchor="ctr">
            <a:normAutofit/>
          </a:bodyPr>
          <a:lstStyle/>
          <a:p>
            <a:pPr indent="0" marL="0">
              <a:buNone/>
            </a:pPr>
            <a:r>
              <a:rPr sz="1050" b="1">
                <a:solidFill>
                  <a:srgbClr val="0B1220"/>
                </a:solidFill>
                <a:latin typeface="Arial"/>
              </a:rPr>
              <a:t>Leakage &amp; market guardrail</a:t>
            </a:r>
            <a:endParaRPr lang="en-US" sz="1050" dirty="0"/>
          </a:p>
        </p:txBody>
      </p:sp>
      <p:sp>
        <p:nvSpPr>
          <p:cNvPr id="50" name="Text 48"/>
          <p:cNvSpPr/>
          <p:nvPr/>
        </p:nvSpPr>
        <p:spPr>
          <a:xfrm>
            <a:off x="8494776" y="4828032"/>
            <a:ext cx="2679192" cy="740664"/>
          </a:xfrm>
          <a:prstGeom prst="rect">
            <a:avLst/>
          </a:prstGeom>
          <a:noFill/>
          <a:ln/>
        </p:spPr>
        <p:txBody>
          <a:bodyPr wrap="square" lIns="0" tIns="0" rIns="0" bIns="0" rtlCol="0" anchor="ctr">
            <a:normAutofit/>
          </a:bodyPr>
          <a:lstStyle/>
          <a:p>
            <a:pPr indent="0" marL="0">
              <a:buNone/>
            </a:pPr>
            <a:r>
              <a:rPr sz="1280">
                <a:solidFill>
                  <a:srgbClr val="273142"/>
                </a:solidFill>
                <a:latin typeface="Arial"/>
              </a:rPr>
              <a:t>All features are shifted before kick-off / cut at time t. Bookmaker odds are excluded from model inputs so the market remains an independent baseline.</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05 · MARKET</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sz="2500" b="1">
                <a:solidFill>
                  <a:srgbClr val="0B1220"/>
                </a:solidFill>
                <a:latin typeface="Arial"/>
              </a:rPr>
              <a:t>Market baseline: fixed, tagged and evaluated</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sz="1400">
                <a:solidFill>
                  <a:srgbClr val="5B6577"/>
                </a:solidFill>
                <a:latin typeface="Arial"/>
              </a:rPr>
              <a:t>Football-Data date/team alias matching is fixed; model and market scores use the exact same match identities.</a:t>
            </a:r>
            <a:endParaRPr lang="en-US" sz="1050" dirty="0"/>
          </a:p>
        </p:txBody>
      </p:sp>
      <p:sp>
        <p:nvSpPr>
          <p:cNvPr id="5" name="Shape 3"/>
          <p:cNvSpPr/>
          <p:nvPr/>
        </p:nvSpPr>
        <p:spPr>
          <a:xfrm>
            <a:off x="694944" y="1572768"/>
            <a:ext cx="2240280"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2.5170991131421e+131" dist="8.390330377140335e+130" dir="3.581397499475881e+154">
              <a:srgbClr val="000000">
                <a:alpha val="1.4e+159"/>
              </a:srgbClr>
            </a:outerShdw>
          </a:effectLst>
        </p:spPr>
      </p:sp>
      <p:sp>
        <p:nvSpPr>
          <p:cNvPr id="6" name="Shape 4"/>
          <p:cNvSpPr/>
          <p:nvPr/>
        </p:nvSpPr>
        <p:spPr>
          <a:xfrm>
            <a:off x="694944" y="1572768"/>
            <a:ext cx="73152" cy="960120"/>
          </a:xfrm>
          <a:prstGeom prst="rect">
            <a:avLst/>
          </a:prstGeom>
          <a:solidFill>
            <a:srgbClr val="F4B942"/>
          </a:solidFill>
          <a:ln w="12700">
            <a:solidFill>
              <a:srgbClr val="F4B942"/>
            </a:solidFill>
            <a:prstDash val="solid"/>
          </a:ln>
        </p:spPr>
      </p:sp>
      <p:sp>
        <p:nvSpPr>
          <p:cNvPr id="7" name="Text 5"/>
          <p:cNvSpPr/>
          <p:nvPr/>
        </p:nvSpPr>
        <p:spPr>
          <a:xfrm>
            <a:off x="877824" y="1719072"/>
            <a:ext cx="1965960" cy="365760"/>
          </a:xfrm>
          <a:prstGeom prst="rect">
            <a:avLst/>
          </a:prstGeom>
          <a:noFill/>
          <a:ln/>
        </p:spPr>
        <p:txBody>
          <a:bodyPr wrap="square" lIns="0" tIns="0" rIns="0" bIns="0" rtlCol="0" anchor="ctr">
            <a:normAutofit/>
          </a:bodyPr>
          <a:lstStyle/>
          <a:p>
            <a:pPr algn="ctr" indent="0" marL="0">
              <a:buNone/>
            </a:pPr>
            <a:r>
              <a:rPr sz="2300" b="1">
                <a:solidFill>
                  <a:srgbClr val="0B1220"/>
                </a:solidFill>
                <a:latin typeface="Arial"/>
              </a:rPr>
              <a:t>111/111</a:t>
            </a:r>
            <a:endParaRPr lang="en-US" sz="2300" dirty="0"/>
          </a:p>
        </p:txBody>
      </p:sp>
      <p:sp>
        <p:nvSpPr>
          <p:cNvPr id="8" name="Text 6"/>
          <p:cNvSpPr/>
          <p:nvPr/>
        </p:nvSpPr>
        <p:spPr>
          <a:xfrm>
            <a:off x="841248" y="2157984"/>
            <a:ext cx="2020824" cy="182880"/>
          </a:xfrm>
          <a:prstGeom prst="rect">
            <a:avLst/>
          </a:prstGeom>
          <a:noFill/>
          <a:ln/>
        </p:spPr>
        <p:txBody>
          <a:bodyPr wrap="square" lIns="0" tIns="0" rIns="0" bIns="0" rtlCol="0" anchor="ctr">
            <a:normAutofit/>
          </a:bodyPr>
          <a:lstStyle/>
          <a:p>
            <a:pPr algn="ctr" indent="0" marL="0">
              <a:buNone/>
            </a:pPr>
            <a:r>
              <a:rPr sz="850" b="1">
                <a:solidFill>
                  <a:srgbClr val="5B6577"/>
                </a:solidFill>
                <a:latin typeface="Arial"/>
              </a:rPr>
              <a:t>odds-tagged modeling rows</a:t>
            </a:r>
            <a:endParaRPr lang="en-US" sz="850" dirty="0"/>
          </a:p>
        </p:txBody>
      </p:sp>
      <p:sp>
        <p:nvSpPr>
          <p:cNvPr id="9" name="Shape 7"/>
          <p:cNvSpPr/>
          <p:nvPr/>
        </p:nvSpPr>
        <p:spPr>
          <a:xfrm>
            <a:off x="3172968" y="1572768"/>
            <a:ext cx="2240280"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3.1967158736904665e+135" dist="1.0655719578968225e+135" dir="2.1488384996855287e+159">
              <a:srgbClr val="000000">
                <a:alpha val="1.4e+164"/>
              </a:srgbClr>
            </a:outerShdw>
          </a:effectLst>
        </p:spPr>
      </p:sp>
      <p:sp>
        <p:nvSpPr>
          <p:cNvPr id="10" name="Shape 8"/>
          <p:cNvSpPr/>
          <p:nvPr/>
        </p:nvSpPr>
        <p:spPr>
          <a:xfrm>
            <a:off x="3172968" y="1572768"/>
            <a:ext cx="73152" cy="960120"/>
          </a:xfrm>
          <a:prstGeom prst="rect">
            <a:avLst/>
          </a:prstGeom>
          <a:solidFill>
            <a:srgbClr val="C94949"/>
          </a:solidFill>
          <a:ln w="12700">
            <a:solidFill>
              <a:srgbClr val="C94949"/>
            </a:solidFill>
            <a:prstDash val="solid"/>
          </a:ln>
        </p:spPr>
      </p:sp>
      <p:sp>
        <p:nvSpPr>
          <p:cNvPr id="11" name="Text 9"/>
          <p:cNvSpPr/>
          <p:nvPr/>
        </p:nvSpPr>
        <p:spPr>
          <a:xfrm>
            <a:off x="3355848" y="1719072"/>
            <a:ext cx="1965960" cy="365760"/>
          </a:xfrm>
          <a:prstGeom prst="rect">
            <a:avLst/>
          </a:prstGeom>
          <a:noFill/>
          <a:ln/>
        </p:spPr>
        <p:txBody>
          <a:bodyPr wrap="square" lIns="0" tIns="0" rIns="0" bIns="0" rtlCol="0" anchor="ctr">
            <a:normAutofit/>
          </a:bodyPr>
          <a:lstStyle/>
          <a:p>
            <a:pPr algn="ctr" indent="0" marL="0">
              <a:buNone/>
            </a:pPr>
            <a:r>
              <a:rPr sz="2300" b="1">
                <a:solidFill>
                  <a:srgbClr val="0B1220"/>
                </a:solidFill>
                <a:latin typeface="Arial"/>
              </a:rPr>
              <a:t>100%</a:t>
            </a:r>
            <a:endParaRPr lang="en-US" sz="2300" dirty="0"/>
          </a:p>
        </p:txBody>
      </p:sp>
      <p:sp>
        <p:nvSpPr>
          <p:cNvPr id="12" name="Text 10"/>
          <p:cNvSpPr/>
          <p:nvPr/>
        </p:nvSpPr>
        <p:spPr>
          <a:xfrm>
            <a:off x="3319272" y="2157984"/>
            <a:ext cx="2020824" cy="182880"/>
          </a:xfrm>
          <a:prstGeom prst="rect">
            <a:avLst/>
          </a:prstGeom>
          <a:noFill/>
          <a:ln/>
        </p:spPr>
        <p:txBody>
          <a:bodyPr wrap="square" lIns="0" tIns="0" rIns="0" bIns="0" rtlCol="0" anchor="ctr">
            <a:normAutofit/>
          </a:bodyPr>
          <a:lstStyle/>
          <a:p>
            <a:pPr algn="ctr" indent="0" marL="0">
              <a:buNone/>
            </a:pPr>
            <a:r>
              <a:rPr sz="850" b="1">
                <a:solidFill>
                  <a:srgbClr val="5B6577"/>
                </a:solidFill>
                <a:latin typeface="Arial"/>
              </a:rPr>
              <a:t>coverage across 4 seasons</a:t>
            </a:r>
            <a:endParaRPr lang="en-US" sz="850" dirty="0"/>
          </a:p>
        </p:txBody>
      </p:sp>
      <p:sp>
        <p:nvSpPr>
          <p:cNvPr id="13" name="Shape 11"/>
          <p:cNvSpPr/>
          <p:nvPr/>
        </p:nvSpPr>
        <p:spPr>
          <a:xfrm>
            <a:off x="5650992" y="1572768"/>
            <a:ext cx="2240280"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4.0598291595868927e+139" dist="1.3532763865289646e+139" dir="1.2893030998113172e+164">
              <a:srgbClr val="000000">
                <a:alpha val="1.4e+169"/>
              </a:srgbClr>
            </a:outerShdw>
          </a:effectLst>
        </p:spPr>
      </p:sp>
      <p:sp>
        <p:nvSpPr>
          <p:cNvPr id="14" name="Shape 12"/>
          <p:cNvSpPr/>
          <p:nvPr/>
        </p:nvSpPr>
        <p:spPr>
          <a:xfrm>
            <a:off x="5650992" y="1572768"/>
            <a:ext cx="73152" cy="960120"/>
          </a:xfrm>
          <a:prstGeom prst="rect">
            <a:avLst/>
          </a:prstGeom>
          <a:solidFill>
            <a:srgbClr val="C94949"/>
          </a:solidFill>
          <a:ln w="12700">
            <a:solidFill>
              <a:srgbClr val="C94949"/>
            </a:solidFill>
            <a:prstDash val="solid"/>
          </a:ln>
        </p:spPr>
      </p:sp>
      <p:sp>
        <p:nvSpPr>
          <p:cNvPr id="15" name="Text 13"/>
          <p:cNvSpPr/>
          <p:nvPr/>
        </p:nvSpPr>
        <p:spPr>
          <a:xfrm>
            <a:off x="5833872" y="1719072"/>
            <a:ext cx="1965960" cy="365760"/>
          </a:xfrm>
          <a:prstGeom prst="rect">
            <a:avLst/>
          </a:prstGeom>
          <a:noFill/>
          <a:ln/>
        </p:spPr>
        <p:txBody>
          <a:bodyPr wrap="square" lIns="0" tIns="0" rIns="0" bIns="0" rtlCol="0" anchor="ctr">
            <a:normAutofit/>
          </a:bodyPr>
          <a:lstStyle/>
          <a:p>
            <a:pPr algn="ctr" indent="0" marL="0">
              <a:buNone/>
            </a:pPr>
            <a:r>
              <a:rPr sz="2300" b="1">
                <a:solidFill>
                  <a:srgbClr val="0B1220"/>
                </a:solidFill>
                <a:latin typeface="Arial"/>
              </a:rPr>
              <a:t>33</a:t>
            </a:r>
            <a:endParaRPr lang="en-US" sz="2300" dirty="0"/>
          </a:p>
        </p:txBody>
      </p:sp>
      <p:sp>
        <p:nvSpPr>
          <p:cNvPr id="16" name="Text 14"/>
          <p:cNvSpPr/>
          <p:nvPr/>
        </p:nvSpPr>
        <p:spPr>
          <a:xfrm>
            <a:off x="5797296" y="2157984"/>
            <a:ext cx="2020824" cy="182880"/>
          </a:xfrm>
          <a:prstGeom prst="rect">
            <a:avLst/>
          </a:prstGeom>
          <a:noFill/>
          <a:ln/>
        </p:spPr>
        <p:txBody>
          <a:bodyPr wrap="square" lIns="0" tIns="0" rIns="0" bIns="0" rtlCol="0" anchor="ctr">
            <a:normAutofit/>
          </a:bodyPr>
          <a:lstStyle/>
          <a:p>
            <a:pPr algn="ctr" indent="0" marL="0">
              <a:buNone/>
            </a:pPr>
            <a:r>
              <a:rPr sz="850" b="1">
                <a:solidFill>
                  <a:srgbClr val="5B6577"/>
                </a:solidFill>
                <a:latin typeface="Arial"/>
              </a:rPr>
              <a:t>shared final-test matches</a:t>
            </a:r>
            <a:endParaRPr lang="en-US" sz="850" dirty="0"/>
          </a:p>
        </p:txBody>
      </p:sp>
      <p:sp>
        <p:nvSpPr>
          <p:cNvPr id="17" name="Shape 15"/>
          <p:cNvSpPr/>
          <p:nvPr/>
        </p:nvSpPr>
        <p:spPr>
          <a:xfrm>
            <a:off x="8129016" y="1572768"/>
            <a:ext cx="3154680"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5.1559830326753536e+143" dist="1.718661010891785e+143" dir="7.735818598867904e+168">
              <a:srgbClr val="000000">
                <a:alpha val="1.4000000000000002e+174"/>
              </a:srgbClr>
            </a:outerShdw>
          </a:effectLst>
        </p:spPr>
      </p:sp>
      <p:sp>
        <p:nvSpPr>
          <p:cNvPr id="18" name="Shape 16"/>
          <p:cNvSpPr/>
          <p:nvPr/>
        </p:nvSpPr>
        <p:spPr>
          <a:xfrm>
            <a:off x="8129016" y="1572768"/>
            <a:ext cx="73152" cy="960120"/>
          </a:xfrm>
          <a:prstGeom prst="rect">
            <a:avLst/>
          </a:prstGeom>
          <a:solidFill>
            <a:srgbClr val="C94949"/>
          </a:solidFill>
          <a:ln w="12700">
            <a:solidFill>
              <a:srgbClr val="C94949"/>
            </a:solidFill>
            <a:prstDash val="solid"/>
          </a:ln>
        </p:spPr>
      </p:sp>
      <p:sp>
        <p:nvSpPr>
          <p:cNvPr id="19" name="Text 17"/>
          <p:cNvSpPr/>
          <p:nvPr/>
        </p:nvSpPr>
        <p:spPr>
          <a:xfrm>
            <a:off x="8311896" y="1719072"/>
            <a:ext cx="2880360" cy="365760"/>
          </a:xfrm>
          <a:prstGeom prst="rect">
            <a:avLst/>
          </a:prstGeom>
          <a:noFill/>
          <a:ln/>
        </p:spPr>
        <p:txBody>
          <a:bodyPr wrap="square" lIns="0" tIns="0" rIns="0" bIns="0" rtlCol="0" anchor="ctr">
            <a:normAutofit/>
          </a:bodyPr>
          <a:lstStyle/>
          <a:p>
            <a:pPr algn="ctr" indent="0" marL="0">
              <a:buNone/>
            </a:pPr>
            <a:r>
              <a:rPr sz="2300" b="1">
                <a:solidFill>
                  <a:srgbClr val="0B1220"/>
                </a:solidFill>
                <a:latin typeface="Arial"/>
              </a:rPr>
              <a:t>−0.0116</a:t>
            </a:r>
            <a:endParaRPr lang="en-US" sz="2300" dirty="0"/>
          </a:p>
        </p:txBody>
      </p:sp>
      <p:sp>
        <p:nvSpPr>
          <p:cNvPr id="20" name="Text 18"/>
          <p:cNvSpPr/>
          <p:nvPr/>
        </p:nvSpPr>
        <p:spPr>
          <a:xfrm>
            <a:off x="8275320" y="2157984"/>
            <a:ext cx="2935224" cy="182880"/>
          </a:xfrm>
          <a:prstGeom prst="rect">
            <a:avLst/>
          </a:prstGeom>
          <a:noFill/>
          <a:ln/>
        </p:spPr>
        <p:txBody>
          <a:bodyPr wrap="square" lIns="0" tIns="0" rIns="0" bIns="0" rtlCol="0" anchor="ctr">
            <a:normAutofit/>
          </a:bodyPr>
          <a:lstStyle/>
          <a:p>
            <a:pPr algn="ctr" indent="0" marL="0">
              <a:buNone/>
            </a:pPr>
            <a:r>
              <a:rPr sz="850" b="1">
                <a:solidFill>
                  <a:srgbClr val="5B6577"/>
                </a:solidFill>
                <a:latin typeface="Arial"/>
              </a:rPr>
              <a:t>RPS delta · model − market</a:t>
            </a:r>
            <a:endParaRPr lang="en-US" sz="850" dirty="0"/>
          </a:p>
        </p:txBody>
      </p:sp>
      <p:sp>
        <p:nvSpPr>
          <p:cNvPr id="21" name="Shape 19"/>
          <p:cNvSpPr/>
          <p:nvPr/>
        </p:nvSpPr>
        <p:spPr>
          <a:xfrm>
            <a:off x="694944" y="2852928"/>
            <a:ext cx="5029200" cy="1874520"/>
          </a:xfrm>
          <a:prstGeom prst="roundRect">
            <a:avLst>
              <a:gd name="adj" fmla="val 3902"/>
            </a:avLst>
          </a:prstGeom>
          <a:solidFill>
            <a:srgbClr val="FFFFFF"/>
          </a:solidFill>
          <a:ln w="10160">
            <a:solidFill>
              <a:srgbClr val="DDE5EA"/>
            </a:solidFill>
            <a:prstDash val="solid"/>
          </a:ln>
          <a:effectLst>
            <a:outerShdw sx="100000" sy="100000" kx="0" ky="0" algn="bl" rotWithShape="0" blurRad="6.548098451497699e+147" dist="2.182699483832567e+147" dir="4.6414911593207425e+173">
              <a:srgbClr val="000000">
                <a:alpha val="1.4000000000000003e+179"/>
              </a:srgbClr>
            </a:outerShdw>
          </a:effectLst>
        </p:spPr>
      </p:sp>
      <p:sp>
        <p:nvSpPr>
          <p:cNvPr id="22" name="Shape 20"/>
          <p:cNvSpPr/>
          <p:nvPr/>
        </p:nvSpPr>
        <p:spPr>
          <a:xfrm>
            <a:off x="694944" y="2852928"/>
            <a:ext cx="73152" cy="1874520"/>
          </a:xfrm>
          <a:prstGeom prst="rect">
            <a:avLst/>
          </a:prstGeom>
          <a:solidFill>
            <a:srgbClr val="F4B942"/>
          </a:solidFill>
          <a:ln w="12700">
            <a:solidFill>
              <a:srgbClr val="F4B942"/>
            </a:solidFill>
            <a:prstDash val="solid"/>
          </a:ln>
        </p:spPr>
      </p:sp>
      <p:sp>
        <p:nvSpPr>
          <p:cNvPr id="23" name="Text 21"/>
          <p:cNvSpPr/>
          <p:nvPr/>
        </p:nvSpPr>
        <p:spPr>
          <a:xfrm>
            <a:off x="896112" y="2999232"/>
            <a:ext cx="4681728" cy="256032"/>
          </a:xfrm>
          <a:prstGeom prst="rect">
            <a:avLst/>
          </a:prstGeom>
          <a:noFill/>
          <a:ln/>
        </p:spPr>
        <p:txBody>
          <a:bodyPr wrap="square" lIns="0" tIns="0" rIns="0" bIns="0" rtlCol="0" anchor="ctr">
            <a:normAutofit/>
          </a:bodyPr>
          <a:lstStyle/>
          <a:p>
            <a:pPr indent="0" marL="0">
              <a:buNone/>
            </a:pPr>
            <a:r>
              <a:rPr sz="1150" b="1">
                <a:solidFill>
                  <a:srgbClr val="0B1220"/>
                </a:solidFill>
                <a:latin typeface="Arial"/>
              </a:rPr>
              <a:t>What is actually compared</a:t>
            </a:r>
            <a:endParaRPr lang="en-US" sz="1150" dirty="0"/>
          </a:p>
        </p:txBody>
      </p:sp>
      <p:sp>
        <p:nvSpPr>
          <p:cNvPr id="24" name="Text 22"/>
          <p:cNvSpPr/>
          <p:nvPr/>
        </p:nvSpPr>
        <p:spPr>
          <a:xfrm>
            <a:off x="896112" y="3328416"/>
            <a:ext cx="4663440" cy="1280160"/>
          </a:xfrm>
          <a:prstGeom prst="rect">
            <a:avLst/>
          </a:prstGeom>
          <a:noFill/>
          <a:ln/>
        </p:spPr>
        <p:txBody>
          <a:bodyPr wrap="square" lIns="0" tIns="0" rIns="0" bIns="0" rtlCol="0" anchor="t">
            <a:normAutofit/>
          </a:bodyPr>
          <a:lstStyle/>
          <a:p>
            <a:pPr indent="0" marL="0">
              <a:buNone/>
            </a:pPr>
            <a:r>
              <a:rPr sz="1400">
                <a:solidFill>
                  <a:srgbClr val="273142"/>
                </a:solidFill>
                <a:latin typeface="Arial"/>
              </a:rPr>
              <a:t>De-vig: q = 1/odds, then p = q / Σq.</a:t>
            </a:r>
            <a:endParaRPr lang="en-US" sz="1000" dirty="0"/>
          </a:p>
          <a:p>
            <a:r>
              <a:rPr sz="1400">
                <a:solidFill>
                  <a:srgbClr val="273142"/>
                </a:solidFill>
                <a:latin typeface="Arial"/>
              </a:rPr>
              <a:t>Coverage by season: 17/17 · 31/31 · 30/30 · 33/33.</a:t>
            </a:r>
          </a:p>
          <a:p>
            <a:r>
              <a:rPr sz="1400">
                <a:solidFill>
                  <a:srgbClr val="273142"/>
                </a:solidFill>
                <a:latin typeface="Arial"/>
              </a:rPr>
              <a:t>Odds are baseline-only — never used as model features in this experiment.</a:t>
            </a:r>
          </a:p>
        </p:txBody>
      </p:sp>
      <p:sp>
        <p:nvSpPr>
          <p:cNvPr id="25" name="Shape 23"/>
          <p:cNvSpPr/>
          <p:nvPr/>
        </p:nvSpPr>
        <p:spPr>
          <a:xfrm>
            <a:off x="5971032" y="2852928"/>
            <a:ext cx="5312664" cy="1874520"/>
          </a:xfrm>
          <a:prstGeom prst="roundRect">
            <a:avLst>
              <a:gd name="adj" fmla="val 3902"/>
            </a:avLst>
          </a:prstGeom>
          <a:solidFill>
            <a:srgbClr val="FDECEC"/>
          </a:solidFill>
          <a:ln w="10160">
            <a:solidFill>
              <a:srgbClr val="DDE5EA"/>
            </a:solidFill>
            <a:prstDash val="solid"/>
          </a:ln>
          <a:effectLst>
            <a:outerShdw sx="100000" sy="100000" kx="0" ky="0" algn="bl" rotWithShape="0" blurRad="8.316085033402077e+151" dist="2.7720283444673597e+151" dir="2.7848946955924455e+178">
              <a:srgbClr val="000000">
                <a:alpha val="1.4000000000000003e+184"/>
              </a:srgbClr>
            </a:outerShdw>
          </a:effectLst>
        </p:spPr>
      </p:sp>
      <p:sp>
        <p:nvSpPr>
          <p:cNvPr id="26" name="Shape 24"/>
          <p:cNvSpPr/>
          <p:nvPr/>
        </p:nvSpPr>
        <p:spPr>
          <a:xfrm>
            <a:off x="5971032" y="2852928"/>
            <a:ext cx="73152" cy="1874520"/>
          </a:xfrm>
          <a:prstGeom prst="rect">
            <a:avLst/>
          </a:prstGeom>
          <a:solidFill>
            <a:srgbClr val="C94949"/>
          </a:solidFill>
          <a:ln w="12700">
            <a:solidFill>
              <a:srgbClr val="C94949"/>
            </a:solidFill>
            <a:prstDash val="solid"/>
          </a:ln>
        </p:spPr>
      </p:sp>
      <p:sp>
        <p:nvSpPr>
          <p:cNvPr id="27" name="Text 25"/>
          <p:cNvSpPr/>
          <p:nvPr/>
        </p:nvSpPr>
        <p:spPr>
          <a:xfrm>
            <a:off x="6172200" y="2999232"/>
            <a:ext cx="4965192" cy="256032"/>
          </a:xfrm>
          <a:prstGeom prst="rect">
            <a:avLst/>
          </a:prstGeom>
          <a:noFill/>
          <a:ln/>
        </p:spPr>
        <p:txBody>
          <a:bodyPr wrap="square" lIns="0" tIns="0" rIns="0" bIns="0" rtlCol="0" anchor="ctr">
            <a:normAutofit/>
          </a:bodyPr>
          <a:lstStyle/>
          <a:p>
            <a:pPr indent="0" marL="0">
              <a:buNone/>
            </a:pPr>
            <a:r>
              <a:rPr sz="1150" b="1">
                <a:solidFill>
                  <a:srgbClr val="0B1220"/>
                </a:solidFill>
                <a:latin typeface="Arial"/>
              </a:rPr>
              <a:t>2020/21 · identical 33 matches</a:t>
            </a:r>
            <a:endParaRPr lang="en-US" sz="1150" dirty="0"/>
          </a:p>
        </p:txBody>
      </p:sp>
      <p:sp>
        <p:nvSpPr>
          <p:cNvPr id="28" name="Text 26"/>
          <p:cNvSpPr/>
          <p:nvPr/>
        </p:nvSpPr>
        <p:spPr>
          <a:xfrm>
            <a:off x="6172200" y="3328416"/>
            <a:ext cx="4946904" cy="1280160"/>
          </a:xfrm>
          <a:prstGeom prst="rect">
            <a:avLst/>
          </a:prstGeom>
          <a:noFill/>
          <a:ln/>
        </p:spPr>
        <p:txBody>
          <a:bodyPr wrap="square" lIns="0" tIns="0" rIns="0" bIns="0" rtlCol="0" anchor="t">
            <a:normAutofit/>
          </a:bodyPr>
          <a:lstStyle/>
          <a:p>
            <a:pPr indent="0" marL="0">
              <a:buNone/>
            </a:pPr>
            <a:r>
              <a:rPr sz="1400">
                <a:solidFill>
                  <a:srgbClr val="273142"/>
                </a:solidFill>
                <a:latin typeface="Arial"/>
              </a:rPr>
              <a:t>Logistic: RPS 0.1732 · Log Loss 0.889 · ECE 0.121 · Accuracy 63.6%</a:t>
            </a:r>
            <a:endParaRPr lang="en-US" sz="1000" dirty="0"/>
          </a:p>
          <a:p>
            <a:r>
              <a:rPr sz="1400">
                <a:solidFill>
                  <a:srgbClr val="273142"/>
                </a:solidFill>
                <a:latin typeface="Arial"/>
              </a:rPr>
              <a:t>Market:   RPS 0.1848 · Log Loss 0.913 · ECE 0.159 · Accuracy 63.6%</a:t>
            </a:r>
          </a:p>
        </p:txBody>
      </p:sp>
      <p:sp>
        <p:nvSpPr>
          <p:cNvPr id="29" name="Shape 27"/>
          <p:cNvSpPr/>
          <p:nvPr/>
        </p:nvSpPr>
        <p:spPr>
          <a:xfrm>
            <a:off x="694944" y="5047488"/>
            <a:ext cx="10588752" cy="1024128"/>
          </a:xfrm>
          <a:prstGeom prst="roundRect">
            <a:avLst>
              <a:gd name="adj" fmla="val 5357"/>
            </a:avLst>
          </a:prstGeom>
          <a:solidFill>
            <a:srgbClr val="FDECEC"/>
          </a:solidFill>
          <a:ln w="12700">
            <a:solidFill>
              <a:srgbClr val="FDECEC"/>
            </a:solidFill>
            <a:prstDash val="solid"/>
          </a:ln>
        </p:spPr>
      </p:sp>
      <p:sp>
        <p:nvSpPr>
          <p:cNvPr id="30" name="Shape 28"/>
          <p:cNvSpPr/>
          <p:nvPr/>
        </p:nvSpPr>
        <p:spPr>
          <a:xfrm>
            <a:off x="694944" y="5047488"/>
            <a:ext cx="91440" cy="1024128"/>
          </a:xfrm>
          <a:prstGeom prst="rect">
            <a:avLst/>
          </a:prstGeom>
          <a:solidFill>
            <a:srgbClr val="C94949"/>
          </a:solidFill>
          <a:ln w="12700">
            <a:solidFill>
              <a:srgbClr val="C94949"/>
            </a:solidFill>
            <a:prstDash val="solid"/>
          </a:ln>
        </p:spPr>
      </p:sp>
      <p:sp>
        <p:nvSpPr>
          <p:cNvPr id="31" name="Text 29"/>
          <p:cNvSpPr/>
          <p:nvPr/>
        </p:nvSpPr>
        <p:spPr>
          <a:xfrm>
            <a:off x="914400" y="5166360"/>
            <a:ext cx="10222992" cy="219456"/>
          </a:xfrm>
          <a:prstGeom prst="rect">
            <a:avLst/>
          </a:prstGeom>
          <a:noFill/>
          <a:ln/>
        </p:spPr>
        <p:txBody>
          <a:bodyPr wrap="square" lIns="0" tIns="0" rIns="0" bIns="0" rtlCol="0" anchor="ctr">
            <a:normAutofit/>
          </a:bodyPr>
          <a:lstStyle/>
          <a:p>
            <a:pPr indent="0" marL="0">
              <a:buNone/>
            </a:pPr>
            <a:r>
              <a:rPr sz="1050" b="1">
                <a:solidFill>
                  <a:srgbClr val="0B1220"/>
                </a:solidFill>
                <a:latin typeface="Arial"/>
              </a:rPr>
              <a:t>Defense-safe wording</a:t>
            </a:r>
            <a:endParaRPr lang="en-US" sz="1050" dirty="0"/>
          </a:p>
        </p:txBody>
      </p:sp>
      <p:sp>
        <p:nvSpPr>
          <p:cNvPr id="32" name="Text 30"/>
          <p:cNvSpPr/>
          <p:nvPr/>
        </p:nvSpPr>
        <p:spPr>
          <a:xfrm>
            <a:off x="914400" y="5440680"/>
            <a:ext cx="10204704" cy="530352"/>
          </a:xfrm>
          <a:prstGeom prst="rect">
            <a:avLst/>
          </a:prstGeom>
          <a:noFill/>
          <a:ln/>
        </p:spPr>
        <p:txBody>
          <a:bodyPr wrap="square" lIns="0" tIns="0" rIns="0" bIns="0" rtlCol="0" anchor="ctr">
            <a:normAutofit/>
          </a:bodyPr>
          <a:lstStyle/>
          <a:p>
            <a:pPr indent="0" marL="0">
              <a:buNone/>
            </a:pPr>
            <a:r>
              <a:rPr sz="1400">
                <a:solidFill>
                  <a:srgbClr val="273142"/>
                </a:solidFill>
                <a:latin typeface="Arial"/>
              </a:rPr>
              <a:t>“On this 33-match Barcelona-centered test, our RPS is 0.0116 lower than the de-vigged market (≈6.3%). That is one small held-out subset, not a universal market-beating claim.”</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06 · VALIDATION</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sz="2500" b="1">
                <a:solidFill>
                  <a:srgbClr val="0B1220"/>
                </a:solidFill>
                <a:latin typeface="Arial"/>
              </a:rPr>
              <a:t>Validation: predict → observe → update</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sz="1400">
                <a:solidFill>
                  <a:srgbClr val="5B6577"/>
                </a:solidFill>
                <a:latin typeface="Arial"/>
              </a:rPr>
              <a:t>Model/feature choices use earlier future-season folds; final 2020/21 is scored game-by-game with no future labels.</a:t>
            </a:r>
            <a:endParaRPr lang="en-US" sz="1050" dirty="0"/>
          </a:p>
        </p:txBody>
      </p:sp>
      <p:sp>
        <p:nvSpPr>
          <p:cNvPr id="5" name="Shape 3"/>
          <p:cNvSpPr/>
          <p:nvPr/>
        </p:nvSpPr>
        <p:spPr>
          <a:xfrm>
            <a:off x="713232" y="1691640"/>
            <a:ext cx="2907792" cy="841248"/>
          </a:xfrm>
          <a:prstGeom prst="roundRect">
            <a:avLst>
              <a:gd name="adj" fmla="val 8696"/>
            </a:avLst>
          </a:prstGeom>
          <a:solidFill>
            <a:srgbClr val="FFFFFF"/>
          </a:solidFill>
          <a:ln w="10160">
            <a:solidFill>
              <a:srgbClr val="DDE5EA"/>
            </a:solidFill>
            <a:prstDash val="solid"/>
          </a:ln>
          <a:effectLst>
            <a:outerShdw sx="100000" sy="100000" kx="0" ky="0" algn="bl" rotWithShape="0" blurRad="1.0561427992420638e+156" dist="3.5204759974735466e+155" dir="1.6709368173554673e+183">
              <a:srgbClr val="000000">
                <a:alpha val="1.4000000000000003e+189"/>
              </a:srgbClr>
            </a:outerShdw>
          </a:effectLst>
        </p:spPr>
      </p:sp>
      <p:sp>
        <p:nvSpPr>
          <p:cNvPr id="6" name="Shape 4"/>
          <p:cNvSpPr/>
          <p:nvPr/>
        </p:nvSpPr>
        <p:spPr>
          <a:xfrm>
            <a:off x="713232" y="1691640"/>
            <a:ext cx="73152" cy="841248"/>
          </a:xfrm>
          <a:prstGeom prst="rect">
            <a:avLst/>
          </a:prstGeom>
          <a:solidFill>
            <a:srgbClr val="0B8F6A"/>
          </a:solidFill>
          <a:ln w="12700">
            <a:solidFill>
              <a:srgbClr val="0B8F6A"/>
            </a:solidFill>
            <a:prstDash val="solid"/>
          </a:ln>
        </p:spPr>
      </p:sp>
      <p:sp>
        <p:nvSpPr>
          <p:cNvPr id="7" name="Text 5"/>
          <p:cNvSpPr/>
          <p:nvPr/>
        </p:nvSpPr>
        <p:spPr>
          <a:xfrm>
            <a:off x="914400" y="1837944"/>
            <a:ext cx="2560320" cy="256032"/>
          </a:xfrm>
          <a:prstGeom prst="rect">
            <a:avLst/>
          </a:prstGeom>
          <a:noFill/>
          <a:ln/>
        </p:spPr>
        <p:txBody>
          <a:bodyPr wrap="square" lIns="0" tIns="0" rIns="0" bIns="0" rtlCol="0" anchor="ctr">
            <a:normAutofit/>
          </a:bodyPr>
          <a:lstStyle/>
          <a:p>
            <a:pPr indent="0" marL="0">
              <a:buNone/>
            </a:pPr>
            <a:r>
              <a:rPr sz="1000" b="1">
                <a:solidFill>
                  <a:srgbClr val="0B1220"/>
                </a:solidFill>
                <a:latin typeface="Arial"/>
              </a:rPr>
              <a:t>DEVELOPMENT FOLD 1</a:t>
            </a:r>
            <a:endParaRPr lang="en-US" sz="1000" dirty="0"/>
          </a:p>
        </p:txBody>
      </p:sp>
      <p:sp>
        <p:nvSpPr>
          <p:cNvPr id="8" name="Text 6"/>
          <p:cNvSpPr/>
          <p:nvPr/>
        </p:nvSpPr>
        <p:spPr>
          <a:xfrm>
            <a:off x="914400" y="2167128"/>
            <a:ext cx="2542032" cy="246888"/>
          </a:xfrm>
          <a:prstGeom prst="rect">
            <a:avLst/>
          </a:prstGeom>
          <a:noFill/>
          <a:ln/>
        </p:spPr>
        <p:txBody>
          <a:bodyPr wrap="square" lIns="0" tIns="0" rIns="0" bIns="0" rtlCol="0" anchor="t">
            <a:normAutofit/>
          </a:bodyPr>
          <a:lstStyle/>
          <a:p>
            <a:pPr indent="0" marL="0">
              <a:buNone/>
            </a:pPr>
            <a:r>
              <a:rPr sz="900">
                <a:solidFill>
                  <a:srgbClr val="273142"/>
                </a:solidFill>
                <a:latin typeface="Arial"/>
              </a:rPr>
              <a:t>2017/18 → validate 2018/19</a:t>
            </a:r>
            <a:endParaRPr lang="en-US" sz="900" dirty="0"/>
          </a:p>
        </p:txBody>
      </p:sp>
      <p:sp>
        <p:nvSpPr>
          <p:cNvPr id="9" name="Shape 7"/>
          <p:cNvSpPr/>
          <p:nvPr/>
        </p:nvSpPr>
        <p:spPr>
          <a:xfrm>
            <a:off x="3730752" y="2103120"/>
            <a:ext cx="886968" cy="0"/>
          </a:xfrm>
          <a:prstGeom prst="line">
            <a:avLst/>
          </a:prstGeom>
          <a:noFill/>
          <a:ln w="19050">
            <a:solidFill>
              <a:srgbClr val="5B6577"/>
            </a:solidFill>
            <a:prstDash val="solid"/>
            <a:headEnd type="none"/>
            <a:tailEnd type="triangle"/>
          </a:ln>
        </p:spPr>
      </p:sp>
      <p:sp>
        <p:nvSpPr>
          <p:cNvPr id="10" name="Shape 8"/>
          <p:cNvSpPr/>
          <p:nvPr/>
        </p:nvSpPr>
        <p:spPr>
          <a:xfrm>
            <a:off x="4754880" y="1691640"/>
            <a:ext cx="2907792" cy="841248"/>
          </a:xfrm>
          <a:prstGeom prst="roundRect">
            <a:avLst>
              <a:gd name="adj" fmla="val 8696"/>
            </a:avLst>
          </a:prstGeom>
          <a:solidFill>
            <a:srgbClr val="FFF5D8"/>
          </a:solidFill>
          <a:ln w="10160">
            <a:solidFill>
              <a:srgbClr val="DDE5EA"/>
            </a:solidFill>
            <a:prstDash val="solid"/>
          </a:ln>
          <a:effectLst>
            <a:outerShdw sx="100000" sy="100000" kx="0" ky="0" algn="bl" rotWithShape="0" blurRad="1.341301355037421e+160" dist="4.471004516791404e+159" dir="1.0025620904132804e+188">
              <a:srgbClr val="000000">
                <a:alpha val="1.4000000000000002e+194"/>
              </a:srgbClr>
            </a:outerShdw>
          </a:effectLst>
        </p:spPr>
      </p:sp>
      <p:sp>
        <p:nvSpPr>
          <p:cNvPr id="11" name="Shape 9"/>
          <p:cNvSpPr/>
          <p:nvPr/>
        </p:nvSpPr>
        <p:spPr>
          <a:xfrm>
            <a:off x="4754880" y="1691640"/>
            <a:ext cx="73152" cy="841248"/>
          </a:xfrm>
          <a:prstGeom prst="rect">
            <a:avLst/>
          </a:prstGeom>
          <a:solidFill>
            <a:srgbClr val="F4B942"/>
          </a:solidFill>
          <a:ln w="12700">
            <a:solidFill>
              <a:srgbClr val="F4B942"/>
            </a:solidFill>
            <a:prstDash val="solid"/>
          </a:ln>
        </p:spPr>
      </p:sp>
      <p:sp>
        <p:nvSpPr>
          <p:cNvPr id="12" name="Text 10"/>
          <p:cNvSpPr/>
          <p:nvPr/>
        </p:nvSpPr>
        <p:spPr>
          <a:xfrm>
            <a:off x="4956048" y="1837944"/>
            <a:ext cx="2560320" cy="256032"/>
          </a:xfrm>
          <a:prstGeom prst="rect">
            <a:avLst/>
          </a:prstGeom>
          <a:noFill/>
          <a:ln/>
        </p:spPr>
        <p:txBody>
          <a:bodyPr wrap="square" lIns="0" tIns="0" rIns="0" bIns="0" rtlCol="0" anchor="ctr">
            <a:normAutofit/>
          </a:bodyPr>
          <a:lstStyle/>
          <a:p>
            <a:pPr indent="0" marL="0">
              <a:buNone/>
            </a:pPr>
            <a:r>
              <a:rPr sz="1000" b="1">
                <a:solidFill>
                  <a:srgbClr val="0B1220"/>
                </a:solidFill>
                <a:latin typeface="Arial"/>
              </a:rPr>
              <a:t>FUTURE VALIDATION</a:t>
            </a:r>
            <a:endParaRPr lang="en-US" sz="1000" dirty="0"/>
          </a:p>
        </p:txBody>
      </p:sp>
      <p:sp>
        <p:nvSpPr>
          <p:cNvPr id="13" name="Text 11"/>
          <p:cNvSpPr/>
          <p:nvPr/>
        </p:nvSpPr>
        <p:spPr>
          <a:xfrm>
            <a:off x="4956048" y="2167128"/>
            <a:ext cx="2542032" cy="246888"/>
          </a:xfrm>
          <a:prstGeom prst="rect">
            <a:avLst/>
          </a:prstGeom>
          <a:noFill/>
          <a:ln/>
        </p:spPr>
        <p:txBody>
          <a:bodyPr wrap="square" lIns="0" tIns="0" rIns="0" bIns="0" rtlCol="0" anchor="t">
            <a:normAutofit/>
          </a:bodyPr>
          <a:lstStyle/>
          <a:p>
            <a:pPr indent="0" marL="0">
              <a:buNone/>
            </a:pPr>
            <a:r>
              <a:rPr sz="900">
                <a:solidFill>
                  <a:srgbClr val="273142"/>
                </a:solidFill>
                <a:latin typeface="Arial"/>
              </a:rPr>
              <a:t>31 matches · model selection only</a:t>
            </a:r>
            <a:endParaRPr lang="en-US" sz="900" dirty="0"/>
          </a:p>
        </p:txBody>
      </p:sp>
      <p:sp>
        <p:nvSpPr>
          <p:cNvPr id="14" name="Shape 12"/>
          <p:cNvSpPr/>
          <p:nvPr/>
        </p:nvSpPr>
        <p:spPr>
          <a:xfrm>
            <a:off x="713232" y="2880360"/>
            <a:ext cx="2907792" cy="841248"/>
          </a:xfrm>
          <a:prstGeom prst="roundRect">
            <a:avLst>
              <a:gd name="adj" fmla="val 8696"/>
            </a:avLst>
          </a:prstGeom>
          <a:solidFill>
            <a:srgbClr val="FFFFFF"/>
          </a:solidFill>
          <a:ln w="10160">
            <a:solidFill>
              <a:srgbClr val="DDE5EA"/>
            </a:solidFill>
            <a:prstDash val="solid"/>
          </a:ln>
          <a:effectLst>
            <a:outerShdw sx="100000" sy="100000" kx="0" ky="0" algn="bl" rotWithShape="0" blurRad="1.7034527208975248e+164" dist="5.6781757363250835e+163" dir="6.015372542479682e+192">
              <a:srgbClr val="000000">
                <a:alpha val="1.4000000000000003e+199"/>
              </a:srgbClr>
            </a:outerShdw>
          </a:effectLst>
        </p:spPr>
      </p:sp>
      <p:sp>
        <p:nvSpPr>
          <p:cNvPr id="15" name="Shape 13"/>
          <p:cNvSpPr/>
          <p:nvPr/>
        </p:nvSpPr>
        <p:spPr>
          <a:xfrm>
            <a:off x="713232" y="2880360"/>
            <a:ext cx="73152" cy="841248"/>
          </a:xfrm>
          <a:prstGeom prst="rect">
            <a:avLst/>
          </a:prstGeom>
          <a:solidFill>
            <a:srgbClr val="0B8F6A"/>
          </a:solidFill>
          <a:ln w="12700">
            <a:solidFill>
              <a:srgbClr val="0B8F6A"/>
            </a:solidFill>
            <a:prstDash val="solid"/>
          </a:ln>
        </p:spPr>
      </p:sp>
      <p:sp>
        <p:nvSpPr>
          <p:cNvPr id="16" name="Text 14"/>
          <p:cNvSpPr/>
          <p:nvPr/>
        </p:nvSpPr>
        <p:spPr>
          <a:xfrm>
            <a:off x="914400" y="3026664"/>
            <a:ext cx="2560320" cy="256032"/>
          </a:xfrm>
          <a:prstGeom prst="rect">
            <a:avLst/>
          </a:prstGeom>
          <a:noFill/>
          <a:ln/>
        </p:spPr>
        <p:txBody>
          <a:bodyPr wrap="square" lIns="0" tIns="0" rIns="0" bIns="0" rtlCol="0" anchor="ctr">
            <a:normAutofit/>
          </a:bodyPr>
          <a:lstStyle/>
          <a:p>
            <a:pPr indent="0" marL="0">
              <a:buNone/>
            </a:pPr>
            <a:r>
              <a:rPr sz="1000" b="1">
                <a:solidFill>
                  <a:srgbClr val="0B1220"/>
                </a:solidFill>
                <a:latin typeface="Arial"/>
              </a:rPr>
              <a:t>DEVELOPMENT FOLD 2</a:t>
            </a:r>
            <a:endParaRPr lang="en-US" sz="1000" dirty="0"/>
          </a:p>
        </p:txBody>
      </p:sp>
      <p:sp>
        <p:nvSpPr>
          <p:cNvPr id="17" name="Text 15"/>
          <p:cNvSpPr/>
          <p:nvPr/>
        </p:nvSpPr>
        <p:spPr>
          <a:xfrm>
            <a:off x="914400" y="3355848"/>
            <a:ext cx="2542032" cy="246888"/>
          </a:xfrm>
          <a:prstGeom prst="rect">
            <a:avLst/>
          </a:prstGeom>
          <a:noFill/>
          <a:ln/>
        </p:spPr>
        <p:txBody>
          <a:bodyPr wrap="square" lIns="0" tIns="0" rIns="0" bIns="0" rtlCol="0" anchor="t">
            <a:normAutofit/>
          </a:bodyPr>
          <a:lstStyle/>
          <a:p>
            <a:pPr indent="0" marL="0">
              <a:buNone/>
            </a:pPr>
            <a:r>
              <a:rPr sz="900">
                <a:solidFill>
                  <a:srgbClr val="273142"/>
                </a:solidFill>
                <a:latin typeface="Arial"/>
              </a:rPr>
              <a:t>2017/18 + 2018/19 → validate 2019/20</a:t>
            </a:r>
            <a:endParaRPr lang="en-US" sz="900" dirty="0"/>
          </a:p>
        </p:txBody>
      </p:sp>
      <p:sp>
        <p:nvSpPr>
          <p:cNvPr id="18" name="Shape 16"/>
          <p:cNvSpPr/>
          <p:nvPr/>
        </p:nvSpPr>
        <p:spPr>
          <a:xfrm>
            <a:off x="3730752" y="3291840"/>
            <a:ext cx="886968" cy="0"/>
          </a:xfrm>
          <a:prstGeom prst="line">
            <a:avLst/>
          </a:prstGeom>
          <a:noFill/>
          <a:ln w="19050">
            <a:solidFill>
              <a:srgbClr val="5B6577"/>
            </a:solidFill>
            <a:prstDash val="solid"/>
            <a:headEnd type="none"/>
            <a:tailEnd type="triangle"/>
          </a:ln>
        </p:spPr>
      </p:sp>
      <p:sp>
        <p:nvSpPr>
          <p:cNvPr id="19" name="Shape 17"/>
          <p:cNvSpPr/>
          <p:nvPr/>
        </p:nvSpPr>
        <p:spPr>
          <a:xfrm>
            <a:off x="4754880" y="2880360"/>
            <a:ext cx="2907792" cy="841248"/>
          </a:xfrm>
          <a:prstGeom prst="roundRect">
            <a:avLst>
              <a:gd name="adj" fmla="val 8696"/>
            </a:avLst>
          </a:prstGeom>
          <a:solidFill>
            <a:srgbClr val="FFF5D8"/>
          </a:solidFill>
          <a:ln w="10160">
            <a:solidFill>
              <a:srgbClr val="DDE5EA"/>
            </a:solidFill>
            <a:prstDash val="solid"/>
          </a:ln>
          <a:effectLst>
            <a:outerShdw sx="100000" sy="100000" kx="0" ky="0" algn="bl" rotWithShape="0" blurRad="2.1633849555398564e+168" dist="7.211283185132856e+167" dir="3.6092235254878095e+197">
              <a:srgbClr val="000000">
                <a:alpha val="1.4000000000000004e+204"/>
              </a:srgbClr>
            </a:outerShdw>
          </a:effectLst>
        </p:spPr>
      </p:sp>
      <p:sp>
        <p:nvSpPr>
          <p:cNvPr id="20" name="Shape 18"/>
          <p:cNvSpPr/>
          <p:nvPr/>
        </p:nvSpPr>
        <p:spPr>
          <a:xfrm>
            <a:off x="4754880" y="2880360"/>
            <a:ext cx="73152" cy="841248"/>
          </a:xfrm>
          <a:prstGeom prst="rect">
            <a:avLst/>
          </a:prstGeom>
          <a:solidFill>
            <a:srgbClr val="F4B942"/>
          </a:solidFill>
          <a:ln w="12700">
            <a:solidFill>
              <a:srgbClr val="F4B942"/>
            </a:solidFill>
            <a:prstDash val="solid"/>
          </a:ln>
        </p:spPr>
      </p:sp>
      <p:sp>
        <p:nvSpPr>
          <p:cNvPr id="21" name="Text 19"/>
          <p:cNvSpPr/>
          <p:nvPr/>
        </p:nvSpPr>
        <p:spPr>
          <a:xfrm>
            <a:off x="4956048" y="3026664"/>
            <a:ext cx="2560320" cy="256032"/>
          </a:xfrm>
          <a:prstGeom prst="rect">
            <a:avLst/>
          </a:prstGeom>
          <a:noFill/>
          <a:ln/>
        </p:spPr>
        <p:txBody>
          <a:bodyPr wrap="square" lIns="0" tIns="0" rIns="0" bIns="0" rtlCol="0" anchor="ctr">
            <a:normAutofit/>
          </a:bodyPr>
          <a:lstStyle/>
          <a:p>
            <a:pPr indent="0" marL="0">
              <a:buNone/>
            </a:pPr>
            <a:r>
              <a:rPr sz="1000" b="1">
                <a:solidFill>
                  <a:srgbClr val="0B1220"/>
                </a:solidFill>
                <a:latin typeface="Arial"/>
              </a:rPr>
              <a:t>FUTURE VALIDATION</a:t>
            </a:r>
            <a:endParaRPr lang="en-US" sz="1000" dirty="0"/>
          </a:p>
        </p:txBody>
      </p:sp>
      <p:sp>
        <p:nvSpPr>
          <p:cNvPr id="22" name="Text 20"/>
          <p:cNvSpPr/>
          <p:nvPr/>
        </p:nvSpPr>
        <p:spPr>
          <a:xfrm>
            <a:off x="4956048" y="3355848"/>
            <a:ext cx="2542032" cy="246888"/>
          </a:xfrm>
          <a:prstGeom prst="rect">
            <a:avLst/>
          </a:prstGeom>
          <a:noFill/>
          <a:ln/>
        </p:spPr>
        <p:txBody>
          <a:bodyPr wrap="square" lIns="0" tIns="0" rIns="0" bIns="0" rtlCol="0" anchor="t">
            <a:normAutofit/>
          </a:bodyPr>
          <a:lstStyle/>
          <a:p>
            <a:pPr indent="0" marL="0">
              <a:buNone/>
            </a:pPr>
            <a:r>
              <a:rPr sz="900">
                <a:solidFill>
                  <a:srgbClr val="273142"/>
                </a:solidFill>
                <a:latin typeface="Arial"/>
              </a:rPr>
              <a:t>30 matches · cadence / ablation only</a:t>
            </a:r>
            <a:endParaRPr lang="en-US" sz="900" dirty="0"/>
          </a:p>
        </p:txBody>
      </p:sp>
      <p:sp>
        <p:nvSpPr>
          <p:cNvPr id="23" name="Shape 21"/>
          <p:cNvSpPr/>
          <p:nvPr/>
        </p:nvSpPr>
        <p:spPr>
          <a:xfrm>
            <a:off x="713232" y="4069080"/>
            <a:ext cx="2907792" cy="841248"/>
          </a:xfrm>
          <a:prstGeom prst="roundRect">
            <a:avLst>
              <a:gd name="adj" fmla="val 8696"/>
            </a:avLst>
          </a:prstGeom>
          <a:solidFill>
            <a:srgbClr val="FFFFFF"/>
          </a:solidFill>
          <a:ln w="10160">
            <a:solidFill>
              <a:srgbClr val="DDE5EA"/>
            </a:solidFill>
            <a:prstDash val="solid"/>
          </a:ln>
          <a:effectLst>
            <a:outerShdw sx="100000" sy="100000" kx="0" ky="0" algn="bl" rotWithShape="0" blurRad="2.7474988935356176e+172" dist="9.158329645118728e+171" dir="2.1655341152926858e+202">
              <a:srgbClr val="000000">
                <a:alpha val="1.4000000000000004e+209"/>
              </a:srgbClr>
            </a:outerShdw>
          </a:effectLst>
        </p:spPr>
      </p:sp>
      <p:sp>
        <p:nvSpPr>
          <p:cNvPr id="24" name="Shape 22"/>
          <p:cNvSpPr/>
          <p:nvPr/>
        </p:nvSpPr>
        <p:spPr>
          <a:xfrm>
            <a:off x="713232" y="4069080"/>
            <a:ext cx="73152" cy="841248"/>
          </a:xfrm>
          <a:prstGeom prst="rect">
            <a:avLst/>
          </a:prstGeom>
          <a:solidFill>
            <a:srgbClr val="0B8F6A"/>
          </a:solidFill>
          <a:ln w="12700">
            <a:solidFill>
              <a:srgbClr val="0B8F6A"/>
            </a:solidFill>
            <a:prstDash val="solid"/>
          </a:ln>
        </p:spPr>
      </p:sp>
      <p:sp>
        <p:nvSpPr>
          <p:cNvPr id="25" name="Text 23"/>
          <p:cNvSpPr/>
          <p:nvPr/>
        </p:nvSpPr>
        <p:spPr>
          <a:xfrm>
            <a:off x="914400" y="4215384"/>
            <a:ext cx="2560320" cy="256032"/>
          </a:xfrm>
          <a:prstGeom prst="rect">
            <a:avLst/>
          </a:prstGeom>
          <a:noFill/>
          <a:ln/>
        </p:spPr>
        <p:txBody>
          <a:bodyPr wrap="square" lIns="0" tIns="0" rIns="0" bIns="0" rtlCol="0" anchor="ctr">
            <a:normAutofit/>
          </a:bodyPr>
          <a:lstStyle/>
          <a:p>
            <a:pPr indent="0" marL="0">
              <a:buNone/>
            </a:pPr>
            <a:r>
              <a:rPr sz="1000" b="1">
                <a:solidFill>
                  <a:srgbClr val="0B1220"/>
                </a:solidFill>
                <a:latin typeface="Arial"/>
              </a:rPr>
              <a:t>FINAL INITIAL TRAIN</a:t>
            </a:r>
            <a:endParaRPr lang="en-US" sz="1000" dirty="0"/>
          </a:p>
        </p:txBody>
      </p:sp>
      <p:sp>
        <p:nvSpPr>
          <p:cNvPr id="26" name="Text 24"/>
          <p:cNvSpPr/>
          <p:nvPr/>
        </p:nvSpPr>
        <p:spPr>
          <a:xfrm>
            <a:off x="914400" y="4544568"/>
            <a:ext cx="2542032" cy="246888"/>
          </a:xfrm>
          <a:prstGeom prst="rect">
            <a:avLst/>
          </a:prstGeom>
          <a:noFill/>
          <a:ln/>
        </p:spPr>
        <p:txBody>
          <a:bodyPr wrap="square" lIns="0" tIns="0" rIns="0" bIns="0" rtlCol="0" anchor="t">
            <a:normAutofit/>
          </a:bodyPr>
          <a:lstStyle/>
          <a:p>
            <a:pPr indent="0" marL="0">
              <a:buNone/>
            </a:pPr>
            <a:r>
              <a:rPr sz="900">
                <a:solidFill>
                  <a:srgbClr val="273142"/>
                </a:solidFill>
                <a:latin typeface="Arial"/>
              </a:rPr>
              <a:t>2018/19 + 2019/20 = 61 matches</a:t>
            </a:r>
            <a:endParaRPr lang="en-US" sz="900" dirty="0"/>
          </a:p>
        </p:txBody>
      </p:sp>
      <p:sp>
        <p:nvSpPr>
          <p:cNvPr id="27" name="Shape 25"/>
          <p:cNvSpPr/>
          <p:nvPr/>
        </p:nvSpPr>
        <p:spPr>
          <a:xfrm>
            <a:off x="3730752" y="4480560"/>
            <a:ext cx="886968" cy="0"/>
          </a:xfrm>
          <a:prstGeom prst="line">
            <a:avLst/>
          </a:prstGeom>
          <a:noFill/>
          <a:ln w="19050">
            <a:solidFill>
              <a:srgbClr val="5B6577"/>
            </a:solidFill>
            <a:prstDash val="solid"/>
            <a:headEnd type="none"/>
            <a:tailEnd type="triangle"/>
          </a:ln>
        </p:spPr>
      </p:sp>
      <p:sp>
        <p:nvSpPr>
          <p:cNvPr id="28" name="Shape 26"/>
          <p:cNvSpPr/>
          <p:nvPr/>
        </p:nvSpPr>
        <p:spPr>
          <a:xfrm>
            <a:off x="4754880" y="4069080"/>
            <a:ext cx="2907792" cy="841248"/>
          </a:xfrm>
          <a:prstGeom prst="roundRect">
            <a:avLst>
              <a:gd name="adj" fmla="val 8696"/>
            </a:avLst>
          </a:prstGeom>
          <a:solidFill>
            <a:srgbClr val="FFF5D8"/>
          </a:solidFill>
          <a:ln w="10160">
            <a:solidFill>
              <a:srgbClr val="DDE5EA"/>
            </a:solidFill>
            <a:prstDash val="solid"/>
          </a:ln>
          <a:effectLst>
            <a:outerShdw sx="100000" sy="100000" kx="0" ky="0" algn="bl" rotWithShape="0" blurRad="3.489323594790234e+176" dist="1.1631078649300784e+176" dir="1.2993204691756116e+207">
              <a:srgbClr val="000000">
                <a:alpha val="1.4000000000000004e+214"/>
              </a:srgbClr>
            </a:outerShdw>
          </a:effectLst>
        </p:spPr>
      </p:sp>
      <p:sp>
        <p:nvSpPr>
          <p:cNvPr id="29" name="Shape 27"/>
          <p:cNvSpPr/>
          <p:nvPr/>
        </p:nvSpPr>
        <p:spPr>
          <a:xfrm>
            <a:off x="4754880" y="4069080"/>
            <a:ext cx="73152" cy="841248"/>
          </a:xfrm>
          <a:prstGeom prst="rect">
            <a:avLst/>
          </a:prstGeom>
          <a:solidFill>
            <a:srgbClr val="F4B942"/>
          </a:solidFill>
          <a:ln w="12700">
            <a:solidFill>
              <a:srgbClr val="F4B942"/>
            </a:solidFill>
            <a:prstDash val="solid"/>
          </a:ln>
        </p:spPr>
      </p:sp>
      <p:sp>
        <p:nvSpPr>
          <p:cNvPr id="30" name="Text 28"/>
          <p:cNvSpPr/>
          <p:nvPr/>
        </p:nvSpPr>
        <p:spPr>
          <a:xfrm>
            <a:off x="4956048" y="4215384"/>
            <a:ext cx="2560320" cy="256032"/>
          </a:xfrm>
          <a:prstGeom prst="rect">
            <a:avLst/>
          </a:prstGeom>
          <a:noFill/>
          <a:ln/>
        </p:spPr>
        <p:txBody>
          <a:bodyPr wrap="square" lIns="0" tIns="0" rIns="0" bIns="0" rtlCol="0" anchor="ctr">
            <a:normAutofit/>
          </a:bodyPr>
          <a:lstStyle/>
          <a:p>
            <a:pPr indent="0" marL="0">
              <a:buNone/>
            </a:pPr>
            <a:r>
              <a:rPr sz="1000" b="1">
                <a:solidFill>
                  <a:srgbClr val="0B1220"/>
                </a:solidFill>
                <a:latin typeface="Arial"/>
              </a:rPr>
              <a:t>2020/21 PREQUENTIAL TEST</a:t>
            </a:r>
            <a:endParaRPr lang="en-US" sz="1000" dirty="0"/>
          </a:p>
        </p:txBody>
      </p:sp>
      <p:sp>
        <p:nvSpPr>
          <p:cNvPr id="31" name="Text 29"/>
          <p:cNvSpPr/>
          <p:nvPr/>
        </p:nvSpPr>
        <p:spPr>
          <a:xfrm>
            <a:off x="4956048" y="4544568"/>
            <a:ext cx="2542032" cy="246888"/>
          </a:xfrm>
          <a:prstGeom prst="rect">
            <a:avLst/>
          </a:prstGeom>
          <a:noFill/>
          <a:ln/>
        </p:spPr>
        <p:txBody>
          <a:bodyPr wrap="square" lIns="0" tIns="0" rIns="0" bIns="0" rtlCol="0" anchor="t">
            <a:normAutofit/>
          </a:bodyPr>
          <a:lstStyle/>
          <a:p>
            <a:pPr indent="0" marL="0">
              <a:buNone/>
            </a:pPr>
            <a:r>
              <a:rPr sz="900">
                <a:solidFill>
                  <a:srgbClr val="273142"/>
                </a:solidFill>
                <a:latin typeface="Arial"/>
              </a:rPr>
              <a:t>33 predictions · refit after each FT result</a:t>
            </a:r>
            <a:endParaRPr lang="en-US" sz="900" dirty="0"/>
          </a:p>
        </p:txBody>
      </p:sp>
      <p:sp>
        <p:nvSpPr>
          <p:cNvPr id="32" name="Shape 30"/>
          <p:cNvSpPr/>
          <p:nvPr/>
        </p:nvSpPr>
        <p:spPr>
          <a:xfrm>
            <a:off x="8046720" y="1691640"/>
            <a:ext cx="3246120" cy="1097280"/>
          </a:xfrm>
          <a:prstGeom prst="roundRect">
            <a:avLst>
              <a:gd name="adj" fmla="val 6667"/>
            </a:avLst>
          </a:prstGeom>
          <a:solidFill>
            <a:srgbClr val="FFFFFF"/>
          </a:solidFill>
          <a:ln w="10160">
            <a:solidFill>
              <a:srgbClr val="DDE5EA"/>
            </a:solidFill>
            <a:prstDash val="solid"/>
          </a:ln>
          <a:effectLst>
            <a:outerShdw sx="100000" sy="100000" kx="0" ky="0" algn="bl" rotWithShape="0" blurRad="4.431440965383597e+180" dist="1.4771469884611996e+180" dir="7.795922815053669e+211">
              <a:srgbClr val="000000">
                <a:alpha val="1.4000000000000004e+219"/>
              </a:srgbClr>
            </a:outerShdw>
          </a:effectLst>
        </p:spPr>
      </p:sp>
      <p:sp>
        <p:nvSpPr>
          <p:cNvPr id="33" name="Shape 31"/>
          <p:cNvSpPr/>
          <p:nvPr/>
        </p:nvSpPr>
        <p:spPr>
          <a:xfrm>
            <a:off x="8046720" y="1691640"/>
            <a:ext cx="73152" cy="1097280"/>
          </a:xfrm>
          <a:prstGeom prst="rect">
            <a:avLst/>
          </a:prstGeom>
          <a:solidFill>
            <a:srgbClr val="22B8A0"/>
          </a:solidFill>
          <a:ln w="12700">
            <a:solidFill>
              <a:srgbClr val="22B8A0"/>
            </a:solidFill>
            <a:prstDash val="solid"/>
          </a:ln>
        </p:spPr>
      </p:sp>
      <p:sp>
        <p:nvSpPr>
          <p:cNvPr id="34" name="Text 32"/>
          <p:cNvSpPr/>
          <p:nvPr/>
        </p:nvSpPr>
        <p:spPr>
          <a:xfrm>
            <a:off x="8247888" y="1837944"/>
            <a:ext cx="2898648" cy="256032"/>
          </a:xfrm>
          <a:prstGeom prst="rect">
            <a:avLst/>
          </a:prstGeom>
          <a:noFill/>
          <a:ln/>
        </p:spPr>
        <p:txBody>
          <a:bodyPr wrap="square" lIns="0" tIns="0" rIns="0" bIns="0" rtlCol="0" anchor="ctr">
            <a:normAutofit/>
          </a:bodyPr>
          <a:lstStyle/>
          <a:p>
            <a:pPr indent="0" marL="0">
              <a:buNone/>
            </a:pPr>
            <a:r>
              <a:rPr sz="1100" b="1">
                <a:solidFill>
                  <a:srgbClr val="0B1220"/>
                </a:solidFill>
                <a:latin typeface="Arial"/>
              </a:rPr>
              <a:t>Feature/model selection</a:t>
            </a:r>
            <a:endParaRPr lang="en-US" sz="1100" dirty="0"/>
          </a:p>
        </p:txBody>
      </p:sp>
      <p:sp>
        <p:nvSpPr>
          <p:cNvPr id="35" name="Text 33"/>
          <p:cNvSpPr/>
          <p:nvPr/>
        </p:nvSpPr>
        <p:spPr>
          <a:xfrm>
            <a:off x="8247888" y="2167128"/>
            <a:ext cx="2880360" cy="502920"/>
          </a:xfrm>
          <a:prstGeom prst="rect">
            <a:avLst/>
          </a:prstGeom>
          <a:noFill/>
          <a:ln/>
        </p:spPr>
        <p:txBody>
          <a:bodyPr wrap="square" lIns="0" tIns="0" rIns="0" bIns="0" rtlCol="0" anchor="t">
            <a:normAutofit/>
          </a:bodyPr>
          <a:lstStyle/>
          <a:p>
            <a:pPr indent="0" marL="0">
              <a:buNone/>
            </a:pPr>
            <a:r>
              <a:rPr sz="1350">
                <a:solidFill>
                  <a:srgbClr val="273142"/>
                </a:solidFill>
                <a:latin typeface="Arial"/>
              </a:rPr>
              <a:t>Only the two development folds decide features, learner family and calibration. 2020/21 is untouched until final scoring.</a:t>
            </a:r>
            <a:endParaRPr lang="en-US" sz="940" dirty="0"/>
          </a:p>
        </p:txBody>
      </p:sp>
      <p:sp>
        <p:nvSpPr>
          <p:cNvPr id="36" name="Shape 34"/>
          <p:cNvSpPr/>
          <p:nvPr/>
        </p:nvSpPr>
        <p:spPr>
          <a:xfrm>
            <a:off x="8046720" y="2971800"/>
            <a:ext cx="3246120" cy="1097280"/>
          </a:xfrm>
          <a:prstGeom prst="roundRect">
            <a:avLst>
              <a:gd name="adj" fmla="val 6667"/>
            </a:avLst>
          </a:prstGeom>
          <a:solidFill>
            <a:srgbClr val="FFFFFF"/>
          </a:solidFill>
          <a:ln w="10160">
            <a:solidFill>
              <a:srgbClr val="DDE5EA"/>
            </a:solidFill>
            <a:prstDash val="solid"/>
          </a:ln>
          <a:effectLst>
            <a:outerShdw sx="100000" sy="100000" kx="0" ky="0" algn="bl" rotWithShape="0" blurRad="5.627930026037168e+184" dist="1.8759766753457235e+184" dir="4.677553689032201e+216">
              <a:srgbClr val="000000">
                <a:alpha val="1.4000000000000005e+224"/>
              </a:srgbClr>
            </a:outerShdw>
          </a:effectLst>
        </p:spPr>
      </p:sp>
      <p:sp>
        <p:nvSpPr>
          <p:cNvPr id="37" name="Shape 35"/>
          <p:cNvSpPr/>
          <p:nvPr/>
        </p:nvSpPr>
        <p:spPr>
          <a:xfrm>
            <a:off x="8046720" y="2971800"/>
            <a:ext cx="73152" cy="1097280"/>
          </a:xfrm>
          <a:prstGeom prst="rect">
            <a:avLst/>
          </a:prstGeom>
          <a:solidFill>
            <a:srgbClr val="0B8F6A"/>
          </a:solidFill>
          <a:ln w="12700">
            <a:solidFill>
              <a:srgbClr val="0B8F6A"/>
            </a:solidFill>
            <a:prstDash val="solid"/>
          </a:ln>
        </p:spPr>
      </p:sp>
      <p:sp>
        <p:nvSpPr>
          <p:cNvPr id="38" name="Text 36"/>
          <p:cNvSpPr/>
          <p:nvPr/>
        </p:nvSpPr>
        <p:spPr>
          <a:xfrm>
            <a:off x="8247888" y="3118104"/>
            <a:ext cx="2898648" cy="256032"/>
          </a:xfrm>
          <a:prstGeom prst="rect">
            <a:avLst/>
          </a:prstGeom>
          <a:noFill/>
          <a:ln/>
        </p:spPr>
        <p:txBody>
          <a:bodyPr wrap="square" lIns="0" tIns="0" rIns="0" bIns="0" rtlCol="0" anchor="ctr">
            <a:normAutofit/>
          </a:bodyPr>
          <a:lstStyle/>
          <a:p>
            <a:pPr indent="0" marL="0">
              <a:buNone/>
            </a:pPr>
            <a:r>
              <a:rPr sz="1100" b="1">
                <a:solidFill>
                  <a:srgbClr val="0B1220"/>
                </a:solidFill>
                <a:latin typeface="Arial"/>
              </a:rPr>
              <a:t>Snapshot grouping</a:t>
            </a:r>
            <a:endParaRPr lang="en-US" sz="1100" dirty="0"/>
          </a:p>
        </p:txBody>
      </p:sp>
      <p:sp>
        <p:nvSpPr>
          <p:cNvPr id="39" name="Text 37"/>
          <p:cNvSpPr/>
          <p:nvPr/>
        </p:nvSpPr>
        <p:spPr>
          <a:xfrm>
            <a:off x="8247888" y="3447288"/>
            <a:ext cx="2880360" cy="502920"/>
          </a:xfrm>
          <a:prstGeom prst="rect">
            <a:avLst/>
          </a:prstGeom>
          <a:noFill/>
          <a:ln/>
        </p:spPr>
        <p:txBody>
          <a:bodyPr wrap="square" lIns="0" tIns="0" rIns="0" bIns="0" rtlCol="0" anchor="t">
            <a:normAutofit/>
          </a:bodyPr>
          <a:lstStyle/>
          <a:p>
            <a:pPr indent="0" marL="0">
              <a:buNone/>
            </a:pPr>
            <a:r>
              <a:rPr sz="1320">
                <a:solidFill>
                  <a:srgbClr val="273142"/>
                </a:solidFill>
                <a:latin typeface="Arial"/>
              </a:rPr>
              <a:t>All 18 snapshots of a match stay with the parent match. No same-match leakage across train/test; live features use events ≤ t.</a:t>
            </a:r>
            <a:endParaRPr lang="en-US" sz="920" dirty="0"/>
          </a:p>
        </p:txBody>
      </p:sp>
      <p:sp>
        <p:nvSpPr>
          <p:cNvPr id="40" name="Shape 38"/>
          <p:cNvSpPr/>
          <p:nvPr/>
        </p:nvSpPr>
        <p:spPr>
          <a:xfrm>
            <a:off x="8046720" y="4251960"/>
            <a:ext cx="3246120" cy="1097280"/>
          </a:xfrm>
          <a:prstGeom prst="roundRect">
            <a:avLst>
              <a:gd name="adj" fmla="val 6667"/>
            </a:avLst>
          </a:prstGeom>
          <a:solidFill>
            <a:srgbClr val="FFFFFF"/>
          </a:solidFill>
          <a:ln w="10160">
            <a:solidFill>
              <a:srgbClr val="DDE5EA"/>
            </a:solidFill>
            <a:prstDash val="solid"/>
          </a:ln>
          <a:effectLst>
            <a:outerShdw sx="100000" sy="100000" kx="0" ky="0" algn="bl" rotWithShape="0" blurRad="7.147471133067203e+188" dist="2.3824903776890687e+188" dir="2.806532213419321e+221">
              <a:srgbClr val="000000">
                <a:alpha val="1.4000000000000004e+229"/>
              </a:srgbClr>
            </a:outerShdw>
          </a:effectLst>
        </p:spPr>
      </p:sp>
      <p:sp>
        <p:nvSpPr>
          <p:cNvPr id="41" name="Shape 39"/>
          <p:cNvSpPr/>
          <p:nvPr/>
        </p:nvSpPr>
        <p:spPr>
          <a:xfrm>
            <a:off x="8046720" y="4251960"/>
            <a:ext cx="73152" cy="1097280"/>
          </a:xfrm>
          <a:prstGeom prst="rect">
            <a:avLst/>
          </a:prstGeom>
          <a:solidFill>
            <a:srgbClr val="F4B942"/>
          </a:solidFill>
          <a:ln w="12700">
            <a:solidFill>
              <a:srgbClr val="F4B942"/>
            </a:solidFill>
            <a:prstDash val="solid"/>
          </a:ln>
        </p:spPr>
      </p:sp>
      <p:sp>
        <p:nvSpPr>
          <p:cNvPr id="42" name="Text 40"/>
          <p:cNvSpPr/>
          <p:nvPr/>
        </p:nvSpPr>
        <p:spPr>
          <a:xfrm>
            <a:off x="8247888" y="4398264"/>
            <a:ext cx="2898648" cy="256032"/>
          </a:xfrm>
          <a:prstGeom prst="rect">
            <a:avLst/>
          </a:prstGeom>
          <a:noFill/>
          <a:ln/>
        </p:spPr>
        <p:txBody>
          <a:bodyPr wrap="square" lIns="0" tIns="0" rIns="0" bIns="0" rtlCol="0" anchor="ctr">
            <a:normAutofit/>
          </a:bodyPr>
          <a:lstStyle/>
          <a:p>
            <a:pPr indent="0" marL="0">
              <a:buNone/>
            </a:pPr>
            <a:r>
              <a:rPr sz="1100" b="1">
                <a:solidFill>
                  <a:srgbClr val="0B1220"/>
                </a:solidFill>
                <a:latin typeface="Arial"/>
              </a:rPr>
              <a:t>Cadence sensitivity · 2019/20</a:t>
            </a:r>
            <a:endParaRPr lang="en-US" sz="1100" dirty="0"/>
          </a:p>
        </p:txBody>
      </p:sp>
      <p:sp>
        <p:nvSpPr>
          <p:cNvPr id="43" name="Text 41"/>
          <p:cNvSpPr/>
          <p:nvPr/>
        </p:nvSpPr>
        <p:spPr>
          <a:xfrm>
            <a:off x="8247888" y="4727448"/>
            <a:ext cx="2880360" cy="502920"/>
          </a:xfrm>
          <a:prstGeom prst="rect">
            <a:avLst/>
          </a:prstGeom>
          <a:noFill/>
          <a:ln/>
        </p:spPr>
        <p:txBody>
          <a:bodyPr wrap="square" lIns="0" tIns="0" rIns="0" bIns="0" rtlCol="0" anchor="t">
            <a:normAutofit/>
          </a:bodyPr>
          <a:lstStyle/>
          <a:p>
            <a:pPr indent="0" marL="0">
              <a:buNone/>
            </a:pPr>
            <a:r>
              <a:rPr sz="1320">
                <a:solidFill>
                  <a:srgbClr val="273142"/>
                </a:solidFill>
                <a:latin typeface="Arial"/>
              </a:rPr>
              <a:t>RPS: every4 0.1364 · every2 0.1383 · every1 0.1391 · never 0.1413. Final protocol = every match; ECE 0.0957.</a:t>
            </a:r>
            <a:endParaRPr lang="en-US" sz="930" dirty="0"/>
          </a:p>
        </p:txBody>
      </p:sp>
      <p:sp>
        <p:nvSpPr>
          <p:cNvPr id="44" name="Shape 42"/>
          <p:cNvSpPr/>
          <p:nvPr/>
        </p:nvSpPr>
        <p:spPr>
          <a:xfrm>
            <a:off x="713232" y="5532120"/>
            <a:ext cx="10579608" cy="640080"/>
          </a:xfrm>
          <a:prstGeom prst="roundRect">
            <a:avLst>
              <a:gd name="adj" fmla="val 8571"/>
            </a:avLst>
          </a:prstGeom>
          <a:solidFill>
            <a:srgbClr val="E9F8F3"/>
          </a:solidFill>
          <a:ln w="12700">
            <a:solidFill>
              <a:srgbClr val="E9F8F3"/>
            </a:solidFill>
            <a:prstDash val="solid"/>
          </a:ln>
        </p:spPr>
      </p:sp>
      <p:sp>
        <p:nvSpPr>
          <p:cNvPr id="45" name="Shape 43"/>
          <p:cNvSpPr/>
          <p:nvPr/>
        </p:nvSpPr>
        <p:spPr>
          <a:xfrm>
            <a:off x="713232" y="5532120"/>
            <a:ext cx="91440" cy="640080"/>
          </a:xfrm>
          <a:prstGeom prst="rect">
            <a:avLst/>
          </a:prstGeom>
          <a:solidFill>
            <a:srgbClr val="0B8F6A"/>
          </a:solidFill>
          <a:ln w="12700">
            <a:solidFill>
              <a:srgbClr val="0B8F6A"/>
            </a:solidFill>
            <a:prstDash val="solid"/>
          </a:ln>
        </p:spPr>
      </p:sp>
      <p:sp>
        <p:nvSpPr>
          <p:cNvPr id="46" name="Text 44"/>
          <p:cNvSpPr/>
          <p:nvPr/>
        </p:nvSpPr>
        <p:spPr>
          <a:xfrm>
            <a:off x="932688" y="5650992"/>
            <a:ext cx="10213848" cy="219456"/>
          </a:xfrm>
          <a:prstGeom prst="rect">
            <a:avLst/>
          </a:prstGeom>
          <a:noFill/>
          <a:ln/>
        </p:spPr>
        <p:txBody>
          <a:bodyPr wrap="square" lIns="0" tIns="0" rIns="0" bIns="0" rtlCol="0" anchor="ctr">
            <a:normAutofit/>
          </a:bodyPr>
          <a:lstStyle/>
          <a:p>
            <a:pPr indent="0" marL="0">
              <a:buNone/>
            </a:pPr>
            <a:r>
              <a:rPr sz="1050" b="1">
                <a:solidFill>
                  <a:srgbClr val="0B1220"/>
                </a:solidFill>
                <a:latin typeface="Arial"/>
              </a:rPr>
              <a:t>What “average test result” means</a:t>
            </a:r>
            <a:endParaRPr lang="en-US" sz="1050" dirty="0"/>
          </a:p>
        </p:txBody>
      </p:sp>
      <p:sp>
        <p:nvSpPr>
          <p:cNvPr id="47" name="Text 45"/>
          <p:cNvSpPr/>
          <p:nvPr/>
        </p:nvSpPr>
        <p:spPr>
          <a:xfrm>
            <a:off x="932688" y="5925312"/>
            <a:ext cx="10195560" cy="146304"/>
          </a:xfrm>
          <a:prstGeom prst="rect">
            <a:avLst/>
          </a:prstGeom>
          <a:noFill/>
          <a:ln/>
        </p:spPr>
        <p:txBody>
          <a:bodyPr wrap="square" lIns="0" tIns="0" rIns="0" bIns="0" rtlCol="0" anchor="ctr">
            <a:normAutofit/>
          </a:bodyPr>
          <a:lstStyle/>
          <a:p>
            <a:pPr indent="0" marL="0">
              <a:buNone/>
            </a:pPr>
            <a:r>
              <a:rPr sz="1270">
                <a:solidFill>
                  <a:srgbClr val="273142"/>
                </a:solidFill>
                <a:latin typeface="Arial"/>
              </a:rPr>
              <a:t>Every final metric averages predictions made before each match, after updating only with results that were already known. It is not one model trained once on a whole test season.</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07 · EVALUATION</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lang="en-US" sz="2500" b="1" dirty="0">
                <a:solidFill>
                  <a:srgbClr val="0B1220"/>
                </a:solidFill>
                <a:latin typeface="Arial" pitchFamily="34" charset="0"/>
                <a:ea typeface="Arial" pitchFamily="34" charset="-122"/>
                <a:cs typeface="Arial" pitchFamily="34" charset="-120"/>
              </a:rPr>
              <a:t>How do we know the model is “good”?</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No single metric is enough for probabilistic forecasting.</a:t>
            </a:r>
            <a:endParaRPr lang="en-US" sz="1050" dirty="0"/>
          </a:p>
        </p:txBody>
      </p:sp>
      <p:sp>
        <p:nvSpPr>
          <p:cNvPr id="5" name="Shape 3"/>
          <p:cNvSpPr/>
          <p:nvPr/>
        </p:nvSpPr>
        <p:spPr>
          <a:xfrm>
            <a:off x="694944" y="1600200"/>
            <a:ext cx="3383280" cy="1115568"/>
          </a:xfrm>
          <a:prstGeom prst="roundRect">
            <a:avLst>
              <a:gd name="adj" fmla="val 6557"/>
            </a:avLst>
          </a:prstGeom>
          <a:solidFill>
            <a:srgbClr val="FFFFFF"/>
          </a:solidFill>
          <a:ln w="10160">
            <a:solidFill>
              <a:srgbClr val="DDE5EA"/>
            </a:solidFill>
            <a:prstDash val="solid"/>
          </a:ln>
          <a:effectLst>
            <a:outerShdw sx="100000" sy="100000" kx="0" ky="0" algn="bl" rotWithShape="0" blurRad="9.077288338995348e+192" dist="3.025762779665117e+192" dir="1.6839193280515925e+226">
              <a:srgbClr val="000000">
                <a:alpha val="1.4000000000000004e+234"/>
              </a:srgbClr>
            </a:outerShdw>
          </a:effectLst>
        </p:spPr>
      </p:sp>
      <p:sp>
        <p:nvSpPr>
          <p:cNvPr id="6" name="Shape 4"/>
          <p:cNvSpPr/>
          <p:nvPr/>
        </p:nvSpPr>
        <p:spPr>
          <a:xfrm>
            <a:off x="694944" y="1600200"/>
            <a:ext cx="73152" cy="1115568"/>
          </a:xfrm>
          <a:prstGeom prst="rect">
            <a:avLst/>
          </a:prstGeom>
          <a:solidFill>
            <a:srgbClr val="0B8F6A"/>
          </a:solidFill>
          <a:ln w="12700">
            <a:solidFill>
              <a:srgbClr val="0B8F6A"/>
            </a:solidFill>
            <a:prstDash val="solid"/>
          </a:ln>
        </p:spPr>
      </p:sp>
      <p:sp>
        <p:nvSpPr>
          <p:cNvPr id="7" name="Text 5"/>
          <p:cNvSpPr/>
          <p:nvPr/>
        </p:nvSpPr>
        <p:spPr>
          <a:xfrm>
            <a:off x="896112" y="1746504"/>
            <a:ext cx="3035808"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1 · Future-season performance</a:t>
            </a:r>
            <a:endParaRPr lang="en-US" sz="1100" dirty="0"/>
          </a:p>
        </p:txBody>
      </p:sp>
      <p:sp>
        <p:nvSpPr>
          <p:cNvPr id="8" name="Text 6"/>
          <p:cNvSpPr/>
          <p:nvPr/>
        </p:nvSpPr>
        <p:spPr>
          <a:xfrm>
            <a:off x="896112" y="2075688"/>
            <a:ext cx="3017520" cy="521208"/>
          </a:xfrm>
          <a:prstGeom prst="rect">
            <a:avLst/>
          </a:prstGeom>
          <a:noFill/>
          <a:ln/>
        </p:spPr>
        <p:txBody>
          <a:bodyPr wrap="square" lIns="0" tIns="0" rIns="0" bIns="0" rtlCol="0" anchor="t">
            <a:normAutofit/>
          </a:bodyPr>
          <a:lstStyle/>
          <a:p>
            <a:pPr indent="0" marL="0">
              <a:buNone/>
            </a:pPr>
            <a:r>
              <a:rPr lang="en-US" sz="960" dirty="0">
                <a:solidFill>
                  <a:srgbClr val="273142"/>
                </a:solidFill>
                <a:latin typeface="Arial" pitchFamily="34" charset="0"/>
                <a:ea typeface="Arial" pitchFamily="34" charset="-122"/>
                <a:cs typeface="Arial" pitchFamily="34" charset="-120"/>
              </a:rPr>
              <a:t>Evaluate on unseen future seasons, not a random row split.</a:t>
            </a:r>
            <a:endParaRPr lang="en-US" sz="960" dirty="0"/>
          </a:p>
        </p:txBody>
      </p:sp>
      <p:sp>
        <p:nvSpPr>
          <p:cNvPr id="9" name="Shape 7"/>
          <p:cNvSpPr/>
          <p:nvPr/>
        </p:nvSpPr>
        <p:spPr>
          <a:xfrm>
            <a:off x="4370832" y="1600200"/>
            <a:ext cx="3383280" cy="1115568"/>
          </a:xfrm>
          <a:prstGeom prst="roundRect">
            <a:avLst>
              <a:gd name="adj" fmla="val 6557"/>
            </a:avLst>
          </a:prstGeom>
          <a:solidFill>
            <a:srgbClr val="FFFFFF"/>
          </a:solidFill>
          <a:ln w="10160">
            <a:solidFill>
              <a:srgbClr val="DDE5EA"/>
            </a:solidFill>
            <a:prstDash val="solid"/>
          </a:ln>
          <a:effectLst>
            <a:outerShdw sx="100000" sy="100000" kx="0" ky="0" algn="bl" rotWithShape="0" blurRad="1.1528156190524093e+197" dist="3.842718730174699e+196" dir="1.0103515968309554e+231">
              <a:srgbClr val="000000">
                <a:alpha val="1.4000000000000005e+239"/>
              </a:srgbClr>
            </a:outerShdw>
          </a:effectLst>
        </p:spPr>
      </p:sp>
      <p:sp>
        <p:nvSpPr>
          <p:cNvPr id="10" name="Shape 8"/>
          <p:cNvSpPr/>
          <p:nvPr/>
        </p:nvSpPr>
        <p:spPr>
          <a:xfrm>
            <a:off x="4370832" y="1600200"/>
            <a:ext cx="73152" cy="1115568"/>
          </a:xfrm>
          <a:prstGeom prst="rect">
            <a:avLst/>
          </a:prstGeom>
          <a:solidFill>
            <a:srgbClr val="22B8A0"/>
          </a:solidFill>
          <a:ln w="12700">
            <a:solidFill>
              <a:srgbClr val="22B8A0"/>
            </a:solidFill>
            <a:prstDash val="solid"/>
          </a:ln>
        </p:spPr>
      </p:sp>
      <p:sp>
        <p:nvSpPr>
          <p:cNvPr id="11" name="Text 9"/>
          <p:cNvSpPr/>
          <p:nvPr/>
        </p:nvSpPr>
        <p:spPr>
          <a:xfrm>
            <a:off x="4572000" y="1746504"/>
            <a:ext cx="3035808"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2 · Proper probability scores</a:t>
            </a:r>
            <a:endParaRPr lang="en-US" sz="1100" dirty="0"/>
          </a:p>
        </p:txBody>
      </p:sp>
      <p:sp>
        <p:nvSpPr>
          <p:cNvPr id="12" name="Text 10"/>
          <p:cNvSpPr/>
          <p:nvPr/>
        </p:nvSpPr>
        <p:spPr>
          <a:xfrm>
            <a:off x="4572000" y="2075688"/>
            <a:ext cx="3017520" cy="521208"/>
          </a:xfrm>
          <a:prstGeom prst="rect">
            <a:avLst/>
          </a:prstGeom>
          <a:noFill/>
          <a:ln/>
        </p:spPr>
        <p:txBody>
          <a:bodyPr wrap="square" lIns="0" tIns="0" rIns="0" bIns="0" rtlCol="0" anchor="t">
            <a:normAutofit/>
          </a:bodyPr>
          <a:lstStyle/>
          <a:p>
            <a:pPr indent="0" marL="0">
              <a:buNone/>
            </a:pPr>
            <a:r>
              <a:rPr lang="en-US" sz="960" dirty="0">
                <a:solidFill>
                  <a:srgbClr val="273142"/>
                </a:solidFill>
                <a:latin typeface="Arial" pitchFamily="34" charset="0"/>
                <a:ea typeface="Arial" pitchFamily="34" charset="-122"/>
                <a:cs typeface="Arial" pitchFamily="34" charset="-120"/>
              </a:rPr>
              <a:t>RPS, Log Loss and Brier penalize overconfident wrong probabilities.</a:t>
            </a:r>
            <a:endParaRPr lang="en-US" sz="960" dirty="0"/>
          </a:p>
        </p:txBody>
      </p:sp>
      <p:sp>
        <p:nvSpPr>
          <p:cNvPr id="13" name="Shape 11"/>
          <p:cNvSpPr/>
          <p:nvPr/>
        </p:nvSpPr>
        <p:spPr>
          <a:xfrm>
            <a:off x="8046720" y="1600200"/>
            <a:ext cx="3383280" cy="1115568"/>
          </a:xfrm>
          <a:prstGeom prst="roundRect">
            <a:avLst>
              <a:gd name="adj" fmla="val 6557"/>
            </a:avLst>
          </a:prstGeom>
          <a:solidFill>
            <a:srgbClr val="FFFFFF"/>
          </a:solidFill>
          <a:ln w="10160">
            <a:solidFill>
              <a:srgbClr val="DDE5EA"/>
            </a:solidFill>
            <a:prstDash val="solid"/>
          </a:ln>
          <a:effectLst>
            <a:outerShdw sx="100000" sy="100000" kx="0" ky="0" algn="bl" rotWithShape="0" blurRad="1.4640758361965598e+201" dist="4.8802527873218674e+200" dir="6.062109580985733e+235">
              <a:srgbClr val="000000">
                <a:alpha val="1.4000000000000006e+244"/>
              </a:srgbClr>
            </a:outerShdw>
          </a:effectLst>
        </p:spPr>
      </p:sp>
      <p:sp>
        <p:nvSpPr>
          <p:cNvPr id="14" name="Shape 12"/>
          <p:cNvSpPr/>
          <p:nvPr/>
        </p:nvSpPr>
        <p:spPr>
          <a:xfrm>
            <a:off x="8046720" y="1600200"/>
            <a:ext cx="73152" cy="1115568"/>
          </a:xfrm>
          <a:prstGeom prst="rect">
            <a:avLst/>
          </a:prstGeom>
          <a:solidFill>
            <a:srgbClr val="F4B942"/>
          </a:solidFill>
          <a:ln w="12700">
            <a:solidFill>
              <a:srgbClr val="F4B942"/>
            </a:solidFill>
            <a:prstDash val="solid"/>
          </a:ln>
        </p:spPr>
      </p:sp>
      <p:sp>
        <p:nvSpPr>
          <p:cNvPr id="15" name="Text 13"/>
          <p:cNvSpPr/>
          <p:nvPr/>
        </p:nvSpPr>
        <p:spPr>
          <a:xfrm>
            <a:off x="8247888" y="1746504"/>
            <a:ext cx="3035808"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3 · Calibration</a:t>
            </a:r>
            <a:endParaRPr lang="en-US" sz="1100" dirty="0"/>
          </a:p>
        </p:txBody>
      </p:sp>
      <p:sp>
        <p:nvSpPr>
          <p:cNvPr id="16" name="Text 14"/>
          <p:cNvSpPr/>
          <p:nvPr/>
        </p:nvSpPr>
        <p:spPr>
          <a:xfrm>
            <a:off x="8247888" y="2075688"/>
            <a:ext cx="3017520" cy="521208"/>
          </a:xfrm>
          <a:prstGeom prst="rect">
            <a:avLst/>
          </a:prstGeom>
          <a:noFill/>
          <a:ln/>
        </p:spPr>
        <p:txBody>
          <a:bodyPr wrap="square" lIns="0" tIns="0" rIns="0" bIns="0" rtlCol="0" anchor="t">
            <a:normAutofit/>
          </a:bodyPr>
          <a:lstStyle/>
          <a:p>
            <a:pPr indent="0" marL="0">
              <a:buNone/>
            </a:pPr>
            <a:r>
              <a:rPr lang="en-US" sz="940" dirty="0">
                <a:solidFill>
                  <a:srgbClr val="273142"/>
                </a:solidFill>
                <a:latin typeface="Arial" pitchFamily="34" charset="0"/>
                <a:ea typeface="Arial" pitchFamily="34" charset="-122"/>
                <a:cs typeface="Arial" pitchFamily="34" charset="-120"/>
              </a:rPr>
              <a:t>ECE + reliability diagrams check whether 70% predictions occur about 70% of the time.</a:t>
            </a:r>
            <a:endParaRPr lang="en-US" sz="940" dirty="0"/>
          </a:p>
        </p:txBody>
      </p:sp>
      <p:sp>
        <p:nvSpPr>
          <p:cNvPr id="17" name="Shape 15"/>
          <p:cNvSpPr/>
          <p:nvPr/>
        </p:nvSpPr>
        <p:spPr>
          <a:xfrm>
            <a:off x="694944" y="2971800"/>
            <a:ext cx="3383280" cy="1115568"/>
          </a:xfrm>
          <a:prstGeom prst="roundRect">
            <a:avLst>
              <a:gd name="adj" fmla="val 6557"/>
            </a:avLst>
          </a:prstGeom>
          <a:solidFill>
            <a:srgbClr val="FFFFFF"/>
          </a:solidFill>
          <a:ln w="10160">
            <a:solidFill>
              <a:srgbClr val="DDE5EA"/>
            </a:solidFill>
            <a:prstDash val="solid"/>
          </a:ln>
          <a:effectLst>
            <a:outerShdw sx="100000" sy="100000" kx="0" ky="0" algn="bl" rotWithShape="0" blurRad="1.859376311969631e+205" dist="6.197921039898771e+204" dir="3.63726574859144e+240">
              <a:srgbClr val="000000">
                <a:alpha val="1.4000000000000005e+249"/>
              </a:srgbClr>
            </a:outerShdw>
          </a:effectLst>
        </p:spPr>
      </p:sp>
      <p:sp>
        <p:nvSpPr>
          <p:cNvPr id="18" name="Shape 16"/>
          <p:cNvSpPr/>
          <p:nvPr/>
        </p:nvSpPr>
        <p:spPr>
          <a:xfrm>
            <a:off x="694944" y="2971800"/>
            <a:ext cx="73152" cy="1115568"/>
          </a:xfrm>
          <a:prstGeom prst="rect">
            <a:avLst/>
          </a:prstGeom>
          <a:solidFill>
            <a:srgbClr val="22B8A0"/>
          </a:solidFill>
          <a:ln w="12700">
            <a:solidFill>
              <a:srgbClr val="22B8A0"/>
            </a:solidFill>
            <a:prstDash val="solid"/>
          </a:ln>
        </p:spPr>
      </p:sp>
      <p:sp>
        <p:nvSpPr>
          <p:cNvPr id="19" name="Text 17"/>
          <p:cNvSpPr/>
          <p:nvPr/>
        </p:nvSpPr>
        <p:spPr>
          <a:xfrm>
            <a:off x="896112" y="3118104"/>
            <a:ext cx="3035808"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4 · Class-aware metrics</a:t>
            </a:r>
            <a:endParaRPr lang="en-US" sz="1100" dirty="0"/>
          </a:p>
        </p:txBody>
      </p:sp>
      <p:sp>
        <p:nvSpPr>
          <p:cNvPr id="20" name="Text 18"/>
          <p:cNvSpPr/>
          <p:nvPr/>
        </p:nvSpPr>
        <p:spPr>
          <a:xfrm>
            <a:off x="896112" y="3447288"/>
            <a:ext cx="3017520" cy="521208"/>
          </a:xfrm>
          <a:prstGeom prst="rect">
            <a:avLst/>
          </a:prstGeom>
          <a:noFill/>
          <a:ln/>
        </p:spPr>
        <p:txBody>
          <a:bodyPr wrap="square" lIns="0" tIns="0" rIns="0" bIns="0" rtlCol="0" anchor="t">
            <a:normAutofit/>
          </a:bodyPr>
          <a:lstStyle/>
          <a:p>
            <a:pPr indent="0" marL="0">
              <a:buNone/>
            </a:pPr>
            <a:r>
              <a:rPr lang="en-US" sz="940" dirty="0">
                <a:solidFill>
                  <a:srgbClr val="273142"/>
                </a:solidFill>
                <a:latin typeface="Arial" pitchFamily="34" charset="0"/>
                <a:ea typeface="Arial" pitchFamily="34" charset="-122"/>
                <a:cs typeface="Arial" pitchFamily="34" charset="-120"/>
              </a:rPr>
              <a:t>Balanced accuracy, per-class precision/recall/F1 reduce majority-class illusion.</a:t>
            </a:r>
            <a:endParaRPr lang="en-US" sz="940" dirty="0"/>
          </a:p>
        </p:txBody>
      </p:sp>
      <p:sp>
        <p:nvSpPr>
          <p:cNvPr id="21" name="Shape 19"/>
          <p:cNvSpPr/>
          <p:nvPr/>
        </p:nvSpPr>
        <p:spPr>
          <a:xfrm>
            <a:off x="4370832" y="2971800"/>
            <a:ext cx="3383280" cy="1115568"/>
          </a:xfrm>
          <a:prstGeom prst="roundRect">
            <a:avLst>
              <a:gd name="adj" fmla="val 6557"/>
            </a:avLst>
          </a:prstGeom>
          <a:solidFill>
            <a:srgbClr val="FFFFFF"/>
          </a:solidFill>
          <a:ln w="10160">
            <a:solidFill>
              <a:srgbClr val="DDE5EA"/>
            </a:solidFill>
            <a:prstDash val="solid"/>
          </a:ln>
          <a:effectLst>
            <a:outerShdw sx="100000" sy="100000" kx="0" ky="0" algn="bl" rotWithShape="0" blurRad="2.3614079162014313e+209" dist="7.87135972067144e+208" dir="2.182359449154864e+245">
              <a:srgbClr val="000000">
                <a:alpha val="1.4000000000000004e+254"/>
              </a:srgbClr>
            </a:outerShdw>
          </a:effectLst>
        </p:spPr>
      </p:sp>
      <p:sp>
        <p:nvSpPr>
          <p:cNvPr id="22" name="Shape 20"/>
          <p:cNvSpPr/>
          <p:nvPr/>
        </p:nvSpPr>
        <p:spPr>
          <a:xfrm>
            <a:off x="4370832" y="2971800"/>
            <a:ext cx="73152" cy="1115568"/>
          </a:xfrm>
          <a:prstGeom prst="rect">
            <a:avLst/>
          </a:prstGeom>
          <a:solidFill>
            <a:srgbClr val="F4B942"/>
          </a:solidFill>
          <a:ln w="12700">
            <a:solidFill>
              <a:srgbClr val="F4B942"/>
            </a:solidFill>
            <a:prstDash val="solid"/>
          </a:ln>
        </p:spPr>
      </p:sp>
      <p:sp>
        <p:nvSpPr>
          <p:cNvPr id="23" name="Text 21"/>
          <p:cNvSpPr/>
          <p:nvPr/>
        </p:nvSpPr>
        <p:spPr>
          <a:xfrm>
            <a:off x="4572000" y="3118104"/>
            <a:ext cx="3035808"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5 · Baselines</a:t>
            </a:r>
            <a:endParaRPr lang="en-US" sz="1100" dirty="0"/>
          </a:p>
        </p:txBody>
      </p:sp>
      <p:sp>
        <p:nvSpPr>
          <p:cNvPr id="24" name="Text 22"/>
          <p:cNvSpPr/>
          <p:nvPr/>
        </p:nvSpPr>
        <p:spPr>
          <a:xfrm>
            <a:off x="4572000" y="3447288"/>
            <a:ext cx="3017520" cy="521208"/>
          </a:xfrm>
          <a:prstGeom prst="rect">
            <a:avLst/>
          </a:prstGeom>
          <a:noFill/>
          <a:ln/>
        </p:spPr>
        <p:txBody>
          <a:bodyPr wrap="square" lIns="0" tIns="0" rIns="0" bIns="0" rtlCol="0" anchor="t">
            <a:normAutofit/>
          </a:bodyPr>
          <a:lstStyle/>
          <a:p>
            <a:pPr indent="0" marL="0">
              <a:buNone/>
            </a:pPr>
            <a:r>
              <a:rPr lang="en-US" sz="940" dirty="0">
                <a:solidFill>
                  <a:srgbClr val="273142"/>
                </a:solidFill>
                <a:latin typeface="Arial" pitchFamily="34" charset="0"/>
                <a:ea typeface="Arial" pitchFamily="34" charset="-122"/>
                <a:cs typeface="Arial" pitchFamily="34" charset="-120"/>
              </a:rPr>
              <a:t>Dummy prior is the sanity floor. A valid market baseline is required once odds tagging works.</a:t>
            </a:r>
            <a:endParaRPr lang="en-US" sz="940" dirty="0"/>
          </a:p>
        </p:txBody>
      </p:sp>
      <p:sp>
        <p:nvSpPr>
          <p:cNvPr id="25" name="Shape 23"/>
          <p:cNvSpPr/>
          <p:nvPr/>
        </p:nvSpPr>
        <p:spPr>
          <a:xfrm>
            <a:off x="8046720" y="2971800"/>
            <a:ext cx="3383280" cy="1115568"/>
          </a:xfrm>
          <a:prstGeom prst="roundRect">
            <a:avLst>
              <a:gd name="adj" fmla="val 6557"/>
            </a:avLst>
          </a:prstGeom>
          <a:solidFill>
            <a:srgbClr val="FFFFFF"/>
          </a:solidFill>
          <a:ln w="10160">
            <a:solidFill>
              <a:srgbClr val="DDE5EA"/>
            </a:solidFill>
            <a:prstDash val="solid"/>
          </a:ln>
          <a:effectLst>
            <a:outerShdw sx="100000" sy="100000" kx="0" ky="0" algn="bl" rotWithShape="0" blurRad="2.998988053575818e+213" dist="9.996626845252729e+212" dir="1.3094156694929184e+250">
              <a:srgbClr val="000000">
                <a:alpha val="1.4000000000000004e+259"/>
              </a:srgbClr>
            </a:outerShdw>
          </a:effectLst>
        </p:spPr>
      </p:sp>
      <p:sp>
        <p:nvSpPr>
          <p:cNvPr id="26" name="Shape 24"/>
          <p:cNvSpPr/>
          <p:nvPr/>
        </p:nvSpPr>
        <p:spPr>
          <a:xfrm>
            <a:off x="8046720" y="2971800"/>
            <a:ext cx="73152" cy="1115568"/>
          </a:xfrm>
          <a:prstGeom prst="rect">
            <a:avLst/>
          </a:prstGeom>
          <a:solidFill>
            <a:srgbClr val="0B8F6A"/>
          </a:solidFill>
          <a:ln w="12700">
            <a:solidFill>
              <a:srgbClr val="0B8F6A"/>
            </a:solidFill>
            <a:prstDash val="solid"/>
          </a:ln>
        </p:spPr>
      </p:sp>
      <p:sp>
        <p:nvSpPr>
          <p:cNvPr id="27" name="Text 25"/>
          <p:cNvSpPr/>
          <p:nvPr/>
        </p:nvSpPr>
        <p:spPr>
          <a:xfrm>
            <a:off x="8247888" y="3118104"/>
            <a:ext cx="3035808"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6 · Failure analysis</a:t>
            </a:r>
            <a:endParaRPr lang="en-US" sz="1100" dirty="0"/>
          </a:p>
        </p:txBody>
      </p:sp>
      <p:sp>
        <p:nvSpPr>
          <p:cNvPr id="28" name="Text 26"/>
          <p:cNvSpPr/>
          <p:nvPr/>
        </p:nvSpPr>
        <p:spPr>
          <a:xfrm>
            <a:off x="8247888" y="3447288"/>
            <a:ext cx="3017520" cy="521208"/>
          </a:xfrm>
          <a:prstGeom prst="rect">
            <a:avLst/>
          </a:prstGeom>
          <a:noFill/>
          <a:ln/>
        </p:spPr>
        <p:txBody>
          <a:bodyPr wrap="square" lIns="0" tIns="0" rIns="0" bIns="0" rtlCol="0" anchor="t">
            <a:normAutofit/>
          </a:bodyPr>
          <a:lstStyle/>
          <a:p>
            <a:pPr indent="0" marL="0">
              <a:buNone/>
            </a:pPr>
            <a:r>
              <a:rPr lang="en-US" sz="950" dirty="0">
                <a:solidFill>
                  <a:srgbClr val="273142"/>
                </a:solidFill>
                <a:latin typeface="Arial" pitchFamily="34" charset="0"/>
                <a:ea typeface="Arial" pitchFamily="34" charset="-122"/>
                <a:cs typeface="Arial" pitchFamily="34" charset="-120"/>
              </a:rPr>
              <a:t>SHAP + worst predictions explain how the model fails, not just how often.</a:t>
            </a:r>
            <a:endParaRPr lang="en-US" sz="950" dirty="0"/>
          </a:p>
        </p:txBody>
      </p:sp>
      <p:sp>
        <p:nvSpPr>
          <p:cNvPr id="29" name="Shape 27"/>
          <p:cNvSpPr/>
          <p:nvPr/>
        </p:nvSpPr>
        <p:spPr>
          <a:xfrm>
            <a:off x="694944" y="4681728"/>
            <a:ext cx="10735056" cy="1024128"/>
          </a:xfrm>
          <a:prstGeom prst="roundRect">
            <a:avLst>
              <a:gd name="adj" fmla="val 5357"/>
            </a:avLst>
          </a:prstGeom>
          <a:solidFill>
            <a:srgbClr val="FFF5D8"/>
          </a:solidFill>
          <a:ln w="12700">
            <a:solidFill>
              <a:srgbClr val="FFF5D8"/>
            </a:solidFill>
            <a:prstDash val="solid"/>
          </a:ln>
        </p:spPr>
      </p:sp>
      <p:sp>
        <p:nvSpPr>
          <p:cNvPr id="30" name="Shape 28"/>
          <p:cNvSpPr/>
          <p:nvPr/>
        </p:nvSpPr>
        <p:spPr>
          <a:xfrm>
            <a:off x="694944" y="4681728"/>
            <a:ext cx="91440" cy="1024128"/>
          </a:xfrm>
          <a:prstGeom prst="rect">
            <a:avLst/>
          </a:prstGeom>
          <a:solidFill>
            <a:srgbClr val="F4B942"/>
          </a:solidFill>
          <a:ln w="12700">
            <a:solidFill>
              <a:srgbClr val="F4B942"/>
            </a:solidFill>
            <a:prstDash val="solid"/>
          </a:ln>
        </p:spPr>
      </p:sp>
      <p:sp>
        <p:nvSpPr>
          <p:cNvPr id="31" name="Text 29"/>
          <p:cNvSpPr/>
          <p:nvPr/>
        </p:nvSpPr>
        <p:spPr>
          <a:xfrm>
            <a:off x="914400" y="4800600"/>
            <a:ext cx="10369296"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A model can have higher accuracy and worse probabilities</a:t>
            </a:r>
            <a:endParaRPr lang="en-US" sz="1050" dirty="0"/>
          </a:p>
        </p:txBody>
      </p:sp>
      <p:sp>
        <p:nvSpPr>
          <p:cNvPr id="32" name="Text 30"/>
          <p:cNvSpPr/>
          <p:nvPr/>
        </p:nvSpPr>
        <p:spPr>
          <a:xfrm>
            <a:off x="914400" y="5074920"/>
            <a:ext cx="10351008" cy="530352"/>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For a forecasting product, calibration and proper scoring rules matter because the output is a probability distribution, not only an arg-max class label.</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sz="900" b="1">
                <a:solidFill>
                  <a:srgbClr val="22B8A0"/>
                </a:solidFill>
                <a:latin typeface="Arial"/>
              </a:rPr>
              <a:t>08 · UPDATE CADENCE</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sz="2500" b="1">
                <a:solidFill>
                  <a:srgbClr val="0B1220"/>
                </a:solidFill>
                <a:latin typeface="Arial"/>
              </a:rPr>
              <a:t>Why update after every match?</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sz="1400">
                <a:solidFill>
                  <a:srgbClr val="5B6577"/>
                </a:solidFill>
                <a:latin typeface="Arial"/>
              </a:rPr>
              <a:t>Cadence was studied on 2019/20 before final testing; final protocol follows the week-to-week deployment reality.</a:t>
            </a:r>
            <a:endParaRPr lang="en-US" sz="1050" dirty="0"/>
          </a:p>
        </p:txBody>
      </p:sp>
      <p:sp>
        <p:nvSpPr>
          <p:cNvPr id="5" name="Shape 3"/>
          <p:cNvSpPr/>
          <p:nvPr/>
        </p:nvSpPr>
        <p:spPr>
          <a:xfrm>
            <a:off x="594360" y="1444752"/>
            <a:ext cx="7452360" cy="4526280"/>
          </a:xfrm>
          <a:prstGeom prst="roundRect">
            <a:avLst>
              <a:gd name="adj" fmla="val 1010"/>
            </a:avLst>
          </a:prstGeom>
          <a:solidFill>
            <a:srgbClr val="FFFFFF"/>
          </a:solidFill>
          <a:ln w="10160">
            <a:solidFill>
              <a:srgbClr val="DDE5EA"/>
            </a:solidFill>
            <a:prstDash val="solid"/>
          </a:ln>
          <a:effectLst>
            <a:outerShdw sx="100000" sy="100000" kx="0" ky="0" algn="bl" rotWithShape="0" blurRad="3.808714828041289e+217" dist="1.2695716093470965e+217" dir="7.85649401695751e+254">
              <a:srgbClr val="000000">
                <a:alpha val="1.4000000000000004e+264"/>
              </a:srgbClr>
            </a:outerShdw>
          </a:effectLst>
        </p:spPr>
      </p:sp>
      <p:sp>
        <p:nvSpPr>
          <p:cNvPr id="7" name="Text 4"/>
          <p:cNvSpPr/>
          <p:nvPr/>
        </p:nvSpPr>
        <p:spPr>
          <a:xfrm>
            <a:off x="758952" y="5669280"/>
            <a:ext cx="7123176" cy="164592"/>
          </a:xfrm>
          <a:prstGeom prst="rect">
            <a:avLst/>
          </a:prstGeom>
          <a:noFill/>
          <a:ln/>
        </p:spPr>
        <p:txBody>
          <a:bodyPr wrap="square" lIns="0" tIns="0" rIns="0" bIns="0" rtlCol="0" anchor="ctr">
            <a:normAutofit/>
          </a:bodyPr>
          <a:lstStyle/>
          <a:p>
            <a:pPr algn="ctr" indent="0" marL="0">
              <a:buNone/>
            </a:pPr>
            <a:r>
              <a:rPr sz="780" i="1">
                <a:solidFill>
                  <a:srgbClr val="5B6577"/>
                </a:solidFill>
                <a:latin typeface="Arial"/>
              </a:rPr>
              <a:t>2019/20 cadence sensitivity — RPS lower is better.</a:t>
            </a:r>
            <a:endParaRPr lang="en-US" sz="780" dirty="0"/>
          </a:p>
        </p:txBody>
      </p:sp>
      <p:sp>
        <p:nvSpPr>
          <p:cNvPr id="8" name="Shape 5"/>
          <p:cNvSpPr/>
          <p:nvPr/>
        </p:nvSpPr>
        <p:spPr>
          <a:xfrm>
            <a:off x="8339328" y="1572768"/>
            <a:ext cx="2907792"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4.8370678316124365e+221" dist="1.6123559438708126e+221" dir="4.713896410174506e+259">
              <a:srgbClr val="000000">
                <a:alpha val="1.4000000000000005e+269"/>
              </a:srgbClr>
            </a:outerShdw>
          </a:effectLst>
        </p:spPr>
      </p:sp>
      <p:sp>
        <p:nvSpPr>
          <p:cNvPr id="9" name="Shape 6"/>
          <p:cNvSpPr/>
          <p:nvPr/>
        </p:nvSpPr>
        <p:spPr>
          <a:xfrm>
            <a:off x="8339328" y="1572768"/>
            <a:ext cx="73152" cy="960120"/>
          </a:xfrm>
          <a:prstGeom prst="rect">
            <a:avLst/>
          </a:prstGeom>
          <a:solidFill>
            <a:srgbClr val="F4B942"/>
          </a:solidFill>
          <a:ln w="12700">
            <a:solidFill>
              <a:srgbClr val="F4B942"/>
            </a:solidFill>
            <a:prstDash val="solid"/>
          </a:ln>
        </p:spPr>
      </p:sp>
      <p:sp>
        <p:nvSpPr>
          <p:cNvPr id="10" name="Text 7"/>
          <p:cNvSpPr/>
          <p:nvPr/>
        </p:nvSpPr>
        <p:spPr>
          <a:xfrm>
            <a:off x="8522208" y="1719072"/>
            <a:ext cx="2633472" cy="365760"/>
          </a:xfrm>
          <a:prstGeom prst="rect">
            <a:avLst/>
          </a:prstGeom>
          <a:noFill/>
          <a:ln/>
        </p:spPr>
        <p:txBody>
          <a:bodyPr wrap="square" lIns="0" tIns="0" rIns="0" bIns="0" rtlCol="0" anchor="ctr">
            <a:normAutofit/>
          </a:bodyPr>
          <a:lstStyle/>
          <a:p>
            <a:pPr algn="ctr" indent="0" marL="0">
              <a:buNone/>
            </a:pPr>
            <a:r>
              <a:rPr sz="2300" b="1">
                <a:solidFill>
                  <a:srgbClr val="0B1220"/>
                </a:solidFill>
                <a:latin typeface="Arial"/>
              </a:rPr>
              <a:t>0.1391</a:t>
            </a:r>
            <a:endParaRPr lang="en-US" sz="2300" dirty="0"/>
          </a:p>
        </p:txBody>
      </p:sp>
      <p:sp>
        <p:nvSpPr>
          <p:cNvPr id="11" name="Text 8"/>
          <p:cNvSpPr/>
          <p:nvPr/>
        </p:nvSpPr>
        <p:spPr>
          <a:xfrm>
            <a:off x="8485632" y="2157984"/>
            <a:ext cx="2688336" cy="182880"/>
          </a:xfrm>
          <a:prstGeom prst="rect">
            <a:avLst/>
          </a:prstGeom>
          <a:noFill/>
          <a:ln/>
        </p:spPr>
        <p:txBody>
          <a:bodyPr wrap="square" lIns="0" tIns="0" rIns="0" bIns="0" rtlCol="0" anchor="ctr">
            <a:normAutofit/>
          </a:bodyPr>
          <a:lstStyle/>
          <a:p>
            <a:pPr algn="ctr" indent="0" marL="0">
              <a:buNone/>
            </a:pPr>
            <a:r>
              <a:rPr sz="850" b="1">
                <a:solidFill>
                  <a:srgbClr val="5B6577"/>
                </a:solidFill>
                <a:latin typeface="Arial"/>
              </a:rPr>
              <a:t>every match · ECE 0.0957</a:t>
            </a:r>
            <a:endParaRPr lang="en-US" sz="850" dirty="0"/>
          </a:p>
        </p:txBody>
      </p:sp>
      <p:sp>
        <p:nvSpPr>
          <p:cNvPr id="12" name="Shape 9"/>
          <p:cNvSpPr/>
          <p:nvPr/>
        </p:nvSpPr>
        <p:spPr>
          <a:xfrm>
            <a:off x="8339328" y="2788920"/>
            <a:ext cx="2907792"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6.143076146147795e+225" dist="2.047692048715932e+225" dir="2.8283378461047036e+264">
              <a:srgbClr val="000000">
                <a:alpha val="1.4000000000000004e+274"/>
              </a:srgbClr>
            </a:outerShdw>
          </a:effectLst>
        </p:spPr>
      </p:sp>
      <p:sp>
        <p:nvSpPr>
          <p:cNvPr id="13" name="Shape 10"/>
          <p:cNvSpPr/>
          <p:nvPr/>
        </p:nvSpPr>
        <p:spPr>
          <a:xfrm>
            <a:off x="8339328" y="2788920"/>
            <a:ext cx="73152" cy="960120"/>
          </a:xfrm>
          <a:prstGeom prst="rect">
            <a:avLst/>
          </a:prstGeom>
          <a:solidFill>
            <a:srgbClr val="0B8F6A"/>
          </a:solidFill>
          <a:ln w="12700">
            <a:solidFill>
              <a:srgbClr val="0B8F6A"/>
            </a:solidFill>
            <a:prstDash val="solid"/>
          </a:ln>
        </p:spPr>
      </p:sp>
      <p:sp>
        <p:nvSpPr>
          <p:cNvPr id="14" name="Text 11"/>
          <p:cNvSpPr/>
          <p:nvPr/>
        </p:nvSpPr>
        <p:spPr>
          <a:xfrm>
            <a:off x="8522208" y="2935224"/>
            <a:ext cx="2633472" cy="365760"/>
          </a:xfrm>
          <a:prstGeom prst="rect">
            <a:avLst/>
          </a:prstGeom>
          <a:noFill/>
          <a:ln/>
        </p:spPr>
        <p:txBody>
          <a:bodyPr wrap="square" lIns="0" tIns="0" rIns="0" bIns="0" rtlCol="0" anchor="ctr">
            <a:normAutofit/>
          </a:bodyPr>
          <a:lstStyle/>
          <a:p>
            <a:pPr algn="ctr" indent="0" marL="0">
              <a:buNone/>
            </a:pPr>
            <a:r>
              <a:rPr sz="2300" b="1">
                <a:solidFill>
                  <a:srgbClr val="0B1220"/>
                </a:solidFill>
                <a:latin typeface="Arial"/>
              </a:rPr>
              <a:t>0.1364</a:t>
            </a:r>
            <a:endParaRPr lang="en-US" sz="2300" dirty="0"/>
          </a:p>
        </p:txBody>
      </p:sp>
      <p:sp>
        <p:nvSpPr>
          <p:cNvPr id="15" name="Text 12"/>
          <p:cNvSpPr/>
          <p:nvPr/>
        </p:nvSpPr>
        <p:spPr>
          <a:xfrm>
            <a:off x="8485632" y="3374136"/>
            <a:ext cx="2688336" cy="182880"/>
          </a:xfrm>
          <a:prstGeom prst="rect">
            <a:avLst/>
          </a:prstGeom>
          <a:noFill/>
          <a:ln/>
        </p:spPr>
        <p:txBody>
          <a:bodyPr wrap="square" lIns="0" tIns="0" rIns="0" bIns="0" rtlCol="0" anchor="ctr">
            <a:normAutofit/>
          </a:bodyPr>
          <a:lstStyle/>
          <a:p>
            <a:pPr algn="ctr" indent="0" marL="0">
              <a:buNone/>
            </a:pPr>
            <a:r>
              <a:rPr sz="850" b="1">
                <a:solidFill>
                  <a:srgbClr val="5B6577"/>
                </a:solidFill>
                <a:latin typeface="Arial"/>
              </a:rPr>
              <a:t>every 4 matches · best dev RPS</a:t>
            </a:r>
            <a:endParaRPr lang="en-US" sz="850" dirty="0"/>
          </a:p>
        </p:txBody>
      </p:sp>
      <p:sp>
        <p:nvSpPr>
          <p:cNvPr id="16" name="Shape 13"/>
          <p:cNvSpPr/>
          <p:nvPr/>
        </p:nvSpPr>
        <p:spPr>
          <a:xfrm>
            <a:off x="8339328" y="4005072"/>
            <a:ext cx="2907792"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7.8017067056077e+229" dist="2.6005689018692335e+229" dir="1.6970027076628222e+269">
              <a:srgbClr val="000000">
                <a:alpha val="1.4000000000000004e+279"/>
              </a:srgbClr>
            </a:outerShdw>
          </a:effectLst>
        </p:spPr>
      </p:sp>
      <p:sp>
        <p:nvSpPr>
          <p:cNvPr id="17" name="Shape 14"/>
          <p:cNvSpPr/>
          <p:nvPr/>
        </p:nvSpPr>
        <p:spPr>
          <a:xfrm>
            <a:off x="8339328" y="4005072"/>
            <a:ext cx="73152" cy="960120"/>
          </a:xfrm>
          <a:prstGeom prst="rect">
            <a:avLst/>
          </a:prstGeom>
          <a:solidFill>
            <a:srgbClr val="22B8A0"/>
          </a:solidFill>
          <a:ln w="12700">
            <a:solidFill>
              <a:srgbClr val="22B8A0"/>
            </a:solidFill>
            <a:prstDash val="solid"/>
          </a:ln>
        </p:spPr>
      </p:sp>
      <p:sp>
        <p:nvSpPr>
          <p:cNvPr id="18" name="Text 15"/>
          <p:cNvSpPr/>
          <p:nvPr/>
        </p:nvSpPr>
        <p:spPr>
          <a:xfrm>
            <a:off x="8522208" y="4151376"/>
            <a:ext cx="2633472" cy="365760"/>
          </a:xfrm>
          <a:prstGeom prst="rect">
            <a:avLst/>
          </a:prstGeom>
          <a:noFill/>
          <a:ln/>
        </p:spPr>
        <p:txBody>
          <a:bodyPr wrap="square" lIns="0" tIns="0" rIns="0" bIns="0" rtlCol="0" anchor="ctr">
            <a:normAutofit/>
          </a:bodyPr>
          <a:lstStyle/>
          <a:p>
            <a:pPr algn="ctr" indent="0" marL="0">
              <a:buNone/>
            </a:pPr>
            <a:r>
              <a:rPr sz="2300" b="1">
                <a:solidFill>
                  <a:srgbClr val="0B1220"/>
                </a:solidFill>
                <a:latin typeface="Arial"/>
              </a:rPr>
              <a:t>0.1413</a:t>
            </a:r>
            <a:endParaRPr lang="en-US" sz="2300" dirty="0"/>
          </a:p>
        </p:txBody>
      </p:sp>
      <p:sp>
        <p:nvSpPr>
          <p:cNvPr id="19" name="Text 16"/>
          <p:cNvSpPr/>
          <p:nvPr/>
        </p:nvSpPr>
        <p:spPr>
          <a:xfrm>
            <a:off x="8485632" y="4590288"/>
            <a:ext cx="2688336" cy="182880"/>
          </a:xfrm>
          <a:prstGeom prst="rect">
            <a:avLst/>
          </a:prstGeom>
          <a:noFill/>
          <a:ln/>
        </p:spPr>
        <p:txBody>
          <a:bodyPr wrap="square" lIns="0" tIns="0" rIns="0" bIns="0" rtlCol="0" anchor="ctr">
            <a:normAutofit/>
          </a:bodyPr>
          <a:lstStyle/>
          <a:p>
            <a:pPr algn="ctr" indent="0" marL="0">
              <a:buNone/>
            </a:pPr>
            <a:r>
              <a:rPr sz="850" b="1">
                <a:solidFill>
                  <a:srgbClr val="5B6577"/>
                </a:solidFill>
                <a:latin typeface="Arial"/>
              </a:rPr>
              <a:t>never refit · ECE 0.1305</a:t>
            </a:r>
            <a:endParaRPr lang="en-US" sz="850" dirty="0"/>
          </a:p>
        </p:txBody>
      </p:sp>
      <p:sp>
        <p:nvSpPr>
          <p:cNvPr id="20" name="Shape 17"/>
          <p:cNvSpPr/>
          <p:nvPr/>
        </p:nvSpPr>
        <p:spPr>
          <a:xfrm>
            <a:off x="8339328" y="5239512"/>
            <a:ext cx="2907792" cy="749808"/>
          </a:xfrm>
          <a:prstGeom prst="roundRect">
            <a:avLst>
              <a:gd name="adj" fmla="val 7317"/>
            </a:avLst>
          </a:prstGeom>
          <a:solidFill>
            <a:srgbClr val="E9F8F3"/>
          </a:solidFill>
          <a:ln w="12700">
            <a:solidFill>
              <a:srgbClr val="E9F8F3"/>
            </a:solidFill>
            <a:prstDash val="solid"/>
          </a:ln>
        </p:spPr>
      </p:sp>
      <p:sp>
        <p:nvSpPr>
          <p:cNvPr id="21" name="Shape 18"/>
          <p:cNvSpPr/>
          <p:nvPr/>
        </p:nvSpPr>
        <p:spPr>
          <a:xfrm>
            <a:off x="8339328" y="5239512"/>
            <a:ext cx="91440" cy="749808"/>
          </a:xfrm>
          <a:prstGeom prst="rect">
            <a:avLst/>
          </a:prstGeom>
          <a:solidFill>
            <a:srgbClr val="0B8F6A"/>
          </a:solidFill>
          <a:ln w="12700">
            <a:solidFill>
              <a:srgbClr val="0B8F6A"/>
            </a:solidFill>
            <a:prstDash val="solid"/>
          </a:ln>
        </p:spPr>
      </p:sp>
      <p:sp>
        <p:nvSpPr>
          <p:cNvPr id="22" name="Text 19"/>
          <p:cNvSpPr/>
          <p:nvPr/>
        </p:nvSpPr>
        <p:spPr>
          <a:xfrm>
            <a:off x="8558784" y="5358384"/>
            <a:ext cx="2542032" cy="219456"/>
          </a:xfrm>
          <a:prstGeom prst="rect">
            <a:avLst/>
          </a:prstGeom>
          <a:noFill/>
          <a:ln/>
        </p:spPr>
        <p:txBody>
          <a:bodyPr wrap="square" lIns="0" tIns="0" rIns="0" bIns="0" rtlCol="0" anchor="ctr">
            <a:normAutofit/>
          </a:bodyPr>
          <a:lstStyle/>
          <a:p>
            <a:pPr indent="0" marL="0">
              <a:buNone/>
            </a:pPr>
            <a:r>
              <a:rPr sz="1050" b="1">
                <a:solidFill>
                  <a:srgbClr val="0B1220"/>
                </a:solidFill>
                <a:latin typeface="Arial"/>
              </a:rPr>
              <a:t>Decision, not a magic number</a:t>
            </a:r>
            <a:endParaRPr lang="en-US" sz="1050" dirty="0"/>
          </a:p>
        </p:txBody>
      </p:sp>
      <p:sp>
        <p:nvSpPr>
          <p:cNvPr id="23" name="Text 20"/>
          <p:cNvSpPr/>
          <p:nvPr/>
        </p:nvSpPr>
        <p:spPr>
          <a:xfrm>
            <a:off x="8558784" y="5632704"/>
            <a:ext cx="2523744" cy="256032"/>
          </a:xfrm>
          <a:prstGeom prst="rect">
            <a:avLst/>
          </a:prstGeom>
          <a:noFill/>
          <a:ln/>
        </p:spPr>
        <p:txBody>
          <a:bodyPr wrap="square" lIns="0" tIns="0" rIns="0" bIns="0" rtlCol="0" anchor="ctr">
            <a:normAutofit/>
          </a:bodyPr>
          <a:lstStyle/>
          <a:p>
            <a:pPr indent="0" marL="0">
              <a:buNone/>
            </a:pPr>
            <a:r>
              <a:rPr sz="1320">
                <a:solidFill>
                  <a:srgbClr val="273142"/>
                </a:solidFill>
                <a:latin typeface="Arial"/>
              </a:rPr>
              <a:t>We deploy every-match updates because the previous label is available, ECE stays &lt;0.10, and RPS is within 0.0027 of the development optimum. The trade-off is reported, not hidden.</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9</a:t>
            </a:fld>
            <a:endParaRPr lang="en-US"/>
          </a:p>
        </p:txBody>
      </p:sp>
      <p:pic>
        <p:nvPicPr>
          <p:cNvPr id="26" name="Picture 25" descr="retraining_cadence_rps.png"/>
          <p:cNvPicPr>
            <a:picLocks noChangeAspect="1"/>
          </p:cNvPicPr>
          <p:nvPr/>
        </p:nvPicPr>
        <p:blipFill>
          <a:blip r:embed="rId4"/>
          <a:stretch>
            <a:fillRect/>
          </a:stretch>
        </p:blipFill>
        <p:spPr>
          <a:xfrm>
            <a:off x="685800" y="1542824"/>
            <a:ext cx="7269480" cy="407410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09 · RESULTS</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sz="2500" b="1">
                <a:solidFill>
                  <a:srgbClr val="0B1220"/>
                </a:solidFill>
                <a:latin typeface="Arial"/>
              </a:rPr>
              <a:t>Pre-match classification: selected model &amp; final test</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sz="1400">
                <a:solidFill>
                  <a:srgbClr val="5B6577"/>
                </a:solidFill>
                <a:latin typeface="Arial"/>
              </a:rPr>
              <a:t>Learner family selected only on development folds; 2020/21 = 33-match every-game walk-forward.</a:t>
            </a:r>
            <a:endParaRPr lang="en-US" sz="1050" dirty="0"/>
          </a:p>
        </p:txBody>
      </p:sp>
      <p:sp>
        <p:nvSpPr>
          <p:cNvPr id="5" name="Shape 3"/>
          <p:cNvSpPr/>
          <p:nvPr/>
        </p:nvSpPr>
        <p:spPr>
          <a:xfrm>
            <a:off x="594360" y="1444752"/>
            <a:ext cx="6583680" cy="4251960"/>
          </a:xfrm>
          <a:prstGeom prst="roundRect">
            <a:avLst>
              <a:gd name="adj" fmla="val 1075"/>
            </a:avLst>
          </a:prstGeom>
          <a:solidFill>
            <a:srgbClr val="FFFFFF"/>
          </a:solidFill>
          <a:ln w="10160">
            <a:solidFill>
              <a:srgbClr val="DDE5EA"/>
            </a:solidFill>
            <a:prstDash val="solid"/>
          </a:ln>
          <a:effectLst>
            <a:outerShdw sx="100000" sy="100000" kx="0" ky="0" algn="bl" rotWithShape="0" blurRad="9.908167516121778e+233" dist="3.3027225053739265e+233" dir="1.0182016245976934e+274">
              <a:srgbClr val="000000">
                <a:alpha val="1.4000000000000003e+284"/>
              </a:srgbClr>
            </a:outerShdw>
          </a:effectLst>
        </p:spPr>
      </p:sp>
      <p:sp>
        <p:nvSpPr>
          <p:cNvPr id="7" name="Text 4"/>
          <p:cNvSpPr/>
          <p:nvPr/>
        </p:nvSpPr>
        <p:spPr>
          <a:xfrm>
            <a:off x="758952" y="5394960"/>
            <a:ext cx="6254496" cy="164592"/>
          </a:xfrm>
          <a:prstGeom prst="rect">
            <a:avLst/>
          </a:prstGeom>
          <a:noFill/>
          <a:ln/>
        </p:spPr>
        <p:txBody>
          <a:bodyPr wrap="square" lIns="0" tIns="0" rIns="0" bIns="0" rtlCol="0" anchor="ctr">
            <a:normAutofit/>
          </a:bodyPr>
          <a:lstStyle/>
          <a:p>
            <a:pPr algn="ctr" indent="0" marL="0">
              <a:buNone/>
            </a:pPr>
            <a:r>
              <a:rPr sz="780" i="1">
                <a:solidFill>
                  <a:srgbClr val="5B6577"/>
                </a:solidFill>
                <a:latin typeface="Arial"/>
              </a:rPr>
              <a:t>Cumulative average RPS after each 2020/21 prediction.</a:t>
            </a:r>
            <a:endParaRPr lang="en-US" sz="780" dirty="0"/>
          </a:p>
        </p:txBody>
      </p:sp>
      <p:sp>
        <p:nvSpPr>
          <p:cNvPr id="8" name="Shape 5"/>
          <p:cNvSpPr/>
          <p:nvPr/>
        </p:nvSpPr>
        <p:spPr>
          <a:xfrm>
            <a:off x="7424928" y="1444752"/>
            <a:ext cx="4160520" cy="1097280"/>
          </a:xfrm>
          <a:prstGeom prst="roundRect">
            <a:avLst>
              <a:gd name="adj" fmla="val 6667"/>
            </a:avLst>
          </a:prstGeom>
          <a:solidFill>
            <a:srgbClr val="FFFFFF"/>
          </a:solidFill>
          <a:ln w="10160">
            <a:solidFill>
              <a:srgbClr val="DDE5EA"/>
            </a:solidFill>
            <a:prstDash val="solid"/>
          </a:ln>
          <a:effectLst>
            <a:outerShdw sx="100000" sy="100000" kx="0" ky="0" algn="bl" rotWithShape="0" blurRad="1.2583372745474658e+238" dist="4.194457581824887e+237" dir="6.10920974758616e+278">
              <a:srgbClr val="000000">
                <a:alpha val="1.4000000000000004e+289"/>
              </a:srgbClr>
            </a:outerShdw>
          </a:effectLst>
        </p:spPr>
      </p:sp>
      <p:sp>
        <p:nvSpPr>
          <p:cNvPr id="9" name="Shape 6"/>
          <p:cNvSpPr/>
          <p:nvPr/>
        </p:nvSpPr>
        <p:spPr>
          <a:xfrm>
            <a:off x="7424928" y="1444752"/>
            <a:ext cx="73152" cy="1097280"/>
          </a:xfrm>
          <a:prstGeom prst="rect">
            <a:avLst/>
          </a:prstGeom>
          <a:solidFill>
            <a:srgbClr val="0B8F6A"/>
          </a:solidFill>
          <a:ln w="12700">
            <a:solidFill>
              <a:srgbClr val="0B8F6A"/>
            </a:solidFill>
            <a:prstDash val="solid"/>
          </a:ln>
        </p:spPr>
      </p:sp>
      <p:sp>
        <p:nvSpPr>
          <p:cNvPr id="10" name="Text 7"/>
          <p:cNvSpPr/>
          <p:nvPr/>
        </p:nvSpPr>
        <p:spPr>
          <a:xfrm>
            <a:off x="7626096" y="1591056"/>
            <a:ext cx="3813048" cy="256032"/>
          </a:xfrm>
          <a:prstGeom prst="rect">
            <a:avLst/>
          </a:prstGeom>
          <a:noFill/>
          <a:ln/>
        </p:spPr>
        <p:txBody>
          <a:bodyPr wrap="square" lIns="0" tIns="0" rIns="0" bIns="0" rtlCol="0" anchor="ctr">
            <a:normAutofit/>
          </a:bodyPr>
          <a:lstStyle/>
          <a:p>
            <a:pPr indent="0" marL="0">
              <a:buNone/>
            </a:pPr>
            <a:r>
              <a:rPr sz="1100" b="1">
                <a:solidFill>
                  <a:srgbClr val="0B1220"/>
                </a:solidFill>
                <a:latin typeface="Arial"/>
              </a:rPr>
              <a:t>Development selection</a:t>
            </a:r>
            <a:endParaRPr lang="en-US" sz="1100" dirty="0"/>
          </a:p>
        </p:txBody>
      </p:sp>
      <p:sp>
        <p:nvSpPr>
          <p:cNvPr id="11" name="Text 8"/>
          <p:cNvSpPr/>
          <p:nvPr/>
        </p:nvSpPr>
        <p:spPr>
          <a:xfrm>
            <a:off x="7626096" y="1920240"/>
            <a:ext cx="3794760" cy="502920"/>
          </a:xfrm>
          <a:prstGeom prst="rect">
            <a:avLst/>
          </a:prstGeom>
          <a:noFill/>
          <a:ln/>
        </p:spPr>
        <p:txBody>
          <a:bodyPr wrap="square" lIns="0" tIns="0" rIns="0" bIns="0" rtlCol="0" anchor="t">
            <a:normAutofit/>
          </a:bodyPr>
          <a:lstStyle/>
          <a:p>
            <a:pPr indent="0" marL="0">
              <a:buNone/>
            </a:pPr>
            <a:r>
              <a:rPr sz="1350">
                <a:solidFill>
                  <a:srgbClr val="273142"/>
                </a:solidFill>
                <a:latin typeface="Arial"/>
              </a:rPr>
              <a:t>Mean RPS: Logistic 0.1458 · Random Forest 0.1550 · SVC 0.1588 · GBM 0.1650 · FIGS 0.2182</a:t>
            </a:r>
            <a:endParaRPr lang="en-US" sz="940" dirty="0"/>
          </a:p>
        </p:txBody>
      </p:sp>
      <p:sp>
        <p:nvSpPr>
          <p:cNvPr id="12" name="Shape 9"/>
          <p:cNvSpPr/>
          <p:nvPr/>
        </p:nvSpPr>
        <p:spPr>
          <a:xfrm>
            <a:off x="7424928" y="2770632"/>
            <a:ext cx="4160520" cy="1261872"/>
          </a:xfrm>
          <a:prstGeom prst="roundRect">
            <a:avLst>
              <a:gd name="adj" fmla="val 5797"/>
            </a:avLst>
          </a:prstGeom>
          <a:solidFill>
            <a:srgbClr val="FFF5D8"/>
          </a:solidFill>
          <a:ln w="10160">
            <a:solidFill>
              <a:srgbClr val="DDE5EA"/>
            </a:solidFill>
            <a:prstDash val="solid"/>
          </a:ln>
          <a:effectLst>
            <a:outerShdw sx="100000" sy="100000" kx="0" ky="0" algn="bl" rotWithShape="0" blurRad="1.5980883386752816e+242" dist="5.3269611289176067e+241" dir="3.6655258485516963e+283">
              <a:srgbClr val="000000">
                <a:alpha val="1.4000000000000005e+294"/>
              </a:srgbClr>
            </a:outerShdw>
          </a:effectLst>
        </p:spPr>
      </p:sp>
      <p:sp>
        <p:nvSpPr>
          <p:cNvPr id="13" name="Shape 10"/>
          <p:cNvSpPr/>
          <p:nvPr/>
        </p:nvSpPr>
        <p:spPr>
          <a:xfrm>
            <a:off x="7424928" y="2770632"/>
            <a:ext cx="73152" cy="1261872"/>
          </a:xfrm>
          <a:prstGeom prst="rect">
            <a:avLst/>
          </a:prstGeom>
          <a:solidFill>
            <a:srgbClr val="F4B942"/>
          </a:solidFill>
          <a:ln w="12700">
            <a:solidFill>
              <a:srgbClr val="F4B942"/>
            </a:solidFill>
            <a:prstDash val="solid"/>
          </a:ln>
        </p:spPr>
      </p:sp>
      <p:sp>
        <p:nvSpPr>
          <p:cNvPr id="14" name="Text 11"/>
          <p:cNvSpPr/>
          <p:nvPr/>
        </p:nvSpPr>
        <p:spPr>
          <a:xfrm>
            <a:off x="7626096" y="2916936"/>
            <a:ext cx="3813048" cy="256032"/>
          </a:xfrm>
          <a:prstGeom prst="rect">
            <a:avLst/>
          </a:prstGeom>
          <a:noFill/>
          <a:ln/>
        </p:spPr>
        <p:txBody>
          <a:bodyPr wrap="square" lIns="0" tIns="0" rIns="0" bIns="0" rtlCol="0" anchor="ctr">
            <a:normAutofit/>
          </a:bodyPr>
          <a:lstStyle/>
          <a:p>
            <a:pPr indent="0" marL="0">
              <a:buNone/>
            </a:pPr>
            <a:r>
              <a:rPr sz="1100" b="1">
                <a:solidFill>
                  <a:srgbClr val="0B1220"/>
                </a:solidFill>
                <a:latin typeface="Arial"/>
              </a:rPr>
              <a:t>Final 2020/21 · n = 33</a:t>
            </a:r>
            <a:endParaRPr lang="en-US" sz="1100" dirty="0"/>
          </a:p>
        </p:txBody>
      </p:sp>
      <p:sp>
        <p:nvSpPr>
          <p:cNvPr id="15" name="Text 12"/>
          <p:cNvSpPr/>
          <p:nvPr/>
        </p:nvSpPr>
        <p:spPr>
          <a:xfrm>
            <a:off x="7626096" y="3246120"/>
            <a:ext cx="3794760" cy="667512"/>
          </a:xfrm>
          <a:prstGeom prst="rect">
            <a:avLst/>
          </a:prstGeom>
          <a:noFill/>
          <a:ln/>
        </p:spPr>
        <p:txBody>
          <a:bodyPr wrap="square" lIns="0" tIns="0" rIns="0" bIns="0" rtlCol="0" anchor="t">
            <a:normAutofit/>
          </a:bodyPr>
          <a:lstStyle/>
          <a:p>
            <a:pPr indent="0" marL="0">
              <a:buNone/>
            </a:pPr>
            <a:r>
              <a:rPr sz="1290">
                <a:solidFill>
                  <a:srgbClr val="273142"/>
                </a:solidFill>
                <a:latin typeface="Arial"/>
              </a:rPr>
              <a:t>Logistic: Acc 63.6% · Bal 51.8% · RPS 0.1732 · Log Loss 0.889 · ECE 0.121</a:t>
            </a:r>
            <a:endParaRPr lang="en-US" sz="950" dirty="0"/>
          </a:p>
          <a:p>
            <a:r>
              <a:rPr sz="1290">
                <a:solidFill>
                  <a:srgbClr val="273142"/>
                </a:solidFill>
                <a:latin typeface="Arial"/>
              </a:rPr>
              <a:t>Market:  Acc 63.6% · Bal 51.8% · RPS 0.1848 · Log Loss 0.913 · ECE 0.159</a:t>
            </a:r>
          </a:p>
        </p:txBody>
      </p:sp>
      <p:sp>
        <p:nvSpPr>
          <p:cNvPr id="16" name="Shape 13"/>
          <p:cNvSpPr/>
          <p:nvPr/>
        </p:nvSpPr>
        <p:spPr>
          <a:xfrm>
            <a:off x="7424928" y="4279392"/>
            <a:ext cx="4160520" cy="987552"/>
          </a:xfrm>
          <a:prstGeom prst="roundRect">
            <a:avLst>
              <a:gd name="adj" fmla="val 7407"/>
            </a:avLst>
          </a:prstGeom>
          <a:solidFill>
            <a:srgbClr val="FDECEC"/>
          </a:solidFill>
          <a:ln w="10160">
            <a:solidFill>
              <a:srgbClr val="DDE5EA"/>
            </a:solidFill>
            <a:prstDash val="solid"/>
          </a:ln>
          <a:effectLst>
            <a:outerShdw sx="100000" sy="100000" kx="0" ky="0" algn="bl" rotWithShape="0" blurRad="2.0295721901176076e+246" dist="6.765240633725361e+245" dir="2.1993155091310177e+288">
              <a:srgbClr val="000000">
                <a:alpha val="1.4000000000000004e+299"/>
              </a:srgbClr>
            </a:outerShdw>
          </a:effectLst>
        </p:spPr>
      </p:sp>
      <p:sp>
        <p:nvSpPr>
          <p:cNvPr id="17" name="Shape 14"/>
          <p:cNvSpPr/>
          <p:nvPr/>
        </p:nvSpPr>
        <p:spPr>
          <a:xfrm>
            <a:off x="7424928" y="4279392"/>
            <a:ext cx="73152" cy="987552"/>
          </a:xfrm>
          <a:prstGeom prst="rect">
            <a:avLst/>
          </a:prstGeom>
          <a:solidFill>
            <a:srgbClr val="C94949"/>
          </a:solidFill>
          <a:ln w="12700">
            <a:solidFill>
              <a:srgbClr val="C94949"/>
            </a:solidFill>
            <a:prstDash val="solid"/>
          </a:ln>
        </p:spPr>
      </p:sp>
      <p:sp>
        <p:nvSpPr>
          <p:cNvPr id="18" name="Text 15"/>
          <p:cNvSpPr/>
          <p:nvPr/>
        </p:nvSpPr>
        <p:spPr>
          <a:xfrm>
            <a:off x="7626096" y="4425696"/>
            <a:ext cx="3813048" cy="256032"/>
          </a:xfrm>
          <a:prstGeom prst="rect">
            <a:avLst/>
          </a:prstGeom>
          <a:noFill/>
          <a:ln/>
        </p:spPr>
        <p:txBody>
          <a:bodyPr wrap="square" lIns="0" tIns="0" rIns="0" bIns="0" rtlCol="0" anchor="ctr">
            <a:normAutofit/>
          </a:bodyPr>
          <a:lstStyle/>
          <a:p>
            <a:pPr indent="0" marL="0">
              <a:buNone/>
            </a:pPr>
            <a:r>
              <a:rPr sz="1050" b="1">
                <a:solidFill>
                  <a:srgbClr val="0B1220"/>
                </a:solidFill>
                <a:latin typeface="Arial"/>
              </a:rPr>
              <a:t>Why Logistic won here</a:t>
            </a:r>
            <a:endParaRPr lang="en-US" sz="1050" dirty="0"/>
          </a:p>
        </p:txBody>
      </p:sp>
      <p:sp>
        <p:nvSpPr>
          <p:cNvPr id="19" name="Text 16"/>
          <p:cNvSpPr/>
          <p:nvPr/>
        </p:nvSpPr>
        <p:spPr>
          <a:xfrm>
            <a:off x="7626096" y="4754880"/>
            <a:ext cx="3794760" cy="393192"/>
          </a:xfrm>
          <a:prstGeom prst="rect">
            <a:avLst/>
          </a:prstGeom>
          <a:noFill/>
          <a:ln/>
        </p:spPr>
        <p:txBody>
          <a:bodyPr wrap="square" lIns="0" tIns="0" rIns="0" bIns="0" rtlCol="0" anchor="t">
            <a:normAutofit/>
          </a:bodyPr>
          <a:lstStyle/>
          <a:p>
            <a:pPr indent="0" marL="0">
              <a:buNone/>
            </a:pPr>
            <a:r>
              <a:rPr sz="1320">
                <a:solidFill>
                  <a:srgbClr val="273142"/>
                </a:solidFill>
                <a:latin typeface="Arial"/>
              </a:rPr>
              <a:t>Small Barcelona-centered N + 11 relative features favor regularization. Tree models added variance and did not improve future-season RPS.</a:t>
            </a:r>
            <a:endParaRPr lang="en-US" sz="920" dirty="0"/>
          </a:p>
        </p:txBody>
      </p:sp>
      <p:sp>
        <p:nvSpPr>
          <p:cNvPr id="20" name="Shape 17"/>
          <p:cNvSpPr/>
          <p:nvPr/>
        </p:nvSpPr>
        <p:spPr>
          <a:xfrm>
            <a:off x="7424928" y="5504688"/>
            <a:ext cx="4160520" cy="566928"/>
          </a:xfrm>
          <a:prstGeom prst="roundRect">
            <a:avLst>
              <a:gd name="adj" fmla="val 9677"/>
            </a:avLst>
          </a:prstGeom>
          <a:solidFill>
            <a:srgbClr val="E9F8F3"/>
          </a:solidFill>
          <a:ln w="12700">
            <a:solidFill>
              <a:srgbClr val="E9F8F3"/>
            </a:solidFill>
            <a:prstDash val="solid"/>
          </a:ln>
        </p:spPr>
      </p:sp>
      <p:sp>
        <p:nvSpPr>
          <p:cNvPr id="21" name="Shape 18"/>
          <p:cNvSpPr/>
          <p:nvPr/>
        </p:nvSpPr>
        <p:spPr>
          <a:xfrm>
            <a:off x="7424928" y="5504688"/>
            <a:ext cx="91440" cy="566928"/>
          </a:xfrm>
          <a:prstGeom prst="rect">
            <a:avLst/>
          </a:prstGeom>
          <a:solidFill>
            <a:srgbClr val="0B8F6A"/>
          </a:solidFill>
          <a:ln w="12700">
            <a:solidFill>
              <a:srgbClr val="0B8F6A"/>
            </a:solidFill>
            <a:prstDash val="solid"/>
          </a:ln>
        </p:spPr>
      </p:sp>
      <p:sp>
        <p:nvSpPr>
          <p:cNvPr id="22" name="Text 19"/>
          <p:cNvSpPr/>
          <p:nvPr/>
        </p:nvSpPr>
        <p:spPr>
          <a:xfrm>
            <a:off x="7644384" y="5623560"/>
            <a:ext cx="3794760" cy="219456"/>
          </a:xfrm>
          <a:prstGeom prst="rect">
            <a:avLst/>
          </a:prstGeom>
          <a:noFill/>
          <a:ln/>
        </p:spPr>
        <p:txBody>
          <a:bodyPr wrap="square" lIns="0" tIns="0" rIns="0" bIns="0" rtlCol="0" anchor="ctr">
            <a:normAutofit/>
          </a:bodyPr>
          <a:lstStyle/>
          <a:p>
            <a:pPr indent="0" marL="0">
              <a:buNone/>
            </a:pPr>
            <a:r>
              <a:rPr sz="1050" b="1">
                <a:solidFill>
                  <a:srgbClr val="0B1220"/>
                </a:solidFill>
                <a:latin typeface="Arial"/>
              </a:rPr>
              <a:t>Takeaway</a:t>
            </a:r>
            <a:endParaRPr lang="en-US" sz="1050" dirty="0"/>
          </a:p>
        </p:txBody>
      </p:sp>
      <p:sp>
        <p:nvSpPr>
          <p:cNvPr id="23" name="Text 20"/>
          <p:cNvSpPr/>
          <p:nvPr/>
        </p:nvSpPr>
        <p:spPr>
          <a:xfrm>
            <a:off x="7644384" y="5897880"/>
            <a:ext cx="3776472" cy="73152"/>
          </a:xfrm>
          <a:prstGeom prst="rect">
            <a:avLst/>
          </a:prstGeom>
          <a:noFill/>
          <a:ln/>
        </p:spPr>
        <p:txBody>
          <a:bodyPr wrap="square" lIns="0" tIns="0" rIns="0" bIns="0" rtlCol="0" anchor="ctr">
            <a:normAutofit/>
          </a:bodyPr>
          <a:lstStyle/>
          <a:p>
            <a:pPr indent="0" marL="0">
              <a:buNone/>
            </a:pPr>
            <a:r>
              <a:rPr sz="1320">
                <a:solidFill>
                  <a:srgbClr val="273142"/>
                </a:solidFill>
                <a:latin typeface="Arial"/>
              </a:rPr>
              <a:t>Same top-1 accuracy as the market on the exact 33 matches, but better RPS, Log Loss and ECE. Scope remains small.</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10</a:t>
            </a:fld>
            <a:endParaRPr lang="en-US"/>
          </a:p>
        </p:txBody>
      </p:sp>
      <p:pic>
        <p:nvPicPr>
          <p:cNvPr id="26" name="Picture 25" descr="walk_forward_cumulative_rps.png"/>
          <p:cNvPicPr>
            <a:picLocks noChangeAspect="1"/>
          </p:cNvPicPr>
          <p:nvPr/>
        </p:nvPicPr>
        <p:blipFill>
          <a:blip r:embed="rId4"/>
          <a:stretch>
            <a:fillRect/>
          </a:stretch>
        </p:blipFill>
        <p:spPr>
          <a:xfrm>
            <a:off x="685800" y="1548639"/>
            <a:ext cx="6400800" cy="378815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10 · RESULTS</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sz="2500" b="1">
                <a:solidFill>
                  <a:srgbClr val="0B1220"/>
                </a:solidFill>
                <a:latin typeface="Arial"/>
              </a:rPr>
              <a:t>Pre-match goal-margin regression</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sz="1400">
                <a:solidFill>
                  <a:srgbClr val="5B6577"/>
                </a:solidFill>
                <a:latin typeface="Arial"/>
              </a:rPr>
              <a:t>SVR_RBF minimizes development MAE; final reporting uses the harder game-by-game protocol.</a:t>
            </a:r>
            <a:endParaRPr lang="en-US" sz="1050" dirty="0"/>
          </a:p>
        </p:txBody>
      </p:sp>
      <p:sp>
        <p:nvSpPr>
          <p:cNvPr id="5" name="Shape 3"/>
          <p:cNvSpPr/>
          <p:nvPr/>
        </p:nvSpPr>
        <p:spPr>
          <a:xfrm>
            <a:off x="594360" y="1426464"/>
            <a:ext cx="6949440" cy="4526280"/>
          </a:xfrm>
          <a:prstGeom prst="roundRect">
            <a:avLst>
              <a:gd name="adj" fmla="val 1010"/>
            </a:avLst>
          </a:prstGeom>
          <a:solidFill>
            <a:srgbClr val="FFFFFF"/>
          </a:solidFill>
          <a:ln w="10160">
            <a:solidFill>
              <a:srgbClr val="DDE5EA"/>
            </a:solidFill>
            <a:prstDash val="solid"/>
          </a:ln>
          <a:effectLst>
            <a:outerShdw sx="100000" sy="100000" kx="0" ky="0" algn="bl" rotWithShape="0" blurRad="2.5775566814493618e+250" dist="8.591855604831208e+249" dir="1.3195893054786106e+293">
              <a:srgbClr val="000000">
                <a:alpha val="1.4000000000000003e+304"/>
              </a:srgbClr>
            </a:outerShdw>
          </a:effectLst>
        </p:spPr>
      </p:sp>
      <p:sp>
        <p:nvSpPr>
          <p:cNvPr id="7" name="Text 4"/>
          <p:cNvSpPr/>
          <p:nvPr/>
        </p:nvSpPr>
        <p:spPr>
          <a:xfrm>
            <a:off x="758952" y="5650992"/>
            <a:ext cx="6620256" cy="164592"/>
          </a:xfrm>
          <a:prstGeom prst="rect">
            <a:avLst/>
          </a:prstGeom>
          <a:noFill/>
          <a:ln/>
        </p:spPr>
        <p:txBody>
          <a:bodyPr wrap="square" lIns="0" tIns="0" rIns="0" bIns="0" rtlCol="0" anchor="ctr">
            <a:normAutofit/>
          </a:bodyPr>
          <a:lstStyle/>
          <a:p>
            <a:pPr algn="ctr" indent="0" marL="0">
              <a:buNone/>
            </a:pPr>
            <a:r>
              <a:rPr sz="780" i="1">
                <a:solidFill>
                  <a:srgbClr val="5B6577"/>
                </a:solidFill>
                <a:latin typeface="Arial"/>
              </a:rPr>
              <a:t>Mean MAE across the two future-season development folds.</a:t>
            </a:r>
            <a:endParaRPr lang="en-US" sz="780" dirty="0"/>
          </a:p>
        </p:txBody>
      </p:sp>
      <p:sp>
        <p:nvSpPr>
          <p:cNvPr id="8" name="Shape 5"/>
          <p:cNvSpPr/>
          <p:nvPr/>
        </p:nvSpPr>
        <p:spPr>
          <a:xfrm>
            <a:off x="7790688" y="1481328"/>
            <a:ext cx="3584448" cy="1335024"/>
          </a:xfrm>
          <a:prstGeom prst="roundRect">
            <a:avLst>
              <a:gd name="adj" fmla="val 5479"/>
            </a:avLst>
          </a:prstGeom>
          <a:solidFill>
            <a:srgbClr val="FFFFFF"/>
          </a:solidFill>
          <a:ln w="10160">
            <a:solidFill>
              <a:srgbClr val="DDE5EA"/>
            </a:solidFill>
            <a:prstDash val="solid"/>
          </a:ln>
        </p:spPr>
      </p:sp>
      <p:sp>
        <p:nvSpPr>
          <p:cNvPr id="9" name="Shape 6"/>
          <p:cNvSpPr/>
          <p:nvPr/>
        </p:nvSpPr>
        <p:spPr>
          <a:xfrm>
            <a:off x="7790688" y="1481328"/>
            <a:ext cx="73152" cy="1335024"/>
          </a:xfrm>
          <a:prstGeom prst="rect">
            <a:avLst/>
          </a:prstGeom>
          <a:solidFill>
            <a:srgbClr val="0B8F6A"/>
          </a:solidFill>
          <a:ln w="12700">
            <a:solidFill>
              <a:srgbClr val="0B8F6A"/>
            </a:solidFill>
            <a:prstDash val="solid"/>
          </a:ln>
        </p:spPr>
      </p:sp>
      <p:sp>
        <p:nvSpPr>
          <p:cNvPr id="10" name="Text 7"/>
          <p:cNvSpPr/>
          <p:nvPr/>
        </p:nvSpPr>
        <p:spPr>
          <a:xfrm>
            <a:off x="7991856" y="1627632"/>
            <a:ext cx="3236976" cy="256032"/>
          </a:xfrm>
          <a:prstGeom prst="rect">
            <a:avLst/>
          </a:prstGeom>
          <a:noFill/>
          <a:ln/>
        </p:spPr>
        <p:txBody>
          <a:bodyPr wrap="square" lIns="0" tIns="0" rIns="0" bIns="0" rtlCol="0" anchor="ctr">
            <a:normAutofit/>
          </a:bodyPr>
          <a:lstStyle/>
          <a:p>
            <a:pPr indent="0" marL="0">
              <a:buNone/>
            </a:pPr>
            <a:r>
              <a:rPr sz="1100" b="1">
                <a:solidFill>
                  <a:srgbClr val="0B1220"/>
                </a:solidFill>
                <a:latin typeface="Arial"/>
              </a:rPr>
              <a:t>Development selection</a:t>
            </a:r>
            <a:endParaRPr lang="en-US" sz="1100" dirty="0"/>
          </a:p>
        </p:txBody>
      </p:sp>
      <p:sp>
        <p:nvSpPr>
          <p:cNvPr id="11" name="Text 8"/>
          <p:cNvSpPr/>
          <p:nvPr/>
        </p:nvSpPr>
        <p:spPr>
          <a:xfrm>
            <a:off x="7991856" y="1956816"/>
            <a:ext cx="3218688" cy="740664"/>
          </a:xfrm>
          <a:prstGeom prst="rect">
            <a:avLst/>
          </a:prstGeom>
          <a:noFill/>
          <a:ln/>
        </p:spPr>
        <p:txBody>
          <a:bodyPr wrap="square" lIns="0" tIns="0" rIns="0" bIns="0" rtlCol="0" anchor="t">
            <a:normAutofit/>
          </a:bodyPr>
          <a:lstStyle/>
          <a:p>
            <a:pPr indent="0" marL="0">
              <a:buNone/>
            </a:pPr>
            <a:r>
              <a:rPr sz="1340">
                <a:solidFill>
                  <a:srgbClr val="273142"/>
                </a:solidFill>
                <a:latin typeface="Arial"/>
              </a:rPr>
              <a:t>SVR 1.246 · Kernel Ridge 1.262 · Random Forest 1.291 · GBM 1.327 · FIGS 1.633 · Dummy 1.656</a:t>
            </a:r>
            <a:endParaRPr lang="en-US" sz="1000" dirty="0"/>
          </a:p>
        </p:txBody>
      </p:sp>
      <p:sp>
        <p:nvSpPr>
          <p:cNvPr id="12" name="Shape 9"/>
          <p:cNvSpPr/>
          <p:nvPr/>
        </p:nvSpPr>
        <p:spPr>
          <a:xfrm>
            <a:off x="7790688" y="3035808"/>
            <a:ext cx="3584448" cy="1417320"/>
          </a:xfrm>
          <a:prstGeom prst="roundRect">
            <a:avLst>
              <a:gd name="adj" fmla="val 5161"/>
            </a:avLst>
          </a:prstGeom>
          <a:solidFill>
            <a:srgbClr val="FFF5D8"/>
          </a:solidFill>
          <a:ln w="10160">
            <a:solidFill>
              <a:srgbClr val="DDE5EA"/>
            </a:solidFill>
            <a:prstDash val="solid"/>
          </a:ln>
        </p:spPr>
      </p:sp>
      <p:sp>
        <p:nvSpPr>
          <p:cNvPr id="13" name="Shape 10"/>
          <p:cNvSpPr/>
          <p:nvPr/>
        </p:nvSpPr>
        <p:spPr>
          <a:xfrm>
            <a:off x="7790688" y="3035808"/>
            <a:ext cx="73152" cy="1417320"/>
          </a:xfrm>
          <a:prstGeom prst="rect">
            <a:avLst/>
          </a:prstGeom>
          <a:solidFill>
            <a:srgbClr val="F4B942"/>
          </a:solidFill>
          <a:ln w="12700">
            <a:solidFill>
              <a:srgbClr val="F4B942"/>
            </a:solidFill>
            <a:prstDash val="solid"/>
          </a:ln>
        </p:spPr>
      </p:sp>
      <p:sp>
        <p:nvSpPr>
          <p:cNvPr id="14" name="Text 11"/>
          <p:cNvSpPr/>
          <p:nvPr/>
        </p:nvSpPr>
        <p:spPr>
          <a:xfrm>
            <a:off x="7991856" y="3182112"/>
            <a:ext cx="3236976" cy="256032"/>
          </a:xfrm>
          <a:prstGeom prst="rect">
            <a:avLst/>
          </a:prstGeom>
          <a:noFill/>
          <a:ln/>
        </p:spPr>
        <p:txBody>
          <a:bodyPr wrap="square" lIns="0" tIns="0" rIns="0" bIns="0" rtlCol="0" anchor="ctr">
            <a:normAutofit/>
          </a:bodyPr>
          <a:lstStyle/>
          <a:p>
            <a:pPr indent="0" marL="0">
              <a:buNone/>
            </a:pPr>
            <a:r>
              <a:rPr sz="1100" b="1">
                <a:solidFill>
                  <a:srgbClr val="0B1220"/>
                </a:solidFill>
                <a:latin typeface="Arial"/>
              </a:rPr>
              <a:t>Final 2020/21 · every-match update</a:t>
            </a:r>
            <a:endParaRPr lang="en-US" sz="1100" dirty="0"/>
          </a:p>
        </p:txBody>
      </p:sp>
      <p:sp>
        <p:nvSpPr>
          <p:cNvPr id="15" name="Text 12"/>
          <p:cNvSpPr/>
          <p:nvPr/>
        </p:nvSpPr>
        <p:spPr>
          <a:xfrm>
            <a:off x="7991856" y="3511296"/>
            <a:ext cx="3218688" cy="822960"/>
          </a:xfrm>
          <a:prstGeom prst="rect">
            <a:avLst/>
          </a:prstGeom>
          <a:noFill/>
          <a:ln/>
        </p:spPr>
        <p:txBody>
          <a:bodyPr wrap="square" lIns="0" tIns="0" rIns="0" bIns="0" rtlCol="0" anchor="t">
            <a:normAutofit/>
          </a:bodyPr>
          <a:lstStyle/>
          <a:p>
            <a:pPr indent="0" marL="0">
              <a:buNone/>
            </a:pPr>
            <a:r>
              <a:rPr sz="1380">
                <a:solidFill>
                  <a:srgbClr val="273142"/>
                </a:solidFill>
                <a:latin typeface="Arial"/>
              </a:rPr>
              <a:t>SVR_RBF: MAE 1.566 · RMSE 1.885 · correlation 0.523 on 33 prequential predictions.</a:t>
            </a:r>
            <a:endParaRPr lang="en-US" sz="970" dirty="0"/>
          </a:p>
        </p:txBody>
      </p:sp>
      <p:sp>
        <p:nvSpPr>
          <p:cNvPr id="16" name="Shape 13"/>
          <p:cNvSpPr/>
          <p:nvPr/>
        </p:nvSpPr>
        <p:spPr>
          <a:xfrm>
            <a:off x="7790688" y="4709160"/>
            <a:ext cx="3584448" cy="932688"/>
          </a:xfrm>
          <a:prstGeom prst="roundRect">
            <a:avLst>
              <a:gd name="adj" fmla="val 5882"/>
            </a:avLst>
          </a:prstGeom>
          <a:solidFill>
            <a:srgbClr val="FFF5D8"/>
          </a:solidFill>
          <a:ln w="12700">
            <a:solidFill>
              <a:srgbClr val="FFF5D8"/>
            </a:solidFill>
            <a:prstDash val="solid"/>
          </a:ln>
        </p:spPr>
      </p:sp>
      <p:sp>
        <p:nvSpPr>
          <p:cNvPr id="17" name="Shape 14"/>
          <p:cNvSpPr/>
          <p:nvPr/>
        </p:nvSpPr>
        <p:spPr>
          <a:xfrm>
            <a:off x="7790688" y="4709160"/>
            <a:ext cx="91440" cy="932688"/>
          </a:xfrm>
          <a:prstGeom prst="rect">
            <a:avLst/>
          </a:prstGeom>
          <a:solidFill>
            <a:srgbClr val="F4B942"/>
          </a:solidFill>
          <a:ln w="12700">
            <a:solidFill>
              <a:srgbClr val="F4B942"/>
            </a:solidFill>
            <a:prstDash val="solid"/>
          </a:ln>
        </p:spPr>
      </p:sp>
      <p:sp>
        <p:nvSpPr>
          <p:cNvPr id="18" name="Text 15"/>
          <p:cNvSpPr/>
          <p:nvPr/>
        </p:nvSpPr>
        <p:spPr>
          <a:xfrm>
            <a:off x="8010144" y="4828032"/>
            <a:ext cx="3218688" cy="219456"/>
          </a:xfrm>
          <a:prstGeom prst="rect">
            <a:avLst/>
          </a:prstGeom>
          <a:noFill/>
          <a:ln/>
        </p:spPr>
        <p:txBody>
          <a:bodyPr wrap="square" lIns="0" tIns="0" rIns="0" bIns="0" rtlCol="0" anchor="ctr">
            <a:normAutofit/>
          </a:bodyPr>
          <a:lstStyle/>
          <a:p>
            <a:pPr indent="0" marL="0">
              <a:buNone/>
            </a:pPr>
            <a:r>
              <a:rPr sz="1050" b="1">
                <a:solidFill>
                  <a:srgbClr val="0B1220"/>
                </a:solidFill>
                <a:latin typeface="Arial"/>
              </a:rPr>
              <a:t>Interpretation</a:t>
            </a:r>
            <a:endParaRPr lang="en-US" sz="1050" dirty="0"/>
          </a:p>
        </p:txBody>
      </p:sp>
      <p:sp>
        <p:nvSpPr>
          <p:cNvPr id="19" name="Text 16"/>
          <p:cNvSpPr/>
          <p:nvPr/>
        </p:nvSpPr>
        <p:spPr>
          <a:xfrm>
            <a:off x="8010144" y="5102352"/>
            <a:ext cx="3200400" cy="438912"/>
          </a:xfrm>
          <a:prstGeom prst="rect">
            <a:avLst/>
          </a:prstGeom>
          <a:noFill/>
          <a:ln/>
        </p:spPr>
        <p:txBody>
          <a:bodyPr wrap="square" lIns="0" tIns="0" rIns="0" bIns="0" rtlCol="0" anchor="ctr">
            <a:normAutofit/>
          </a:bodyPr>
          <a:lstStyle/>
          <a:p>
            <a:pPr indent="0" marL="0">
              <a:buNone/>
            </a:pPr>
            <a:r>
              <a:rPr sz="1340">
                <a:solidFill>
                  <a:srgbClr val="273142"/>
                </a:solidFill>
                <a:latin typeface="Arial"/>
              </a:rPr>
              <a:t>We report the harder prequential number instead of cherry-picking the old static 0.452 MAE result. Regression remains a clear improvement target.</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11</a:t>
            </a:fld>
            <a:endParaRPr lang="en-US"/>
          </a:p>
        </p:txBody>
      </p:sp>
      <p:pic>
        <p:nvPicPr>
          <p:cNvPr id="26" name="Picture 25" descr="regression_mae_final.png"/>
          <p:cNvPicPr>
            <a:picLocks noChangeAspect="1"/>
          </p:cNvPicPr>
          <p:nvPr/>
        </p:nvPicPr>
        <p:blipFill>
          <a:blip r:embed="rId4"/>
          <a:stretch>
            <a:fillRect/>
          </a:stretch>
        </p:blipFill>
        <p:spPr>
          <a:xfrm>
            <a:off x="888185" y="1517904"/>
            <a:ext cx="6361791" cy="408736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11 · CALIBRATION</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sz="2500" b="1">
                <a:solidFill>
                  <a:srgbClr val="0B1220"/>
                </a:solidFill>
                <a:latin typeface="Arial"/>
              </a:rPr>
              <a:t>Calibration: measured, not assumed</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sz="1400">
                <a:solidFill>
                  <a:srgbClr val="5B6577"/>
                </a:solidFill>
                <a:latin typeface="Arial"/>
              </a:rPr>
              <a:t>For the selected Logistic model, sigmoid calibration made development RPS/ECE worse.</a:t>
            </a:r>
            <a:endParaRPr lang="en-US" sz="1050" dirty="0"/>
          </a:p>
        </p:txBody>
      </p:sp>
      <p:sp>
        <p:nvSpPr>
          <p:cNvPr id="5" name="Shape 3"/>
          <p:cNvSpPr/>
          <p:nvPr/>
        </p:nvSpPr>
        <p:spPr>
          <a:xfrm>
            <a:off x="594360" y="1417320"/>
            <a:ext cx="6583680" cy="4526280"/>
          </a:xfrm>
          <a:prstGeom prst="roundRect">
            <a:avLst>
              <a:gd name="adj" fmla="val 1010"/>
            </a:avLst>
          </a:prstGeom>
          <a:solidFill>
            <a:srgbClr val="FFFFFF"/>
          </a:solidFill>
          <a:ln w="10160">
            <a:solidFill>
              <a:srgbClr val="DDE5EA"/>
            </a:solidFill>
            <a:prstDash val="solid"/>
          </a:ln>
        </p:spPr>
      </p:sp>
      <p:sp>
        <p:nvSpPr>
          <p:cNvPr id="7" name="Text 4"/>
          <p:cNvSpPr/>
          <p:nvPr/>
        </p:nvSpPr>
        <p:spPr>
          <a:xfrm>
            <a:off x="758952" y="5641848"/>
            <a:ext cx="6254496" cy="164592"/>
          </a:xfrm>
          <a:prstGeom prst="rect">
            <a:avLst/>
          </a:prstGeom>
          <a:noFill/>
          <a:ln/>
        </p:spPr>
        <p:txBody>
          <a:bodyPr wrap="square" lIns="0" tIns="0" rIns="0" bIns="0" rtlCol="0" anchor="ctr">
            <a:normAutofit/>
          </a:bodyPr>
          <a:lstStyle/>
          <a:p>
            <a:pPr algn="ctr" indent="0" marL="0">
              <a:buNone/>
            </a:pPr>
            <a:r>
              <a:rPr sz="780" i="1">
                <a:solidFill>
                  <a:srgbClr val="5B6577"/>
                </a:solidFill>
                <a:latin typeface="Arial"/>
              </a:rPr>
              <a:t>Uncalibrated vs sigmoid on future-season development folds.</a:t>
            </a:r>
            <a:endParaRPr lang="en-US" sz="780" dirty="0"/>
          </a:p>
        </p:txBody>
      </p:sp>
      <p:sp>
        <p:nvSpPr>
          <p:cNvPr id="8" name="Shape 5"/>
          <p:cNvSpPr/>
          <p:nvPr/>
        </p:nvSpPr>
        <p:spPr>
          <a:xfrm>
            <a:off x="7498080" y="1600200"/>
            <a:ext cx="1828800" cy="960120"/>
          </a:xfrm>
          <a:prstGeom prst="roundRect">
            <a:avLst>
              <a:gd name="adj" fmla="val 7619"/>
            </a:avLst>
          </a:prstGeom>
          <a:solidFill>
            <a:srgbClr val="FFFFFF"/>
          </a:solidFill>
          <a:ln w="10160">
            <a:solidFill>
              <a:srgbClr val="DDE5EA"/>
            </a:solidFill>
            <a:prstDash val="solid"/>
          </a:ln>
        </p:spPr>
      </p:sp>
      <p:sp>
        <p:nvSpPr>
          <p:cNvPr id="9" name="Shape 6"/>
          <p:cNvSpPr/>
          <p:nvPr/>
        </p:nvSpPr>
        <p:spPr>
          <a:xfrm>
            <a:off x="7498080" y="1600200"/>
            <a:ext cx="73152" cy="960120"/>
          </a:xfrm>
          <a:prstGeom prst="rect">
            <a:avLst/>
          </a:prstGeom>
          <a:solidFill>
            <a:srgbClr val="F4B942"/>
          </a:solidFill>
          <a:ln w="12700">
            <a:solidFill>
              <a:srgbClr val="F4B942"/>
            </a:solidFill>
            <a:prstDash val="solid"/>
          </a:ln>
        </p:spPr>
      </p:sp>
      <p:sp>
        <p:nvSpPr>
          <p:cNvPr id="10" name="Text 7"/>
          <p:cNvSpPr/>
          <p:nvPr/>
        </p:nvSpPr>
        <p:spPr>
          <a:xfrm>
            <a:off x="7680960" y="1746504"/>
            <a:ext cx="1554480" cy="365760"/>
          </a:xfrm>
          <a:prstGeom prst="rect">
            <a:avLst/>
          </a:prstGeom>
          <a:noFill/>
          <a:ln/>
        </p:spPr>
        <p:txBody>
          <a:bodyPr wrap="square" lIns="0" tIns="0" rIns="0" bIns="0" rtlCol="0" anchor="ctr">
            <a:normAutofit/>
          </a:bodyPr>
          <a:lstStyle/>
          <a:p>
            <a:pPr algn="ctr" indent="0" marL="0">
              <a:buNone/>
            </a:pPr>
            <a:r>
              <a:rPr sz="2300" b="1">
                <a:solidFill>
                  <a:srgbClr val="0B1220"/>
                </a:solidFill>
                <a:latin typeface="Arial"/>
              </a:rPr>
              <a:t>0.1504</a:t>
            </a:r>
            <a:endParaRPr lang="en-US" sz="2300" dirty="0"/>
          </a:p>
        </p:txBody>
      </p:sp>
      <p:sp>
        <p:nvSpPr>
          <p:cNvPr id="11" name="Text 8"/>
          <p:cNvSpPr/>
          <p:nvPr/>
        </p:nvSpPr>
        <p:spPr>
          <a:xfrm>
            <a:off x="7644384" y="2185416"/>
            <a:ext cx="1609344" cy="182880"/>
          </a:xfrm>
          <a:prstGeom prst="rect">
            <a:avLst/>
          </a:prstGeom>
          <a:noFill/>
          <a:ln/>
        </p:spPr>
        <p:txBody>
          <a:bodyPr wrap="square" lIns="0" tIns="0" rIns="0" bIns="0" rtlCol="0" anchor="ctr">
            <a:normAutofit/>
          </a:bodyPr>
          <a:lstStyle/>
          <a:p>
            <a:pPr algn="ctr" indent="0" marL="0">
              <a:buNone/>
            </a:pPr>
            <a:r>
              <a:rPr sz="850" b="1">
                <a:solidFill>
                  <a:srgbClr val="5B6577"/>
                </a:solidFill>
                <a:latin typeface="Arial"/>
              </a:rPr>
              <a:t>RPS uncal · 2018/19</a:t>
            </a:r>
            <a:endParaRPr lang="en-US" sz="850" dirty="0"/>
          </a:p>
        </p:txBody>
      </p:sp>
      <p:sp>
        <p:nvSpPr>
          <p:cNvPr id="12" name="Shape 9"/>
          <p:cNvSpPr/>
          <p:nvPr/>
        </p:nvSpPr>
        <p:spPr>
          <a:xfrm>
            <a:off x="9528048" y="1600200"/>
            <a:ext cx="1828800" cy="960120"/>
          </a:xfrm>
          <a:prstGeom prst="roundRect">
            <a:avLst>
              <a:gd name="adj" fmla="val 7619"/>
            </a:avLst>
          </a:prstGeom>
          <a:solidFill>
            <a:srgbClr val="FFFFFF"/>
          </a:solidFill>
          <a:ln w="10160">
            <a:solidFill>
              <a:srgbClr val="DDE5EA"/>
            </a:solidFill>
            <a:prstDash val="solid"/>
          </a:ln>
        </p:spPr>
      </p:sp>
      <p:sp>
        <p:nvSpPr>
          <p:cNvPr id="13" name="Shape 10"/>
          <p:cNvSpPr/>
          <p:nvPr/>
        </p:nvSpPr>
        <p:spPr>
          <a:xfrm>
            <a:off x="9528048" y="1600200"/>
            <a:ext cx="73152" cy="960120"/>
          </a:xfrm>
          <a:prstGeom prst="rect">
            <a:avLst/>
          </a:prstGeom>
          <a:solidFill>
            <a:srgbClr val="0B8F6A"/>
          </a:solidFill>
          <a:ln w="12700">
            <a:solidFill>
              <a:srgbClr val="0B8F6A"/>
            </a:solidFill>
            <a:prstDash val="solid"/>
          </a:ln>
        </p:spPr>
      </p:sp>
      <p:sp>
        <p:nvSpPr>
          <p:cNvPr id="14" name="Text 11"/>
          <p:cNvSpPr/>
          <p:nvPr/>
        </p:nvSpPr>
        <p:spPr>
          <a:xfrm>
            <a:off x="9710928" y="1746504"/>
            <a:ext cx="1554480" cy="365760"/>
          </a:xfrm>
          <a:prstGeom prst="rect">
            <a:avLst/>
          </a:prstGeom>
          <a:noFill/>
          <a:ln/>
        </p:spPr>
        <p:txBody>
          <a:bodyPr wrap="square" lIns="0" tIns="0" rIns="0" bIns="0" rtlCol="0" anchor="ctr">
            <a:normAutofit/>
          </a:bodyPr>
          <a:lstStyle/>
          <a:p>
            <a:pPr algn="ctr" indent="0" marL="0">
              <a:buNone/>
            </a:pPr>
            <a:r>
              <a:rPr sz="2300" b="1">
                <a:solidFill>
                  <a:srgbClr val="0B1220"/>
                </a:solidFill>
                <a:latin typeface="Arial"/>
              </a:rPr>
              <a:t>0.1759</a:t>
            </a:r>
            <a:endParaRPr lang="en-US" sz="2300" dirty="0"/>
          </a:p>
        </p:txBody>
      </p:sp>
      <p:sp>
        <p:nvSpPr>
          <p:cNvPr id="15" name="Text 12"/>
          <p:cNvSpPr/>
          <p:nvPr/>
        </p:nvSpPr>
        <p:spPr>
          <a:xfrm>
            <a:off x="9674352" y="2185416"/>
            <a:ext cx="1609344" cy="182880"/>
          </a:xfrm>
          <a:prstGeom prst="rect">
            <a:avLst/>
          </a:prstGeom>
          <a:noFill/>
          <a:ln/>
        </p:spPr>
        <p:txBody>
          <a:bodyPr wrap="square" lIns="0" tIns="0" rIns="0" bIns="0" rtlCol="0" anchor="ctr">
            <a:normAutofit/>
          </a:bodyPr>
          <a:lstStyle/>
          <a:p>
            <a:pPr algn="ctr" indent="0" marL="0">
              <a:buNone/>
            </a:pPr>
            <a:r>
              <a:rPr sz="850" b="1">
                <a:solidFill>
                  <a:srgbClr val="5B6577"/>
                </a:solidFill>
                <a:latin typeface="Arial"/>
              </a:rPr>
              <a:t>RPS sigmoid · worse</a:t>
            </a:r>
            <a:endParaRPr lang="en-US" sz="850" dirty="0"/>
          </a:p>
        </p:txBody>
      </p:sp>
      <p:sp>
        <p:nvSpPr>
          <p:cNvPr id="16" name="Shape 13"/>
          <p:cNvSpPr/>
          <p:nvPr/>
        </p:nvSpPr>
        <p:spPr>
          <a:xfrm>
            <a:off x="7498080" y="2834640"/>
            <a:ext cx="1828800" cy="960120"/>
          </a:xfrm>
          <a:prstGeom prst="roundRect">
            <a:avLst>
              <a:gd name="adj" fmla="val 7619"/>
            </a:avLst>
          </a:prstGeom>
          <a:solidFill>
            <a:srgbClr val="FFFFFF"/>
          </a:solidFill>
          <a:ln w="10160">
            <a:solidFill>
              <a:srgbClr val="DDE5EA"/>
            </a:solidFill>
            <a:prstDash val="solid"/>
          </a:ln>
        </p:spPr>
      </p:sp>
      <p:sp>
        <p:nvSpPr>
          <p:cNvPr id="17" name="Shape 14"/>
          <p:cNvSpPr/>
          <p:nvPr/>
        </p:nvSpPr>
        <p:spPr>
          <a:xfrm>
            <a:off x="7498080" y="2834640"/>
            <a:ext cx="73152" cy="960120"/>
          </a:xfrm>
          <a:prstGeom prst="rect">
            <a:avLst/>
          </a:prstGeom>
          <a:solidFill>
            <a:srgbClr val="F4B942"/>
          </a:solidFill>
          <a:ln w="12700">
            <a:solidFill>
              <a:srgbClr val="F4B942"/>
            </a:solidFill>
            <a:prstDash val="solid"/>
          </a:ln>
        </p:spPr>
      </p:sp>
      <p:sp>
        <p:nvSpPr>
          <p:cNvPr id="18" name="Text 15"/>
          <p:cNvSpPr/>
          <p:nvPr/>
        </p:nvSpPr>
        <p:spPr>
          <a:xfrm>
            <a:off x="7680960" y="2980944"/>
            <a:ext cx="1554480" cy="365760"/>
          </a:xfrm>
          <a:prstGeom prst="rect">
            <a:avLst/>
          </a:prstGeom>
          <a:noFill/>
          <a:ln/>
        </p:spPr>
        <p:txBody>
          <a:bodyPr wrap="square" lIns="0" tIns="0" rIns="0" bIns="0" rtlCol="0" anchor="ctr">
            <a:normAutofit/>
          </a:bodyPr>
          <a:lstStyle/>
          <a:p>
            <a:pPr algn="ctr" indent="0" marL="0">
              <a:buNone/>
            </a:pPr>
            <a:r>
              <a:rPr sz="2300" b="1">
                <a:solidFill>
                  <a:srgbClr val="0B1220"/>
                </a:solidFill>
                <a:latin typeface="Arial"/>
              </a:rPr>
              <a:t>0.1413</a:t>
            </a:r>
            <a:endParaRPr lang="en-US" sz="2300" dirty="0"/>
          </a:p>
        </p:txBody>
      </p:sp>
      <p:sp>
        <p:nvSpPr>
          <p:cNvPr id="19" name="Text 16"/>
          <p:cNvSpPr/>
          <p:nvPr/>
        </p:nvSpPr>
        <p:spPr>
          <a:xfrm>
            <a:off x="7644384" y="3419856"/>
            <a:ext cx="1609344" cy="182880"/>
          </a:xfrm>
          <a:prstGeom prst="rect">
            <a:avLst/>
          </a:prstGeom>
          <a:noFill/>
          <a:ln/>
        </p:spPr>
        <p:txBody>
          <a:bodyPr wrap="square" lIns="0" tIns="0" rIns="0" bIns="0" rtlCol="0" anchor="ctr">
            <a:normAutofit/>
          </a:bodyPr>
          <a:lstStyle/>
          <a:p>
            <a:pPr algn="ctr" indent="0" marL="0">
              <a:buNone/>
            </a:pPr>
            <a:r>
              <a:rPr sz="850" b="1">
                <a:solidFill>
                  <a:srgbClr val="5B6577"/>
                </a:solidFill>
                <a:latin typeface="Arial"/>
              </a:rPr>
              <a:t>RPS uncal · 2019/20</a:t>
            </a:r>
            <a:endParaRPr lang="en-US" sz="850" dirty="0"/>
          </a:p>
        </p:txBody>
      </p:sp>
      <p:sp>
        <p:nvSpPr>
          <p:cNvPr id="20" name="Shape 17"/>
          <p:cNvSpPr/>
          <p:nvPr/>
        </p:nvSpPr>
        <p:spPr>
          <a:xfrm>
            <a:off x="9528048" y="2834640"/>
            <a:ext cx="1828800" cy="960120"/>
          </a:xfrm>
          <a:prstGeom prst="roundRect">
            <a:avLst>
              <a:gd name="adj" fmla="val 7619"/>
            </a:avLst>
          </a:prstGeom>
          <a:solidFill>
            <a:srgbClr val="FFFFFF"/>
          </a:solidFill>
          <a:ln w="10160">
            <a:solidFill>
              <a:srgbClr val="DDE5EA"/>
            </a:solidFill>
            <a:prstDash val="solid"/>
          </a:ln>
        </p:spPr>
      </p:sp>
      <p:sp>
        <p:nvSpPr>
          <p:cNvPr id="21" name="Shape 18"/>
          <p:cNvSpPr/>
          <p:nvPr/>
        </p:nvSpPr>
        <p:spPr>
          <a:xfrm>
            <a:off x="9528048" y="2834640"/>
            <a:ext cx="73152" cy="960120"/>
          </a:xfrm>
          <a:prstGeom prst="rect">
            <a:avLst/>
          </a:prstGeom>
          <a:solidFill>
            <a:srgbClr val="0B8F6A"/>
          </a:solidFill>
          <a:ln w="12700">
            <a:solidFill>
              <a:srgbClr val="0B8F6A"/>
            </a:solidFill>
            <a:prstDash val="solid"/>
          </a:ln>
        </p:spPr>
      </p:sp>
      <p:sp>
        <p:nvSpPr>
          <p:cNvPr id="22" name="Text 19"/>
          <p:cNvSpPr/>
          <p:nvPr/>
        </p:nvSpPr>
        <p:spPr>
          <a:xfrm>
            <a:off x="9710928" y="2980944"/>
            <a:ext cx="1554480" cy="365760"/>
          </a:xfrm>
          <a:prstGeom prst="rect">
            <a:avLst/>
          </a:prstGeom>
          <a:noFill/>
          <a:ln/>
        </p:spPr>
        <p:txBody>
          <a:bodyPr wrap="square" lIns="0" tIns="0" rIns="0" bIns="0" rtlCol="0" anchor="ctr">
            <a:normAutofit/>
          </a:bodyPr>
          <a:lstStyle/>
          <a:p>
            <a:pPr algn="ctr" indent="0" marL="0">
              <a:buNone/>
            </a:pPr>
            <a:r>
              <a:rPr sz="2300" b="1">
                <a:solidFill>
                  <a:srgbClr val="0B1220"/>
                </a:solidFill>
                <a:latin typeface="Arial"/>
              </a:rPr>
              <a:t>0.1453</a:t>
            </a:r>
            <a:endParaRPr lang="en-US" sz="2300" dirty="0"/>
          </a:p>
        </p:txBody>
      </p:sp>
      <p:sp>
        <p:nvSpPr>
          <p:cNvPr id="23" name="Text 20"/>
          <p:cNvSpPr/>
          <p:nvPr/>
        </p:nvSpPr>
        <p:spPr>
          <a:xfrm>
            <a:off x="9674352" y="3419856"/>
            <a:ext cx="1609344" cy="182880"/>
          </a:xfrm>
          <a:prstGeom prst="rect">
            <a:avLst/>
          </a:prstGeom>
          <a:noFill/>
          <a:ln/>
        </p:spPr>
        <p:txBody>
          <a:bodyPr wrap="square" lIns="0" tIns="0" rIns="0" bIns="0" rtlCol="0" anchor="ctr">
            <a:normAutofit/>
          </a:bodyPr>
          <a:lstStyle/>
          <a:p>
            <a:pPr algn="ctr" indent="0" marL="0">
              <a:buNone/>
            </a:pPr>
            <a:r>
              <a:rPr sz="850" b="1">
                <a:solidFill>
                  <a:srgbClr val="5B6577"/>
                </a:solidFill>
                <a:latin typeface="Arial"/>
              </a:rPr>
              <a:t>RPS sigmoid · worse</a:t>
            </a:r>
            <a:endParaRPr lang="en-US" sz="850" dirty="0"/>
          </a:p>
        </p:txBody>
      </p:sp>
      <p:sp>
        <p:nvSpPr>
          <p:cNvPr id="24" name="Shape 21"/>
          <p:cNvSpPr/>
          <p:nvPr/>
        </p:nvSpPr>
        <p:spPr>
          <a:xfrm>
            <a:off x="7498080" y="4069080"/>
            <a:ext cx="1828800" cy="960120"/>
          </a:xfrm>
          <a:prstGeom prst="roundRect">
            <a:avLst>
              <a:gd name="adj" fmla="val 7619"/>
            </a:avLst>
          </a:prstGeom>
          <a:solidFill>
            <a:srgbClr val="FFFFFF"/>
          </a:solidFill>
          <a:ln w="10160">
            <a:solidFill>
              <a:srgbClr val="DDE5EA"/>
            </a:solidFill>
            <a:prstDash val="solid"/>
          </a:ln>
        </p:spPr>
      </p:sp>
      <p:sp>
        <p:nvSpPr>
          <p:cNvPr id="25" name="Shape 22"/>
          <p:cNvSpPr/>
          <p:nvPr/>
        </p:nvSpPr>
        <p:spPr>
          <a:xfrm>
            <a:off x="7498080" y="4069080"/>
            <a:ext cx="73152" cy="960120"/>
          </a:xfrm>
          <a:prstGeom prst="rect">
            <a:avLst/>
          </a:prstGeom>
          <a:solidFill>
            <a:srgbClr val="F4B942"/>
          </a:solidFill>
          <a:ln w="12700">
            <a:solidFill>
              <a:srgbClr val="F4B942"/>
            </a:solidFill>
            <a:prstDash val="solid"/>
          </a:ln>
        </p:spPr>
      </p:sp>
      <p:sp>
        <p:nvSpPr>
          <p:cNvPr id="26" name="Text 23"/>
          <p:cNvSpPr/>
          <p:nvPr/>
        </p:nvSpPr>
        <p:spPr>
          <a:xfrm>
            <a:off x="7680960" y="4215384"/>
            <a:ext cx="1554480" cy="365760"/>
          </a:xfrm>
          <a:prstGeom prst="rect">
            <a:avLst/>
          </a:prstGeom>
          <a:noFill/>
          <a:ln/>
        </p:spPr>
        <p:txBody>
          <a:bodyPr wrap="square" lIns="0" tIns="0" rIns="0" bIns="0" rtlCol="0" anchor="ctr">
            <a:normAutofit/>
          </a:bodyPr>
          <a:lstStyle/>
          <a:p>
            <a:pPr algn="ctr" indent="0" marL="0">
              <a:buNone/>
            </a:pPr>
            <a:r>
              <a:rPr sz="2300" b="1">
                <a:solidFill>
                  <a:srgbClr val="0B1220"/>
                </a:solidFill>
                <a:latin typeface="Arial"/>
              </a:rPr>
              <a:t>0.1305</a:t>
            </a:r>
            <a:endParaRPr lang="en-US" sz="2300" dirty="0"/>
          </a:p>
        </p:txBody>
      </p:sp>
      <p:sp>
        <p:nvSpPr>
          <p:cNvPr id="27" name="Text 24"/>
          <p:cNvSpPr/>
          <p:nvPr/>
        </p:nvSpPr>
        <p:spPr>
          <a:xfrm>
            <a:off x="7644384" y="4654296"/>
            <a:ext cx="1609344" cy="182880"/>
          </a:xfrm>
          <a:prstGeom prst="rect">
            <a:avLst/>
          </a:prstGeom>
          <a:noFill/>
          <a:ln/>
        </p:spPr>
        <p:txBody>
          <a:bodyPr wrap="square" lIns="0" tIns="0" rIns="0" bIns="0" rtlCol="0" anchor="ctr">
            <a:normAutofit/>
          </a:bodyPr>
          <a:lstStyle/>
          <a:p>
            <a:pPr algn="ctr" indent="0" marL="0">
              <a:buNone/>
            </a:pPr>
            <a:r>
              <a:rPr sz="850" b="1">
                <a:solidFill>
                  <a:srgbClr val="5B6577"/>
                </a:solidFill>
                <a:latin typeface="Arial"/>
              </a:rPr>
              <a:t>ECE uncal · 2019/20</a:t>
            </a:r>
            <a:endParaRPr lang="en-US" sz="850" dirty="0"/>
          </a:p>
        </p:txBody>
      </p:sp>
      <p:sp>
        <p:nvSpPr>
          <p:cNvPr id="28" name="Shape 25"/>
          <p:cNvSpPr/>
          <p:nvPr/>
        </p:nvSpPr>
        <p:spPr>
          <a:xfrm>
            <a:off x="9528048" y="4069080"/>
            <a:ext cx="1828800" cy="960120"/>
          </a:xfrm>
          <a:prstGeom prst="roundRect">
            <a:avLst>
              <a:gd name="adj" fmla="val 7619"/>
            </a:avLst>
          </a:prstGeom>
          <a:solidFill>
            <a:srgbClr val="FFFFFF"/>
          </a:solidFill>
          <a:ln w="10160">
            <a:solidFill>
              <a:srgbClr val="DDE5EA"/>
            </a:solidFill>
            <a:prstDash val="solid"/>
          </a:ln>
        </p:spPr>
      </p:sp>
      <p:sp>
        <p:nvSpPr>
          <p:cNvPr id="29" name="Shape 26"/>
          <p:cNvSpPr/>
          <p:nvPr/>
        </p:nvSpPr>
        <p:spPr>
          <a:xfrm>
            <a:off x="9528048" y="4069080"/>
            <a:ext cx="73152" cy="960120"/>
          </a:xfrm>
          <a:prstGeom prst="rect">
            <a:avLst/>
          </a:prstGeom>
          <a:solidFill>
            <a:srgbClr val="0B8F6A"/>
          </a:solidFill>
          <a:ln w="12700">
            <a:solidFill>
              <a:srgbClr val="0B8F6A"/>
            </a:solidFill>
            <a:prstDash val="solid"/>
          </a:ln>
        </p:spPr>
      </p:sp>
      <p:sp>
        <p:nvSpPr>
          <p:cNvPr id="30" name="Text 27"/>
          <p:cNvSpPr/>
          <p:nvPr/>
        </p:nvSpPr>
        <p:spPr>
          <a:xfrm>
            <a:off x="9710928" y="4215384"/>
            <a:ext cx="1554480" cy="365760"/>
          </a:xfrm>
          <a:prstGeom prst="rect">
            <a:avLst/>
          </a:prstGeom>
          <a:noFill/>
          <a:ln/>
        </p:spPr>
        <p:txBody>
          <a:bodyPr wrap="square" lIns="0" tIns="0" rIns="0" bIns="0" rtlCol="0" anchor="ctr">
            <a:normAutofit/>
          </a:bodyPr>
          <a:lstStyle/>
          <a:p>
            <a:pPr algn="ctr" indent="0" marL="0">
              <a:buNone/>
            </a:pPr>
            <a:r>
              <a:rPr sz="2300" b="1">
                <a:solidFill>
                  <a:srgbClr val="0B1220"/>
                </a:solidFill>
                <a:latin typeface="Arial"/>
              </a:rPr>
              <a:t>0.2200</a:t>
            </a:r>
            <a:endParaRPr lang="en-US" sz="2300" dirty="0"/>
          </a:p>
        </p:txBody>
      </p:sp>
      <p:sp>
        <p:nvSpPr>
          <p:cNvPr id="31" name="Text 28"/>
          <p:cNvSpPr/>
          <p:nvPr/>
        </p:nvSpPr>
        <p:spPr>
          <a:xfrm>
            <a:off x="9674352" y="4654296"/>
            <a:ext cx="1609344" cy="182880"/>
          </a:xfrm>
          <a:prstGeom prst="rect">
            <a:avLst/>
          </a:prstGeom>
          <a:noFill/>
          <a:ln/>
        </p:spPr>
        <p:txBody>
          <a:bodyPr wrap="square" lIns="0" tIns="0" rIns="0" bIns="0" rtlCol="0" anchor="ctr">
            <a:normAutofit/>
          </a:bodyPr>
          <a:lstStyle/>
          <a:p>
            <a:pPr algn="ctr" indent="0" marL="0">
              <a:buNone/>
            </a:pPr>
            <a:r>
              <a:rPr sz="850" b="1">
                <a:solidFill>
                  <a:srgbClr val="5B6577"/>
                </a:solidFill>
                <a:latin typeface="Arial"/>
              </a:rPr>
              <a:t>ECE sigmoid · worse</a:t>
            </a:r>
            <a:endParaRPr lang="en-US" sz="850" dirty="0"/>
          </a:p>
        </p:txBody>
      </p:sp>
      <p:sp>
        <p:nvSpPr>
          <p:cNvPr id="32" name="Shape 29"/>
          <p:cNvSpPr/>
          <p:nvPr/>
        </p:nvSpPr>
        <p:spPr>
          <a:xfrm>
            <a:off x="7498080" y="5340096"/>
            <a:ext cx="3858768" cy="621792"/>
          </a:xfrm>
          <a:prstGeom prst="roundRect">
            <a:avLst>
              <a:gd name="adj" fmla="val 8824"/>
            </a:avLst>
          </a:prstGeom>
          <a:solidFill>
            <a:srgbClr val="FFF5D8"/>
          </a:solidFill>
          <a:ln w="12700">
            <a:solidFill>
              <a:srgbClr val="FFF5D8"/>
            </a:solidFill>
            <a:prstDash val="solid"/>
          </a:ln>
        </p:spPr>
      </p:sp>
      <p:sp>
        <p:nvSpPr>
          <p:cNvPr id="33" name="Shape 30"/>
          <p:cNvSpPr/>
          <p:nvPr/>
        </p:nvSpPr>
        <p:spPr>
          <a:xfrm>
            <a:off x="7498080" y="5340096"/>
            <a:ext cx="91440" cy="621792"/>
          </a:xfrm>
          <a:prstGeom prst="rect">
            <a:avLst/>
          </a:prstGeom>
          <a:solidFill>
            <a:srgbClr val="F4B942"/>
          </a:solidFill>
          <a:ln w="12700">
            <a:solidFill>
              <a:srgbClr val="F4B942"/>
            </a:solidFill>
            <a:prstDash val="solid"/>
          </a:ln>
        </p:spPr>
      </p:sp>
      <p:sp>
        <p:nvSpPr>
          <p:cNvPr id="34" name="Text 31"/>
          <p:cNvSpPr/>
          <p:nvPr/>
        </p:nvSpPr>
        <p:spPr>
          <a:xfrm>
            <a:off x="7717536" y="5458968"/>
            <a:ext cx="3493008" cy="219456"/>
          </a:xfrm>
          <a:prstGeom prst="rect">
            <a:avLst/>
          </a:prstGeom>
          <a:noFill/>
          <a:ln/>
        </p:spPr>
        <p:txBody>
          <a:bodyPr wrap="square" lIns="0" tIns="0" rIns="0" bIns="0" rtlCol="0" anchor="ctr">
            <a:normAutofit/>
          </a:bodyPr>
          <a:lstStyle/>
          <a:p>
            <a:pPr indent="0" marL="0">
              <a:buNone/>
            </a:pPr>
            <a:r>
              <a:rPr sz="1050" b="1">
                <a:solidFill>
                  <a:srgbClr val="0B1220"/>
                </a:solidFill>
                <a:latin typeface="Arial"/>
              </a:rPr>
              <a:t>Final decision</a:t>
            </a:r>
            <a:endParaRPr lang="en-US" sz="1050" dirty="0"/>
          </a:p>
        </p:txBody>
      </p:sp>
      <p:sp>
        <p:nvSpPr>
          <p:cNvPr id="35" name="Text 32"/>
          <p:cNvSpPr/>
          <p:nvPr/>
        </p:nvSpPr>
        <p:spPr>
          <a:xfrm>
            <a:off x="7717536" y="5733288"/>
            <a:ext cx="3474720" cy="128016"/>
          </a:xfrm>
          <a:prstGeom prst="rect">
            <a:avLst/>
          </a:prstGeom>
          <a:noFill/>
          <a:ln/>
        </p:spPr>
        <p:txBody>
          <a:bodyPr wrap="square" lIns="0" tIns="0" rIns="0" bIns="0" rtlCol="0" anchor="ctr">
            <a:normAutofit/>
          </a:bodyPr>
          <a:lstStyle/>
          <a:p>
            <a:pPr indent="0" marL="0">
              <a:buNone/>
            </a:pPr>
            <a:r>
              <a:rPr sz="1340">
                <a:solidFill>
                  <a:srgbClr val="273142"/>
                </a:solidFill>
                <a:latin typeface="Arial"/>
              </a:rPr>
              <a:t>Keep the uncalibrated Logistic for the final walk-forward. Calibration is still evaluated and reported; it is not applied just to satisfy a checkbox.</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12</a:t>
            </a:fld>
            <a:endParaRPr lang="en-US"/>
          </a:p>
        </p:txBody>
      </p:sp>
      <p:pic>
        <p:nvPicPr>
          <p:cNvPr id="36" name="Picture 35" descr="calibration_final.png"/>
          <p:cNvPicPr>
            <a:picLocks noChangeAspect="1"/>
          </p:cNvPicPr>
          <p:nvPr/>
        </p:nvPicPr>
        <p:blipFill>
          <a:blip r:embed="rId4"/>
          <a:stretch>
            <a:fillRect/>
          </a:stretch>
        </p:blipFill>
        <p:spPr>
          <a:xfrm>
            <a:off x="1188537" y="1508760"/>
            <a:ext cx="5395326" cy="408736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12 · EXPLAINABILITY</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sz="2500" b="1">
                <a:solidFill>
                  <a:srgbClr val="0B1220"/>
                </a:solidFill>
                <a:latin typeface="Arial"/>
              </a:rPr>
              <a:t>Explainability: show the actual final model</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sz="1400">
                <a:solidFill>
                  <a:srgbClr val="5B6577"/>
                </a:solidFill>
                <a:latin typeface="Arial"/>
              </a:rPr>
              <a:t>Global and local SHAP use the deployment Logistic, while FIGS provides explicit rule-level interpretability.</a:t>
            </a:r>
            <a:endParaRPr lang="en-US" sz="1050" dirty="0"/>
          </a:p>
        </p:txBody>
      </p:sp>
      <p:sp>
        <p:nvSpPr>
          <p:cNvPr id="5" name="Shape 3"/>
          <p:cNvSpPr/>
          <p:nvPr/>
        </p:nvSpPr>
        <p:spPr>
          <a:xfrm>
            <a:off x="594360" y="1444752"/>
            <a:ext cx="6629400" cy="4526280"/>
          </a:xfrm>
          <a:prstGeom prst="roundRect">
            <a:avLst>
              <a:gd name="adj" fmla="val 1010"/>
            </a:avLst>
          </a:prstGeom>
          <a:solidFill>
            <a:srgbClr val="FFFFFF"/>
          </a:solidFill>
          <a:ln w="10160">
            <a:solidFill>
              <a:srgbClr val="DDE5EA"/>
            </a:solidFill>
            <a:prstDash val="solid"/>
          </a:ln>
        </p:spPr>
      </p:sp>
      <p:sp>
        <p:nvSpPr>
          <p:cNvPr id="7" name="Text 4"/>
          <p:cNvSpPr/>
          <p:nvPr/>
        </p:nvSpPr>
        <p:spPr>
          <a:xfrm>
            <a:off x="758952" y="5669280"/>
            <a:ext cx="6300216" cy="164592"/>
          </a:xfrm>
          <a:prstGeom prst="rect">
            <a:avLst/>
          </a:prstGeom>
          <a:noFill/>
          <a:ln/>
        </p:spPr>
        <p:txBody>
          <a:bodyPr wrap="square" lIns="0" tIns="0" rIns="0" bIns="0" rtlCol="0" anchor="ctr">
            <a:normAutofit/>
          </a:bodyPr>
          <a:lstStyle/>
          <a:p>
            <a:pPr algn="ctr" indent="0" marL="0">
              <a:buNone/>
            </a:pPr>
            <a:r>
              <a:rPr sz="780" i="1">
                <a:solidFill>
                  <a:srgbClr val="5B6577"/>
                </a:solidFill>
                <a:latin typeface="Arial"/>
              </a:rPr>
              <a:t>Final Logistic global mean |SHAP| on the 2020/21 held-out matches.</a:t>
            </a:r>
            <a:endParaRPr lang="en-US" sz="780" dirty="0"/>
          </a:p>
        </p:txBody>
      </p:sp>
      <p:sp>
        <p:nvSpPr>
          <p:cNvPr id="8" name="Shape 5"/>
          <p:cNvSpPr/>
          <p:nvPr/>
        </p:nvSpPr>
        <p:spPr>
          <a:xfrm>
            <a:off x="7479792" y="1481328"/>
            <a:ext cx="3950208" cy="1078992"/>
          </a:xfrm>
          <a:prstGeom prst="roundRect">
            <a:avLst>
              <a:gd name="adj" fmla="val 6780"/>
            </a:avLst>
          </a:prstGeom>
          <a:solidFill>
            <a:srgbClr val="FFFFFF"/>
          </a:solidFill>
          <a:ln w="10160">
            <a:solidFill>
              <a:srgbClr val="DDE5EA"/>
            </a:solidFill>
            <a:prstDash val="solid"/>
          </a:ln>
        </p:spPr>
      </p:sp>
      <p:sp>
        <p:nvSpPr>
          <p:cNvPr id="9" name="Shape 6"/>
          <p:cNvSpPr/>
          <p:nvPr/>
        </p:nvSpPr>
        <p:spPr>
          <a:xfrm>
            <a:off x="7479792" y="1481328"/>
            <a:ext cx="73152" cy="1078992"/>
          </a:xfrm>
          <a:prstGeom prst="rect">
            <a:avLst/>
          </a:prstGeom>
          <a:solidFill>
            <a:srgbClr val="0B8F6A"/>
          </a:solidFill>
          <a:ln w="12700">
            <a:solidFill>
              <a:srgbClr val="0B8F6A"/>
            </a:solidFill>
            <a:prstDash val="solid"/>
          </a:ln>
        </p:spPr>
      </p:sp>
      <p:sp>
        <p:nvSpPr>
          <p:cNvPr id="10" name="Text 7"/>
          <p:cNvSpPr/>
          <p:nvPr/>
        </p:nvSpPr>
        <p:spPr>
          <a:xfrm>
            <a:off x="7680960" y="1627632"/>
            <a:ext cx="3602736" cy="256032"/>
          </a:xfrm>
          <a:prstGeom prst="rect">
            <a:avLst/>
          </a:prstGeom>
          <a:noFill/>
          <a:ln/>
        </p:spPr>
        <p:txBody>
          <a:bodyPr wrap="square" lIns="0" tIns="0" rIns="0" bIns="0" rtlCol="0" anchor="ctr">
            <a:normAutofit/>
          </a:bodyPr>
          <a:lstStyle/>
          <a:p>
            <a:pPr indent="0" marL="0">
              <a:buNone/>
            </a:pPr>
            <a:r>
              <a:rPr sz="1100" b="1">
                <a:solidFill>
                  <a:srgbClr val="0B1220"/>
                </a:solidFill>
                <a:latin typeface="Arial"/>
              </a:rPr>
              <a:t>Global explanation</a:t>
            </a:r>
            <a:endParaRPr lang="en-US" sz="1100" dirty="0"/>
          </a:p>
        </p:txBody>
      </p:sp>
      <p:sp>
        <p:nvSpPr>
          <p:cNvPr id="11" name="Text 8"/>
          <p:cNvSpPr/>
          <p:nvPr/>
        </p:nvSpPr>
        <p:spPr>
          <a:xfrm>
            <a:off x="7680960" y="1956816"/>
            <a:ext cx="3584448" cy="484632"/>
          </a:xfrm>
          <a:prstGeom prst="rect">
            <a:avLst/>
          </a:prstGeom>
          <a:noFill/>
          <a:ln/>
        </p:spPr>
        <p:txBody>
          <a:bodyPr wrap="square" lIns="0" tIns="0" rIns="0" bIns="0" rtlCol="0" anchor="t">
            <a:normAutofit/>
          </a:bodyPr>
          <a:lstStyle/>
          <a:p>
            <a:pPr indent="0" marL="0">
              <a:buNone/>
            </a:pPr>
            <a:r>
              <a:rPr sz="1320">
                <a:solidFill>
                  <a:srgbClr val="273142"/>
                </a:solidFill>
                <a:latin typeface="Arial"/>
              </a:rPr>
              <a:t>Largest mean |SHAP| drivers: final-third carries, xG for, goals for, xG against and pressures — all home-minus-away rolling contrasts.</a:t>
            </a:r>
            <a:endParaRPr lang="en-US" sz="960" dirty="0"/>
          </a:p>
        </p:txBody>
      </p:sp>
      <p:sp>
        <p:nvSpPr>
          <p:cNvPr id="12" name="Shape 9"/>
          <p:cNvSpPr/>
          <p:nvPr/>
        </p:nvSpPr>
        <p:spPr>
          <a:xfrm>
            <a:off x="7479792" y="2761488"/>
            <a:ext cx="3950208" cy="1078992"/>
          </a:xfrm>
          <a:prstGeom prst="roundRect">
            <a:avLst>
              <a:gd name="adj" fmla="val 6780"/>
            </a:avLst>
          </a:prstGeom>
          <a:solidFill>
            <a:srgbClr val="FFFFFF"/>
          </a:solidFill>
          <a:ln w="10160">
            <a:solidFill>
              <a:srgbClr val="DDE5EA"/>
            </a:solidFill>
            <a:prstDash val="solid"/>
          </a:ln>
        </p:spPr>
      </p:sp>
      <p:sp>
        <p:nvSpPr>
          <p:cNvPr id="13" name="Shape 10"/>
          <p:cNvSpPr/>
          <p:nvPr/>
        </p:nvSpPr>
        <p:spPr>
          <a:xfrm>
            <a:off x="7479792" y="2761488"/>
            <a:ext cx="73152" cy="1078992"/>
          </a:xfrm>
          <a:prstGeom prst="rect">
            <a:avLst/>
          </a:prstGeom>
          <a:solidFill>
            <a:srgbClr val="22B8A0"/>
          </a:solidFill>
          <a:ln w="12700">
            <a:solidFill>
              <a:srgbClr val="22B8A0"/>
            </a:solidFill>
            <a:prstDash val="solid"/>
          </a:ln>
        </p:spPr>
      </p:sp>
      <p:sp>
        <p:nvSpPr>
          <p:cNvPr id="14" name="Text 11"/>
          <p:cNvSpPr/>
          <p:nvPr/>
        </p:nvSpPr>
        <p:spPr>
          <a:xfrm>
            <a:off x="7680960" y="2907792"/>
            <a:ext cx="3602736" cy="256032"/>
          </a:xfrm>
          <a:prstGeom prst="rect">
            <a:avLst/>
          </a:prstGeom>
          <a:noFill/>
          <a:ln/>
        </p:spPr>
        <p:txBody>
          <a:bodyPr wrap="square" lIns="0" tIns="0" rIns="0" bIns="0" rtlCol="0" anchor="ctr">
            <a:normAutofit/>
          </a:bodyPr>
          <a:lstStyle/>
          <a:p>
            <a:pPr indent="0" marL="0">
              <a:buNone/>
            </a:pPr>
            <a:r>
              <a:rPr sz="1100" b="1">
                <a:solidFill>
                  <a:srgbClr val="0B1220"/>
                </a:solidFill>
                <a:latin typeface="Arial"/>
              </a:rPr>
              <a:t>Local explanation</a:t>
            </a:r>
            <a:endParaRPr lang="en-US" sz="1100" dirty="0"/>
          </a:p>
        </p:txBody>
      </p:sp>
      <p:sp>
        <p:nvSpPr>
          <p:cNvPr id="15" name="Text 12"/>
          <p:cNvSpPr/>
          <p:nvPr/>
        </p:nvSpPr>
        <p:spPr>
          <a:xfrm>
            <a:off x="7680960" y="3236976"/>
            <a:ext cx="3584448" cy="484632"/>
          </a:xfrm>
          <a:prstGeom prst="rect">
            <a:avLst/>
          </a:prstGeom>
          <a:noFill/>
          <a:ln/>
        </p:spPr>
        <p:txBody>
          <a:bodyPr wrap="square" lIns="0" tIns="0" rIns="0" bIns="0" rtlCol="0" anchor="t">
            <a:normAutofit/>
          </a:bodyPr>
          <a:lstStyle/>
          <a:p>
            <a:pPr indent="0" marL="0">
              <a:buNone/>
            </a:pPr>
            <a:r>
              <a:rPr sz="1320">
                <a:solidFill>
                  <a:srgbClr val="273142"/>
                </a:solidFill>
                <a:latin typeface="Arial"/>
              </a:rPr>
              <a:t>phase2_final.ipynb shows the 10 worst predictions; the API returns top SHAP contributions for each requested snapshot.</a:t>
            </a:r>
            <a:endParaRPr lang="en-US" sz="940" dirty="0"/>
          </a:p>
        </p:txBody>
      </p:sp>
      <p:sp>
        <p:nvSpPr>
          <p:cNvPr id="16" name="Shape 13"/>
          <p:cNvSpPr/>
          <p:nvPr/>
        </p:nvSpPr>
        <p:spPr>
          <a:xfrm>
            <a:off x="7479792" y="4041648"/>
            <a:ext cx="3950208" cy="1078992"/>
          </a:xfrm>
          <a:prstGeom prst="roundRect">
            <a:avLst>
              <a:gd name="adj" fmla="val 6780"/>
            </a:avLst>
          </a:prstGeom>
          <a:solidFill>
            <a:srgbClr val="FFFFFF"/>
          </a:solidFill>
          <a:ln w="10160">
            <a:solidFill>
              <a:srgbClr val="DDE5EA"/>
            </a:solidFill>
            <a:prstDash val="solid"/>
          </a:ln>
        </p:spPr>
      </p:sp>
      <p:sp>
        <p:nvSpPr>
          <p:cNvPr id="17" name="Shape 14"/>
          <p:cNvSpPr/>
          <p:nvPr/>
        </p:nvSpPr>
        <p:spPr>
          <a:xfrm>
            <a:off x="7479792" y="4041648"/>
            <a:ext cx="73152" cy="1078992"/>
          </a:xfrm>
          <a:prstGeom prst="rect">
            <a:avLst/>
          </a:prstGeom>
          <a:solidFill>
            <a:srgbClr val="F4B942"/>
          </a:solidFill>
          <a:ln w="12700">
            <a:solidFill>
              <a:srgbClr val="F4B942"/>
            </a:solidFill>
            <a:prstDash val="solid"/>
          </a:ln>
        </p:spPr>
      </p:sp>
      <p:sp>
        <p:nvSpPr>
          <p:cNvPr id="18" name="Text 15"/>
          <p:cNvSpPr/>
          <p:nvPr/>
        </p:nvSpPr>
        <p:spPr>
          <a:xfrm>
            <a:off x="7680960" y="4187952"/>
            <a:ext cx="3602736" cy="256032"/>
          </a:xfrm>
          <a:prstGeom prst="rect">
            <a:avLst/>
          </a:prstGeom>
          <a:noFill/>
          <a:ln/>
        </p:spPr>
        <p:txBody>
          <a:bodyPr wrap="square" lIns="0" tIns="0" rIns="0" bIns="0" rtlCol="0" anchor="ctr">
            <a:normAutofit/>
          </a:bodyPr>
          <a:lstStyle/>
          <a:p>
            <a:pPr indent="0" marL="0">
              <a:buNone/>
            </a:pPr>
            <a:r>
              <a:rPr sz="1100" b="1">
                <a:solidFill>
                  <a:srgbClr val="0B1220"/>
                </a:solidFill>
                <a:latin typeface="Arial"/>
              </a:rPr>
              <a:t>Live explanation</a:t>
            </a:r>
            <a:endParaRPr lang="en-US" sz="1100" dirty="0"/>
          </a:p>
        </p:txBody>
      </p:sp>
      <p:sp>
        <p:nvSpPr>
          <p:cNvPr id="19" name="Text 16"/>
          <p:cNvSpPr/>
          <p:nvPr/>
        </p:nvSpPr>
        <p:spPr>
          <a:xfrm>
            <a:off x="7680960" y="4517136"/>
            <a:ext cx="3584448" cy="484632"/>
          </a:xfrm>
          <a:prstGeom prst="rect">
            <a:avLst/>
          </a:prstGeom>
          <a:noFill/>
          <a:ln/>
        </p:spPr>
        <p:txBody>
          <a:bodyPr wrap="square" lIns="0" tIns="0" rIns="0" bIns="0" rtlCol="0" anchor="t">
            <a:normAutofit/>
          </a:bodyPr>
          <a:lstStyle/>
          <a:p>
            <a:pPr indent="0" marL="0">
              <a:buNone/>
            </a:pPr>
            <a:r>
              <a:rPr sz="1320">
                <a:solidFill>
                  <a:srgbClr val="273142"/>
                </a:solidFill>
                <a:latin typeface="Arial"/>
              </a:rPr>
              <a:t>The same 14-feature live contract is explained online; score difference / man advantage can take over as match evidence arrives.</a:t>
            </a:r>
            <a:endParaRPr lang="en-US" sz="940" dirty="0"/>
          </a:p>
        </p:txBody>
      </p:sp>
      <p:sp>
        <p:nvSpPr>
          <p:cNvPr id="20" name="Shape 17"/>
          <p:cNvSpPr/>
          <p:nvPr/>
        </p:nvSpPr>
        <p:spPr>
          <a:xfrm>
            <a:off x="7479792" y="5358384"/>
            <a:ext cx="3950208" cy="640080"/>
          </a:xfrm>
          <a:prstGeom prst="roundRect">
            <a:avLst>
              <a:gd name="adj" fmla="val 8571"/>
            </a:avLst>
          </a:prstGeom>
          <a:solidFill>
            <a:srgbClr val="FFF5D8"/>
          </a:solidFill>
          <a:ln w="12700">
            <a:solidFill>
              <a:srgbClr val="FFF5D8"/>
            </a:solidFill>
            <a:prstDash val="solid"/>
          </a:ln>
        </p:spPr>
      </p:sp>
      <p:sp>
        <p:nvSpPr>
          <p:cNvPr id="21" name="Shape 18"/>
          <p:cNvSpPr/>
          <p:nvPr/>
        </p:nvSpPr>
        <p:spPr>
          <a:xfrm>
            <a:off x="7479792" y="5358384"/>
            <a:ext cx="91440" cy="640080"/>
          </a:xfrm>
          <a:prstGeom prst="rect">
            <a:avLst/>
          </a:prstGeom>
          <a:solidFill>
            <a:srgbClr val="F4B942"/>
          </a:solidFill>
          <a:ln w="12700">
            <a:solidFill>
              <a:srgbClr val="F4B942"/>
            </a:solidFill>
            <a:prstDash val="solid"/>
          </a:ln>
        </p:spPr>
      </p:sp>
      <p:sp>
        <p:nvSpPr>
          <p:cNvPr id="22" name="Text 19"/>
          <p:cNvSpPr/>
          <p:nvPr/>
        </p:nvSpPr>
        <p:spPr>
          <a:xfrm>
            <a:off x="7699248" y="5477256"/>
            <a:ext cx="3584448" cy="219456"/>
          </a:xfrm>
          <a:prstGeom prst="rect">
            <a:avLst/>
          </a:prstGeom>
          <a:noFill/>
          <a:ln/>
        </p:spPr>
        <p:txBody>
          <a:bodyPr wrap="square" lIns="0" tIns="0" rIns="0" bIns="0" rtlCol="0" anchor="ctr">
            <a:normAutofit/>
          </a:bodyPr>
          <a:lstStyle/>
          <a:p>
            <a:pPr indent="0" marL="0">
              <a:buNone/>
            </a:pPr>
            <a:r>
              <a:rPr sz="1050" b="1">
                <a:solidFill>
                  <a:srgbClr val="0B1220"/>
                </a:solidFill>
                <a:latin typeface="Arial"/>
              </a:rPr>
              <a:t>Scientific caution</a:t>
            </a:r>
            <a:endParaRPr lang="en-US" sz="1050" dirty="0"/>
          </a:p>
        </p:txBody>
      </p:sp>
      <p:sp>
        <p:nvSpPr>
          <p:cNvPr id="23" name="Text 20"/>
          <p:cNvSpPr/>
          <p:nvPr/>
        </p:nvSpPr>
        <p:spPr>
          <a:xfrm>
            <a:off x="7699248" y="5751576"/>
            <a:ext cx="3566160" cy="146304"/>
          </a:xfrm>
          <a:prstGeom prst="rect">
            <a:avLst/>
          </a:prstGeom>
          <a:noFill/>
          <a:ln/>
        </p:spPr>
        <p:txBody>
          <a:bodyPr wrap="square" lIns="0" tIns="0" rIns="0" bIns="0" rtlCol="0" anchor="ctr">
            <a:normAutofit/>
          </a:bodyPr>
          <a:lstStyle/>
          <a:p>
            <a:pPr indent="0" marL="0">
              <a:buNone/>
            </a:pPr>
            <a:r>
              <a:rPr sz="1320">
                <a:solidFill>
                  <a:srgbClr val="273142"/>
                </a:solidFill>
                <a:latin typeface="Arial"/>
              </a:rPr>
              <a:t>SHAP explains model contribution, not causality. FIGS rules are easier to narrate, but FIGS was not the best predictive model.</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13</a:t>
            </a:fld>
            <a:endParaRPr lang="en-US"/>
          </a:p>
        </p:txBody>
      </p:sp>
      <p:pic>
        <p:nvPicPr>
          <p:cNvPr id="26" name="Picture 25" descr="final_logistic_shap_global.png"/>
          <p:cNvPicPr>
            <a:picLocks noChangeAspect="1"/>
          </p:cNvPicPr>
          <p:nvPr/>
        </p:nvPicPr>
        <p:blipFill>
          <a:blip r:embed="rId4"/>
          <a:stretch>
            <a:fillRect/>
          </a:stretch>
        </p:blipFill>
        <p:spPr>
          <a:xfrm>
            <a:off x="1079344" y="1536192"/>
            <a:ext cx="5659433" cy="408736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13 · IN-PLAY</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sz="2500" b="1">
                <a:solidFill>
                  <a:srgbClr val="0B1220"/>
                </a:solidFill>
                <a:latin typeface="Arial"/>
              </a:rPr>
              <a:t>Model 3: live information earns value over time</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sz="1400">
                <a:solidFill>
                  <a:srgbClr val="5B6577"/>
                </a:solidFill>
                <a:latin typeface="Arial"/>
              </a:rPr>
              <a:t>Final 2020/21 uses 18 five-minute snapshots per match and refits only after each match finishes.</a:t>
            </a:r>
            <a:endParaRPr lang="en-US" sz="1050" dirty="0"/>
          </a:p>
        </p:txBody>
      </p:sp>
      <p:sp>
        <p:nvSpPr>
          <p:cNvPr id="5" name="Shape 3"/>
          <p:cNvSpPr/>
          <p:nvPr/>
        </p:nvSpPr>
        <p:spPr>
          <a:xfrm>
            <a:off x="594360" y="1444752"/>
            <a:ext cx="6903720" cy="4389120"/>
          </a:xfrm>
          <a:prstGeom prst="roundRect">
            <a:avLst>
              <a:gd name="adj" fmla="val 1042"/>
            </a:avLst>
          </a:prstGeom>
          <a:solidFill>
            <a:srgbClr val="FFFFFF"/>
          </a:solidFill>
          <a:ln w="10160">
            <a:solidFill>
              <a:srgbClr val="DDE5EA"/>
            </a:solidFill>
            <a:prstDash val="solid"/>
          </a:ln>
        </p:spPr>
      </p:sp>
      <p:sp>
        <p:nvSpPr>
          <p:cNvPr id="7" name="Text 4"/>
          <p:cNvSpPr/>
          <p:nvPr/>
        </p:nvSpPr>
        <p:spPr>
          <a:xfrm>
            <a:off x="758952" y="5532120"/>
            <a:ext cx="6574536" cy="164592"/>
          </a:xfrm>
          <a:prstGeom prst="rect">
            <a:avLst/>
          </a:prstGeom>
          <a:noFill/>
          <a:ln/>
        </p:spPr>
        <p:txBody>
          <a:bodyPr wrap="square" lIns="0" tIns="0" rIns="0" bIns="0" rtlCol="0" anchor="ctr">
            <a:normAutofit/>
          </a:bodyPr>
          <a:lstStyle/>
          <a:p>
            <a:pPr algn="ctr" indent="0" marL="0">
              <a:buNone/>
            </a:pPr>
            <a:r>
              <a:rPr sz="780" i="1">
                <a:solidFill>
                  <a:srgbClr val="5B6577"/>
                </a:solidFill>
                <a:latin typeface="Arial"/>
              </a:rPr>
              <a:t>2020/21 walk-forward: live RPS vs frozen pre-match prior.</a:t>
            </a:r>
            <a:endParaRPr lang="en-US" sz="780" dirty="0"/>
          </a:p>
        </p:txBody>
      </p:sp>
      <p:sp>
        <p:nvSpPr>
          <p:cNvPr id="8" name="Text 5"/>
          <p:cNvSpPr/>
          <p:nvPr/>
        </p:nvSpPr>
        <p:spPr>
          <a:xfrm>
            <a:off x="7790688" y="1508760"/>
            <a:ext cx="3566160" cy="256032"/>
          </a:xfrm>
          <a:prstGeom prst="rect">
            <a:avLst/>
          </a:prstGeom>
          <a:noFill/>
          <a:ln/>
        </p:spPr>
        <p:txBody>
          <a:bodyPr wrap="square" lIns="0" tIns="0" rIns="0" bIns="0" rtlCol="0" anchor="ctr"/>
          <a:lstStyle/>
          <a:p>
            <a:pPr indent="0" marL="0">
              <a:buNone/>
            </a:pPr>
            <a:r>
              <a:rPr sz="1150" b="1">
                <a:solidFill>
                  <a:srgbClr val="0B8F6A"/>
                </a:solidFill>
                <a:latin typeface="Arial"/>
              </a:rPr>
              <a:t>Final every-match prequential · 33 matches</a:t>
            </a:r>
            <a:endParaRPr lang="en-US" sz="1150" dirty="0"/>
          </a:p>
        </p:txBody>
      </p:sp>
      <p:sp>
        <p:nvSpPr>
          <p:cNvPr id="9" name="Shape 6"/>
          <p:cNvSpPr/>
          <p:nvPr/>
        </p:nvSpPr>
        <p:spPr>
          <a:xfrm>
            <a:off x="7790688" y="1847088"/>
            <a:ext cx="3584448" cy="841248"/>
          </a:xfrm>
          <a:prstGeom prst="roundRect">
            <a:avLst>
              <a:gd name="adj" fmla="val 8696"/>
            </a:avLst>
          </a:prstGeom>
          <a:solidFill>
            <a:srgbClr val="FFFFFF"/>
          </a:solidFill>
          <a:ln w="10160">
            <a:solidFill>
              <a:srgbClr val="DDE5EA"/>
            </a:solidFill>
            <a:prstDash val="solid"/>
          </a:ln>
        </p:spPr>
      </p:sp>
      <p:sp>
        <p:nvSpPr>
          <p:cNvPr id="10" name="Shape 7"/>
          <p:cNvSpPr/>
          <p:nvPr/>
        </p:nvSpPr>
        <p:spPr>
          <a:xfrm>
            <a:off x="7790688" y="1847088"/>
            <a:ext cx="73152" cy="841248"/>
          </a:xfrm>
          <a:prstGeom prst="rect">
            <a:avLst/>
          </a:prstGeom>
          <a:solidFill>
            <a:srgbClr val="0B8F6A"/>
          </a:solidFill>
          <a:ln w="12700">
            <a:solidFill>
              <a:srgbClr val="0B8F6A"/>
            </a:solidFill>
            <a:prstDash val="solid"/>
          </a:ln>
        </p:spPr>
      </p:sp>
      <p:sp>
        <p:nvSpPr>
          <p:cNvPr id="11" name="Text 8"/>
          <p:cNvSpPr/>
          <p:nvPr/>
        </p:nvSpPr>
        <p:spPr>
          <a:xfrm>
            <a:off x="7991856" y="1993392"/>
            <a:ext cx="3236976" cy="256032"/>
          </a:xfrm>
          <a:prstGeom prst="rect">
            <a:avLst/>
          </a:prstGeom>
          <a:noFill/>
          <a:ln/>
        </p:spPr>
        <p:txBody>
          <a:bodyPr wrap="square" lIns="0" tIns="0" rIns="0" bIns="0" rtlCol="0" anchor="ctr">
            <a:normAutofit/>
          </a:bodyPr>
          <a:lstStyle/>
          <a:p>
            <a:pPr indent="0" marL="0">
              <a:buNone/>
            </a:pPr>
            <a:r>
              <a:rPr sz="970" b="1">
                <a:solidFill>
                  <a:srgbClr val="0B1220"/>
                </a:solidFill>
                <a:latin typeface="Arial"/>
              </a:rPr>
              <a:t>5 min</a:t>
            </a:r>
            <a:endParaRPr lang="en-US" sz="970" dirty="0"/>
          </a:p>
        </p:txBody>
      </p:sp>
      <p:sp>
        <p:nvSpPr>
          <p:cNvPr id="12" name="Text 9"/>
          <p:cNvSpPr/>
          <p:nvPr/>
        </p:nvSpPr>
        <p:spPr>
          <a:xfrm>
            <a:off x="7991856" y="2322576"/>
            <a:ext cx="3218688" cy="246888"/>
          </a:xfrm>
          <a:prstGeom prst="rect">
            <a:avLst/>
          </a:prstGeom>
          <a:noFill/>
          <a:ln/>
        </p:spPr>
        <p:txBody>
          <a:bodyPr wrap="square" lIns="0" tIns="0" rIns="0" bIns="0" rtlCol="0" anchor="t">
            <a:normAutofit/>
          </a:bodyPr>
          <a:lstStyle/>
          <a:p>
            <a:pPr indent="0" marL="0">
              <a:buNone/>
            </a:pPr>
            <a:r>
              <a:rPr sz="1270">
                <a:solidFill>
                  <a:srgbClr val="273142"/>
                </a:solidFill>
                <a:latin typeface="Arial"/>
              </a:rPr>
              <a:t>RPS 0.1873 vs frozen 0.1732 · early live signal is worse</a:t>
            </a:r>
            <a:endParaRPr lang="en-US" sz="930" dirty="0"/>
          </a:p>
        </p:txBody>
      </p:sp>
      <p:sp>
        <p:nvSpPr>
          <p:cNvPr id="13" name="Shape 10"/>
          <p:cNvSpPr/>
          <p:nvPr/>
        </p:nvSpPr>
        <p:spPr>
          <a:xfrm>
            <a:off x="7790688" y="2697480"/>
            <a:ext cx="3584448" cy="841248"/>
          </a:xfrm>
          <a:prstGeom prst="roundRect">
            <a:avLst>
              <a:gd name="adj" fmla="val 8696"/>
            </a:avLst>
          </a:prstGeom>
          <a:solidFill>
            <a:srgbClr val="FFFFFF"/>
          </a:solidFill>
          <a:ln w="10160">
            <a:solidFill>
              <a:srgbClr val="DDE5EA"/>
            </a:solidFill>
            <a:prstDash val="solid"/>
          </a:ln>
        </p:spPr>
      </p:sp>
      <p:sp>
        <p:nvSpPr>
          <p:cNvPr id="14" name="Shape 11"/>
          <p:cNvSpPr/>
          <p:nvPr/>
        </p:nvSpPr>
        <p:spPr>
          <a:xfrm>
            <a:off x="7790688" y="2697480"/>
            <a:ext cx="73152" cy="841248"/>
          </a:xfrm>
          <a:prstGeom prst="rect">
            <a:avLst/>
          </a:prstGeom>
          <a:solidFill>
            <a:srgbClr val="22B8A0"/>
          </a:solidFill>
          <a:ln w="12700">
            <a:solidFill>
              <a:srgbClr val="22B8A0"/>
            </a:solidFill>
            <a:prstDash val="solid"/>
          </a:ln>
        </p:spPr>
      </p:sp>
      <p:sp>
        <p:nvSpPr>
          <p:cNvPr id="15" name="Text 12"/>
          <p:cNvSpPr/>
          <p:nvPr/>
        </p:nvSpPr>
        <p:spPr>
          <a:xfrm>
            <a:off x="7991856" y="2843784"/>
            <a:ext cx="3236976" cy="256032"/>
          </a:xfrm>
          <a:prstGeom prst="rect">
            <a:avLst/>
          </a:prstGeom>
          <a:noFill/>
          <a:ln/>
        </p:spPr>
        <p:txBody>
          <a:bodyPr wrap="square" lIns="0" tIns="0" rIns="0" bIns="0" rtlCol="0" anchor="ctr">
            <a:normAutofit/>
          </a:bodyPr>
          <a:lstStyle/>
          <a:p>
            <a:pPr indent="0" marL="0">
              <a:buNone/>
            </a:pPr>
            <a:r>
              <a:rPr sz="970" b="1">
                <a:solidFill>
                  <a:srgbClr val="0B1220"/>
                </a:solidFill>
                <a:latin typeface="Arial"/>
              </a:rPr>
              <a:t>30 min</a:t>
            </a:r>
            <a:endParaRPr lang="en-US" sz="970" dirty="0"/>
          </a:p>
        </p:txBody>
      </p:sp>
      <p:sp>
        <p:nvSpPr>
          <p:cNvPr id="16" name="Text 13"/>
          <p:cNvSpPr/>
          <p:nvPr/>
        </p:nvSpPr>
        <p:spPr>
          <a:xfrm>
            <a:off x="7991856" y="3172968"/>
            <a:ext cx="3218688" cy="246888"/>
          </a:xfrm>
          <a:prstGeom prst="rect">
            <a:avLst/>
          </a:prstGeom>
          <a:noFill/>
          <a:ln/>
        </p:spPr>
        <p:txBody>
          <a:bodyPr wrap="square" lIns="0" tIns="0" rIns="0" bIns="0" rtlCol="0" anchor="t">
            <a:normAutofit/>
          </a:bodyPr>
          <a:lstStyle/>
          <a:p>
            <a:pPr indent="0" marL="0">
              <a:buNone/>
            </a:pPr>
            <a:r>
              <a:rPr sz="1270">
                <a:solidFill>
                  <a:srgbClr val="273142"/>
                </a:solidFill>
                <a:latin typeface="Arial"/>
              </a:rPr>
              <a:t>RPS 0.1636 · improvement 0.0095 · accuracy 66.7%</a:t>
            </a:r>
            <a:endParaRPr lang="en-US" sz="930" dirty="0"/>
          </a:p>
        </p:txBody>
      </p:sp>
      <p:sp>
        <p:nvSpPr>
          <p:cNvPr id="17" name="Shape 14"/>
          <p:cNvSpPr/>
          <p:nvPr/>
        </p:nvSpPr>
        <p:spPr>
          <a:xfrm>
            <a:off x="7790688" y="3547872"/>
            <a:ext cx="3584448" cy="841248"/>
          </a:xfrm>
          <a:prstGeom prst="roundRect">
            <a:avLst>
              <a:gd name="adj" fmla="val 8696"/>
            </a:avLst>
          </a:prstGeom>
          <a:solidFill>
            <a:srgbClr val="FFFFFF"/>
          </a:solidFill>
          <a:ln w="10160">
            <a:solidFill>
              <a:srgbClr val="DDE5EA"/>
            </a:solidFill>
            <a:prstDash val="solid"/>
          </a:ln>
        </p:spPr>
      </p:sp>
      <p:sp>
        <p:nvSpPr>
          <p:cNvPr id="18" name="Shape 15"/>
          <p:cNvSpPr/>
          <p:nvPr/>
        </p:nvSpPr>
        <p:spPr>
          <a:xfrm>
            <a:off x="7790688" y="3547872"/>
            <a:ext cx="73152" cy="841248"/>
          </a:xfrm>
          <a:prstGeom prst="rect">
            <a:avLst/>
          </a:prstGeom>
          <a:solidFill>
            <a:srgbClr val="22B8A0"/>
          </a:solidFill>
          <a:ln w="12700">
            <a:solidFill>
              <a:srgbClr val="22B8A0"/>
            </a:solidFill>
            <a:prstDash val="solid"/>
          </a:ln>
        </p:spPr>
      </p:sp>
      <p:sp>
        <p:nvSpPr>
          <p:cNvPr id="19" name="Text 16"/>
          <p:cNvSpPr/>
          <p:nvPr/>
        </p:nvSpPr>
        <p:spPr>
          <a:xfrm>
            <a:off x="7991856" y="3694176"/>
            <a:ext cx="3236976" cy="256032"/>
          </a:xfrm>
          <a:prstGeom prst="rect">
            <a:avLst/>
          </a:prstGeom>
          <a:noFill/>
          <a:ln/>
        </p:spPr>
        <p:txBody>
          <a:bodyPr wrap="square" lIns="0" tIns="0" rIns="0" bIns="0" rtlCol="0" anchor="ctr">
            <a:normAutofit/>
          </a:bodyPr>
          <a:lstStyle/>
          <a:p>
            <a:pPr indent="0" marL="0">
              <a:buNone/>
            </a:pPr>
            <a:r>
              <a:rPr sz="970" b="1">
                <a:solidFill>
                  <a:srgbClr val="0B1220"/>
                </a:solidFill>
                <a:latin typeface="Arial"/>
              </a:rPr>
              <a:t>60 min</a:t>
            </a:r>
            <a:endParaRPr lang="en-US" sz="970" dirty="0"/>
          </a:p>
        </p:txBody>
      </p:sp>
      <p:sp>
        <p:nvSpPr>
          <p:cNvPr id="20" name="Text 17"/>
          <p:cNvSpPr/>
          <p:nvPr/>
        </p:nvSpPr>
        <p:spPr>
          <a:xfrm>
            <a:off x="7991856" y="4023360"/>
            <a:ext cx="3218688" cy="246888"/>
          </a:xfrm>
          <a:prstGeom prst="rect">
            <a:avLst/>
          </a:prstGeom>
          <a:noFill/>
          <a:ln/>
        </p:spPr>
        <p:txBody>
          <a:bodyPr wrap="square" lIns="0" tIns="0" rIns="0" bIns="0" rtlCol="0" anchor="t">
            <a:normAutofit/>
          </a:bodyPr>
          <a:lstStyle/>
          <a:p>
            <a:pPr indent="0" marL="0">
              <a:buNone/>
            </a:pPr>
            <a:r>
              <a:rPr sz="1220">
                <a:solidFill>
                  <a:srgbClr val="273142"/>
                </a:solidFill>
                <a:latin typeface="Arial"/>
              </a:rPr>
              <a:t>RPS 0.1368 · improvement 0.0364 · accuracy 72.7% · MAE 1.194</a:t>
            </a:r>
            <a:endParaRPr lang="en-US" sz="930" dirty="0"/>
          </a:p>
        </p:txBody>
      </p:sp>
      <p:sp>
        <p:nvSpPr>
          <p:cNvPr id="21" name="Shape 18"/>
          <p:cNvSpPr/>
          <p:nvPr/>
        </p:nvSpPr>
        <p:spPr>
          <a:xfrm>
            <a:off x="7790688" y="4398264"/>
            <a:ext cx="3584448" cy="841248"/>
          </a:xfrm>
          <a:prstGeom prst="roundRect">
            <a:avLst>
              <a:gd name="adj" fmla="val 8696"/>
            </a:avLst>
          </a:prstGeom>
          <a:solidFill>
            <a:srgbClr val="FFFFFF"/>
          </a:solidFill>
          <a:ln w="10160">
            <a:solidFill>
              <a:srgbClr val="DDE5EA"/>
            </a:solidFill>
            <a:prstDash val="solid"/>
          </a:ln>
        </p:spPr>
      </p:sp>
      <p:sp>
        <p:nvSpPr>
          <p:cNvPr id="22" name="Shape 19"/>
          <p:cNvSpPr/>
          <p:nvPr/>
        </p:nvSpPr>
        <p:spPr>
          <a:xfrm>
            <a:off x="7790688" y="4398264"/>
            <a:ext cx="73152" cy="841248"/>
          </a:xfrm>
          <a:prstGeom prst="rect">
            <a:avLst/>
          </a:prstGeom>
          <a:solidFill>
            <a:srgbClr val="22B8A0"/>
          </a:solidFill>
          <a:ln w="12700">
            <a:solidFill>
              <a:srgbClr val="22B8A0"/>
            </a:solidFill>
            <a:prstDash val="solid"/>
          </a:ln>
        </p:spPr>
      </p:sp>
      <p:sp>
        <p:nvSpPr>
          <p:cNvPr id="23" name="Text 20"/>
          <p:cNvSpPr/>
          <p:nvPr/>
        </p:nvSpPr>
        <p:spPr>
          <a:xfrm>
            <a:off x="7991856" y="4544568"/>
            <a:ext cx="3236976" cy="256032"/>
          </a:xfrm>
          <a:prstGeom prst="rect">
            <a:avLst/>
          </a:prstGeom>
          <a:noFill/>
          <a:ln/>
        </p:spPr>
        <p:txBody>
          <a:bodyPr wrap="square" lIns="0" tIns="0" rIns="0" bIns="0" rtlCol="0" anchor="ctr">
            <a:normAutofit/>
          </a:bodyPr>
          <a:lstStyle/>
          <a:p>
            <a:pPr indent="0" marL="0">
              <a:buNone/>
            </a:pPr>
            <a:r>
              <a:rPr sz="970" b="1">
                <a:solidFill>
                  <a:srgbClr val="0B1220"/>
                </a:solidFill>
                <a:latin typeface="Arial"/>
              </a:rPr>
              <a:t>90 min</a:t>
            </a:r>
            <a:endParaRPr lang="en-US" sz="970" dirty="0"/>
          </a:p>
        </p:txBody>
      </p:sp>
      <p:sp>
        <p:nvSpPr>
          <p:cNvPr id="24" name="Text 21"/>
          <p:cNvSpPr/>
          <p:nvPr/>
        </p:nvSpPr>
        <p:spPr>
          <a:xfrm>
            <a:off x="7991856" y="4873752"/>
            <a:ext cx="3218688" cy="246888"/>
          </a:xfrm>
          <a:prstGeom prst="rect">
            <a:avLst/>
          </a:prstGeom>
          <a:noFill/>
          <a:ln/>
        </p:spPr>
        <p:txBody>
          <a:bodyPr wrap="square" lIns="0" tIns="0" rIns="0" bIns="0" rtlCol="0" anchor="t">
            <a:normAutofit/>
          </a:bodyPr>
          <a:lstStyle/>
          <a:p>
            <a:pPr indent="0" marL="0">
              <a:buNone/>
            </a:pPr>
            <a:r>
              <a:rPr sz="1220">
                <a:solidFill>
                  <a:srgbClr val="273142"/>
                </a:solidFill>
                <a:latin typeface="Arial"/>
              </a:rPr>
              <a:t>RPS 0.1003 · improvement 0.0728 · accuracy 69.7% · MAE 0.905</a:t>
            </a:r>
            <a:endParaRPr lang="en-US" sz="930" dirty="0"/>
          </a:p>
        </p:txBody>
      </p:sp>
      <p:sp>
        <p:nvSpPr>
          <p:cNvPr id="25" name="Shape 22"/>
          <p:cNvSpPr/>
          <p:nvPr/>
        </p:nvSpPr>
        <p:spPr>
          <a:xfrm>
            <a:off x="7790688" y="5340096"/>
            <a:ext cx="3584448" cy="749808"/>
          </a:xfrm>
          <a:prstGeom prst="roundRect">
            <a:avLst>
              <a:gd name="adj" fmla="val 7317"/>
            </a:avLst>
          </a:prstGeom>
          <a:solidFill>
            <a:srgbClr val="FFF5D8"/>
          </a:solidFill>
          <a:ln w="12700">
            <a:solidFill>
              <a:srgbClr val="FFF5D8"/>
            </a:solidFill>
            <a:prstDash val="solid"/>
          </a:ln>
        </p:spPr>
      </p:sp>
      <p:sp>
        <p:nvSpPr>
          <p:cNvPr id="26" name="Shape 23"/>
          <p:cNvSpPr/>
          <p:nvPr/>
        </p:nvSpPr>
        <p:spPr>
          <a:xfrm>
            <a:off x="7790688" y="5340096"/>
            <a:ext cx="91440" cy="749808"/>
          </a:xfrm>
          <a:prstGeom prst="rect">
            <a:avLst/>
          </a:prstGeom>
          <a:solidFill>
            <a:srgbClr val="F4B942"/>
          </a:solidFill>
          <a:ln w="12700">
            <a:solidFill>
              <a:srgbClr val="F4B942"/>
            </a:solidFill>
            <a:prstDash val="solid"/>
          </a:ln>
        </p:spPr>
      </p:sp>
      <p:sp>
        <p:nvSpPr>
          <p:cNvPr id="27" name="Text 24"/>
          <p:cNvSpPr/>
          <p:nvPr/>
        </p:nvSpPr>
        <p:spPr>
          <a:xfrm>
            <a:off x="8010144" y="5458968"/>
            <a:ext cx="3218688" cy="219456"/>
          </a:xfrm>
          <a:prstGeom prst="rect">
            <a:avLst/>
          </a:prstGeom>
          <a:noFill/>
          <a:ln/>
        </p:spPr>
        <p:txBody>
          <a:bodyPr wrap="square" lIns="0" tIns="0" rIns="0" bIns="0" rtlCol="0" anchor="ctr">
            <a:normAutofit/>
          </a:bodyPr>
          <a:lstStyle/>
          <a:p>
            <a:pPr indent="0" marL="0">
              <a:buNone/>
            </a:pPr>
            <a:r>
              <a:rPr sz="1050" b="1">
                <a:solidFill>
                  <a:srgbClr val="0B1220"/>
                </a:solidFill>
                <a:latin typeface="Arial"/>
              </a:rPr>
              <a:t>Honest result</a:t>
            </a:r>
            <a:endParaRPr lang="en-US" sz="1050" dirty="0"/>
          </a:p>
        </p:txBody>
      </p:sp>
      <p:sp>
        <p:nvSpPr>
          <p:cNvPr id="28" name="Text 25"/>
          <p:cNvSpPr/>
          <p:nvPr/>
        </p:nvSpPr>
        <p:spPr>
          <a:xfrm>
            <a:off x="8010144" y="5733288"/>
            <a:ext cx="3200400" cy="256032"/>
          </a:xfrm>
          <a:prstGeom prst="rect">
            <a:avLst/>
          </a:prstGeom>
          <a:noFill/>
          <a:ln/>
        </p:spPr>
        <p:txBody>
          <a:bodyPr wrap="square" lIns="0" tIns="0" rIns="0" bIns="0" rtlCol="0" anchor="ctr">
            <a:normAutofit/>
          </a:bodyPr>
          <a:lstStyle/>
          <a:p>
            <a:pPr indent="0" marL="0">
              <a:buNone/>
            </a:pPr>
            <a:r>
              <a:rPr sz="1310">
                <a:solidFill>
                  <a:srgbClr val="273142"/>
                </a:solidFill>
                <a:latin typeface="Arial"/>
              </a:rPr>
              <a:t>The live stream does not help immediately. It becomes useful around 15–30 minutes and improves strongly later; we keep the early negative result visible.</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14</a:t>
            </a:fld>
            <a:endParaRPr lang="en-US"/>
          </a:p>
        </p:txBody>
      </p:sp>
      <p:pic>
        <p:nvPicPr>
          <p:cNvPr id="29" name="Picture 28" descr="inplay_rps_vs_minute_final.png"/>
          <p:cNvPicPr>
            <a:picLocks noChangeAspect="1"/>
          </p:cNvPicPr>
          <p:nvPr/>
        </p:nvPicPr>
        <p:blipFill>
          <a:blip r:embed="rId4"/>
          <a:stretch>
            <a:fillRect/>
          </a:stretch>
        </p:blipFill>
        <p:spPr>
          <a:xfrm>
            <a:off x="817685" y="1536192"/>
            <a:ext cx="6457071" cy="395020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14 · METHODS</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sz="2500" b="1">
                <a:solidFill>
                  <a:srgbClr val="0B1220"/>
                </a:solidFill>
                <a:latin typeface="Arial"/>
              </a:rPr>
              <a:t>Real-data final workflow + interpretable FIGS</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sz="1400">
                <a:solidFill>
                  <a:srgbClr val="5B6577"/>
                </a:solidFill>
                <a:latin typeface="Arial"/>
              </a:rPr>
              <a:t>Synthetic methods remain comparisons only; the final training path uses zero generated rows.</a:t>
            </a:r>
            <a:endParaRPr lang="en-US" sz="1050" dirty="0"/>
          </a:p>
        </p:txBody>
      </p:sp>
      <p:sp>
        <p:nvSpPr>
          <p:cNvPr id="5" name="Shape 3"/>
          <p:cNvSpPr/>
          <p:nvPr/>
        </p:nvSpPr>
        <p:spPr>
          <a:xfrm>
            <a:off x="658368" y="1572768"/>
            <a:ext cx="3675888" cy="1965960"/>
          </a:xfrm>
          <a:prstGeom prst="roundRect">
            <a:avLst>
              <a:gd name="adj" fmla="val 3721"/>
            </a:avLst>
          </a:prstGeom>
          <a:solidFill>
            <a:srgbClr val="FFFFFF"/>
          </a:solidFill>
          <a:ln w="10160">
            <a:solidFill>
              <a:srgbClr val="DDE5EA"/>
            </a:solidFill>
            <a:prstDash val="solid"/>
          </a:ln>
        </p:spPr>
      </p:sp>
      <p:sp>
        <p:nvSpPr>
          <p:cNvPr id="6" name="Shape 4"/>
          <p:cNvSpPr/>
          <p:nvPr/>
        </p:nvSpPr>
        <p:spPr>
          <a:xfrm>
            <a:off x="658368" y="1572768"/>
            <a:ext cx="73152" cy="1965960"/>
          </a:xfrm>
          <a:prstGeom prst="rect">
            <a:avLst/>
          </a:prstGeom>
          <a:solidFill>
            <a:srgbClr val="0B8F6A"/>
          </a:solidFill>
          <a:ln w="12700">
            <a:solidFill>
              <a:srgbClr val="0B8F6A"/>
            </a:solidFill>
            <a:prstDash val="solid"/>
          </a:ln>
        </p:spPr>
      </p:sp>
      <p:sp>
        <p:nvSpPr>
          <p:cNvPr id="7" name="Text 5"/>
          <p:cNvSpPr/>
          <p:nvPr/>
        </p:nvSpPr>
        <p:spPr>
          <a:xfrm>
            <a:off x="859536" y="1719072"/>
            <a:ext cx="3328416" cy="256032"/>
          </a:xfrm>
          <a:prstGeom prst="rect">
            <a:avLst/>
          </a:prstGeom>
          <a:noFill/>
          <a:ln/>
        </p:spPr>
        <p:txBody>
          <a:bodyPr wrap="square" lIns="0" tIns="0" rIns="0" bIns="0" rtlCol="0" anchor="ctr">
            <a:normAutofit/>
          </a:bodyPr>
          <a:lstStyle/>
          <a:p>
            <a:pPr indent="0" marL="0">
              <a:buNone/>
            </a:pPr>
            <a:r>
              <a:rPr sz="1200" b="1">
                <a:solidFill>
                  <a:srgbClr val="0B1220"/>
                </a:solidFill>
                <a:latin typeface="Arial"/>
              </a:rPr>
              <a:t>Synthetic sampling · comparison only</a:t>
            </a:r>
            <a:endParaRPr lang="en-US" sz="1200" dirty="0"/>
          </a:p>
        </p:txBody>
      </p:sp>
      <p:sp>
        <p:nvSpPr>
          <p:cNvPr id="8" name="Text 6"/>
          <p:cNvSpPr/>
          <p:nvPr/>
        </p:nvSpPr>
        <p:spPr>
          <a:xfrm>
            <a:off x="859536" y="2048256"/>
            <a:ext cx="3310128" cy="1371600"/>
          </a:xfrm>
          <a:prstGeom prst="rect">
            <a:avLst/>
          </a:prstGeom>
          <a:noFill/>
          <a:ln/>
        </p:spPr>
        <p:txBody>
          <a:bodyPr wrap="square" lIns="0" tIns="0" rIns="0" bIns="0" rtlCol="0" anchor="t">
            <a:normAutofit/>
          </a:bodyPr>
          <a:lstStyle/>
          <a:p>
            <a:pPr indent="0" marL="0">
              <a:buNone/>
            </a:pPr>
            <a:r>
              <a:rPr sz="1320">
                <a:solidFill>
                  <a:srgbClr val="273142"/>
                </a:solidFill>
                <a:latin typeface="Arial"/>
              </a:rPr>
              <a:t>TA request applied: final workflow uses real matches only (synthetic rows = 0). GMM/SMOTE/ADASYN remain controlled training-fold experiments, not final data generation.</a:t>
            </a:r>
            <a:endParaRPr lang="en-US" sz="950" dirty="0"/>
          </a:p>
        </p:txBody>
      </p:sp>
      <p:sp>
        <p:nvSpPr>
          <p:cNvPr id="9" name="Shape 7"/>
          <p:cNvSpPr/>
          <p:nvPr/>
        </p:nvSpPr>
        <p:spPr>
          <a:xfrm>
            <a:off x="4553712" y="1572768"/>
            <a:ext cx="3675888" cy="1965960"/>
          </a:xfrm>
          <a:prstGeom prst="roundRect">
            <a:avLst>
              <a:gd name="adj" fmla="val 3721"/>
            </a:avLst>
          </a:prstGeom>
          <a:solidFill>
            <a:srgbClr val="FFFFFF"/>
          </a:solidFill>
          <a:ln w="10160">
            <a:solidFill>
              <a:srgbClr val="DDE5EA"/>
            </a:solidFill>
            <a:prstDash val="solid"/>
          </a:ln>
        </p:spPr>
      </p:sp>
      <p:sp>
        <p:nvSpPr>
          <p:cNvPr id="10" name="Shape 8"/>
          <p:cNvSpPr/>
          <p:nvPr/>
        </p:nvSpPr>
        <p:spPr>
          <a:xfrm>
            <a:off x="4553712" y="1572768"/>
            <a:ext cx="73152" cy="1965960"/>
          </a:xfrm>
          <a:prstGeom prst="rect">
            <a:avLst/>
          </a:prstGeom>
          <a:solidFill>
            <a:srgbClr val="22B8A0"/>
          </a:solidFill>
          <a:ln w="12700">
            <a:solidFill>
              <a:srgbClr val="22B8A0"/>
            </a:solidFill>
            <a:prstDash val="solid"/>
          </a:ln>
        </p:spPr>
      </p:sp>
      <p:sp>
        <p:nvSpPr>
          <p:cNvPr id="11" name="Text 9"/>
          <p:cNvSpPr/>
          <p:nvPr/>
        </p:nvSpPr>
        <p:spPr>
          <a:xfrm>
            <a:off x="4754880" y="1719072"/>
            <a:ext cx="3328416" cy="256032"/>
          </a:xfrm>
          <a:prstGeom prst="rect">
            <a:avLst/>
          </a:prstGeom>
          <a:noFill/>
          <a:ln/>
        </p:spPr>
        <p:txBody>
          <a:bodyPr wrap="square" lIns="0" tIns="0" rIns="0" bIns="0" rtlCol="0" anchor="ctr">
            <a:normAutofit/>
          </a:bodyPr>
          <a:lstStyle/>
          <a:p>
            <a:pPr indent="0" marL="0">
              <a:buNone/>
            </a:pPr>
            <a:r>
              <a:rPr sz="1200" b="1">
                <a:solidFill>
                  <a:srgbClr val="0B1220"/>
                </a:solidFill>
                <a:latin typeface="Arial"/>
              </a:rPr>
              <a:t>FIGS · actual model shown</a:t>
            </a:r>
            <a:endParaRPr lang="en-US" sz="1200" dirty="0"/>
          </a:p>
        </p:txBody>
      </p:sp>
      <p:sp>
        <p:nvSpPr>
          <p:cNvPr id="12" name="Text 10"/>
          <p:cNvSpPr/>
          <p:nvPr/>
        </p:nvSpPr>
        <p:spPr>
          <a:xfrm>
            <a:off x="4754880" y="2048256"/>
            <a:ext cx="3310128" cy="1371600"/>
          </a:xfrm>
          <a:prstGeom prst="rect">
            <a:avLst/>
          </a:prstGeom>
          <a:noFill/>
          <a:ln/>
        </p:spPr>
        <p:txBody>
          <a:bodyPr wrap="square" lIns="0" tIns="0" rIns="0" bIns="0" rtlCol="0" anchor="t">
            <a:normAutofit/>
          </a:bodyPr>
          <a:lstStyle/>
          <a:p>
            <a:r>
              <a:rPr sz="1240"/>
              <a:t>From-scratch classifier: 7 splits · 10 explicit rules. Final 2020/21: Acc 57.6% · Bal 53.2% · RPS 0.2111 · ECE 0.208.</a:t>
            </a:r>
          </a:p>
          <a:p>
            <a:r>
              <a:rPr sz="1240"/>
              <a:t>Example H rule: carries diff &gt; −31.95 AND pressures diff &gt; −82 → +0.440 contribution.</a:t>
            </a:r>
          </a:p>
        </p:txBody>
      </p:sp>
      <p:sp>
        <p:nvSpPr>
          <p:cNvPr id="13" name="Shape 11"/>
          <p:cNvSpPr/>
          <p:nvPr/>
        </p:nvSpPr>
        <p:spPr>
          <a:xfrm>
            <a:off x="8449056" y="1572768"/>
            <a:ext cx="3072384" cy="1965960"/>
          </a:xfrm>
          <a:prstGeom prst="roundRect">
            <a:avLst>
              <a:gd name="adj" fmla="val 3721"/>
            </a:avLst>
          </a:prstGeom>
          <a:solidFill>
            <a:srgbClr val="FFF5D8"/>
          </a:solidFill>
          <a:ln w="10160">
            <a:solidFill>
              <a:srgbClr val="DDE5EA"/>
            </a:solidFill>
            <a:prstDash val="solid"/>
          </a:ln>
        </p:spPr>
      </p:sp>
      <p:sp>
        <p:nvSpPr>
          <p:cNvPr id="14" name="Shape 12"/>
          <p:cNvSpPr/>
          <p:nvPr/>
        </p:nvSpPr>
        <p:spPr>
          <a:xfrm>
            <a:off x="8449056" y="1572768"/>
            <a:ext cx="73152" cy="1965960"/>
          </a:xfrm>
          <a:prstGeom prst="rect">
            <a:avLst/>
          </a:prstGeom>
          <a:solidFill>
            <a:srgbClr val="F4B942"/>
          </a:solidFill>
          <a:ln w="12700">
            <a:solidFill>
              <a:srgbClr val="F4B942"/>
            </a:solidFill>
            <a:prstDash val="solid"/>
          </a:ln>
        </p:spPr>
      </p:sp>
      <p:sp>
        <p:nvSpPr>
          <p:cNvPr id="15" name="Text 13"/>
          <p:cNvSpPr/>
          <p:nvPr/>
        </p:nvSpPr>
        <p:spPr>
          <a:xfrm>
            <a:off x="8650224" y="1719072"/>
            <a:ext cx="2724912" cy="256032"/>
          </a:xfrm>
          <a:prstGeom prst="rect">
            <a:avLst/>
          </a:prstGeom>
          <a:noFill/>
          <a:ln/>
        </p:spPr>
        <p:txBody>
          <a:bodyPr wrap="square" lIns="0" tIns="0" rIns="0" bIns="0" rtlCol="0" anchor="ctr">
            <a:normAutofit/>
          </a:bodyPr>
          <a:lstStyle/>
          <a:p>
            <a:pPr indent="0" marL="0">
              <a:buNone/>
            </a:pPr>
            <a:r>
              <a:rPr sz="1100" b="1">
                <a:solidFill>
                  <a:srgbClr val="0B1220"/>
                </a:solidFill>
                <a:latin typeface="Arial"/>
              </a:rPr>
              <a:t>Interpretability vs prediction quality</a:t>
            </a:r>
            <a:endParaRPr lang="en-US" sz="1100" dirty="0"/>
          </a:p>
        </p:txBody>
      </p:sp>
      <p:sp>
        <p:nvSpPr>
          <p:cNvPr id="16" name="Text 14"/>
          <p:cNvSpPr/>
          <p:nvPr/>
        </p:nvSpPr>
        <p:spPr>
          <a:xfrm>
            <a:off x="8650224" y="2048256"/>
            <a:ext cx="2706624" cy="1371600"/>
          </a:xfrm>
          <a:prstGeom prst="rect">
            <a:avLst/>
          </a:prstGeom>
          <a:noFill/>
          <a:ln/>
        </p:spPr>
        <p:txBody>
          <a:bodyPr wrap="square" lIns="0" tIns="0" rIns="0" bIns="0" rtlCol="0" anchor="t">
            <a:normAutofit/>
          </a:bodyPr>
          <a:lstStyle/>
          <a:p>
            <a:pPr indent="0" marL="0">
              <a:buNone/>
            </a:pPr>
            <a:r>
              <a:rPr sz="1300">
                <a:solidFill>
                  <a:srgbClr val="273142"/>
                </a:solidFill>
                <a:latin typeface="Arial"/>
              </a:rPr>
              <a:t>FIGS is retained because its additive rules can be narrated live. It is not called “best”: Logistic has substantially lower development and final RPS.</a:t>
            </a:r>
            <a:endParaRPr lang="en-US" sz="920" dirty="0"/>
          </a:p>
        </p:txBody>
      </p:sp>
      <p:sp>
        <p:nvSpPr>
          <p:cNvPr id="17" name="Text 15"/>
          <p:cNvSpPr/>
          <p:nvPr/>
        </p:nvSpPr>
        <p:spPr>
          <a:xfrm>
            <a:off x="676656" y="3822192"/>
            <a:ext cx="4846320" cy="256032"/>
          </a:xfrm>
          <a:prstGeom prst="rect">
            <a:avLst/>
          </a:prstGeom>
          <a:noFill/>
          <a:ln/>
        </p:spPr>
        <p:txBody>
          <a:bodyPr wrap="square" lIns="0" tIns="0" rIns="0" bIns="0" rtlCol="0" anchor="ctr"/>
          <a:lstStyle/>
          <a:p>
            <a:pPr indent="0" marL="0">
              <a:buNone/>
            </a:pPr>
            <a:r>
              <a:rPr lang="en-US" sz="1300" b="1" dirty="0">
                <a:solidFill>
                  <a:srgbClr val="0B8F6A"/>
                </a:solidFill>
                <a:latin typeface="Arial" pitchFamily="34" charset="0"/>
                <a:ea typeface="Arial" pitchFamily="34" charset="-122"/>
                <a:cs typeface="Arial" pitchFamily="34" charset="-120"/>
              </a:rPr>
              <a:t>Pre-match imbalance experiment · mean balanced accuracy</a:t>
            </a:r>
            <a:endParaRPr lang="en-US" sz="1300" dirty="0"/>
          </a:p>
        </p:txBody>
      </p:sp>
      <p:sp>
        <p:nvSpPr>
          <p:cNvPr id="18" name="Text 16"/>
          <p:cNvSpPr/>
          <p:nvPr/>
        </p:nvSpPr>
        <p:spPr>
          <a:xfrm>
            <a:off x="713232" y="4233672"/>
            <a:ext cx="1353312" cy="164592"/>
          </a:xfrm>
          <a:prstGeom prst="rect">
            <a:avLst/>
          </a:prstGeom>
          <a:noFill/>
          <a:ln/>
        </p:spPr>
        <p:txBody>
          <a:bodyPr wrap="square" lIns="0" tIns="0" rIns="0" bIns="0" rtlCol="0" anchor="ctr"/>
          <a:lstStyle/>
          <a:p>
            <a:pPr indent="0" marL="0">
              <a:buNone/>
            </a:pPr>
            <a:r>
              <a:rPr lang="en-US" sz="850" dirty="0">
                <a:solidFill>
                  <a:srgbClr val="273142"/>
                </a:solidFill>
                <a:latin typeface="Arial" pitchFamily="34" charset="0"/>
                <a:ea typeface="Arial" pitchFamily="34" charset="-122"/>
                <a:cs typeface="Arial" pitchFamily="34" charset="-120"/>
              </a:rPr>
              <a:t>ClassWeight</a:t>
            </a:r>
            <a:endParaRPr lang="en-US" sz="850" dirty="0"/>
          </a:p>
        </p:txBody>
      </p:sp>
      <p:sp>
        <p:nvSpPr>
          <p:cNvPr id="19" name="Shape 17"/>
          <p:cNvSpPr/>
          <p:nvPr/>
        </p:nvSpPr>
        <p:spPr>
          <a:xfrm>
            <a:off x="2103120" y="4251960"/>
            <a:ext cx="2166669" cy="128016"/>
          </a:xfrm>
          <a:prstGeom prst="rect">
            <a:avLst/>
          </a:prstGeom>
          <a:solidFill>
            <a:srgbClr val="0B8F6A"/>
          </a:solidFill>
          <a:ln w="12700">
            <a:solidFill>
              <a:srgbClr val="0B8F6A"/>
            </a:solidFill>
            <a:prstDash val="solid"/>
          </a:ln>
        </p:spPr>
      </p:sp>
      <p:sp>
        <p:nvSpPr>
          <p:cNvPr id="20" name="Text 18"/>
          <p:cNvSpPr/>
          <p:nvPr/>
        </p:nvSpPr>
        <p:spPr>
          <a:xfrm>
            <a:off x="4846320" y="4233672"/>
            <a:ext cx="502920" cy="164592"/>
          </a:xfrm>
          <a:prstGeom prst="rect">
            <a:avLst/>
          </a:prstGeom>
          <a:noFill/>
          <a:ln/>
        </p:spPr>
        <p:txBody>
          <a:bodyPr wrap="square" lIns="0" tIns="0" rIns="0" bIns="0" rtlCol="0" anchor="ctr"/>
          <a:lstStyle/>
          <a:p>
            <a:pPr algn="r" indent="0" marL="0">
              <a:buNone/>
            </a:pPr>
            <a:r>
              <a:rPr lang="en-US" sz="840" b="1" dirty="0">
                <a:solidFill>
                  <a:srgbClr val="0B1220"/>
                </a:solidFill>
                <a:latin typeface="Arial" pitchFamily="34" charset="0"/>
                <a:ea typeface="Arial" pitchFamily="34" charset="-122"/>
                <a:cs typeface="Arial" pitchFamily="34" charset="-120"/>
              </a:rPr>
              <a:t>52.6%</a:t>
            </a:r>
            <a:endParaRPr lang="en-US" sz="840" dirty="0"/>
          </a:p>
        </p:txBody>
      </p:sp>
      <p:sp>
        <p:nvSpPr>
          <p:cNvPr id="21" name="Text 19"/>
          <p:cNvSpPr/>
          <p:nvPr/>
        </p:nvSpPr>
        <p:spPr>
          <a:xfrm>
            <a:off x="713232" y="4498848"/>
            <a:ext cx="1353312" cy="164592"/>
          </a:xfrm>
          <a:prstGeom prst="rect">
            <a:avLst/>
          </a:prstGeom>
          <a:noFill/>
          <a:ln/>
        </p:spPr>
        <p:txBody>
          <a:bodyPr wrap="square" lIns="0" tIns="0" rIns="0" bIns="0" rtlCol="0" anchor="ctr"/>
          <a:lstStyle/>
          <a:p>
            <a:pPr indent="0" marL="0">
              <a:buNone/>
            </a:pPr>
            <a:r>
              <a:rPr lang="en-US" sz="850" dirty="0">
                <a:solidFill>
                  <a:srgbClr val="273142"/>
                </a:solidFill>
                <a:latin typeface="Arial" pitchFamily="34" charset="0"/>
                <a:ea typeface="Arial" pitchFamily="34" charset="-122"/>
                <a:cs typeface="Arial" pitchFamily="34" charset="-120"/>
              </a:rPr>
              <a:t>ADASYN</a:t>
            </a:r>
            <a:endParaRPr lang="en-US" sz="850" dirty="0"/>
          </a:p>
        </p:txBody>
      </p:sp>
      <p:sp>
        <p:nvSpPr>
          <p:cNvPr id="22" name="Shape 20"/>
          <p:cNvSpPr/>
          <p:nvPr/>
        </p:nvSpPr>
        <p:spPr>
          <a:xfrm>
            <a:off x="2103120" y="4517136"/>
            <a:ext cx="2156533" cy="128016"/>
          </a:xfrm>
          <a:prstGeom prst="rect">
            <a:avLst/>
          </a:prstGeom>
          <a:solidFill>
            <a:srgbClr val="22B8A0"/>
          </a:solidFill>
          <a:ln w="12700">
            <a:solidFill>
              <a:srgbClr val="22B8A0"/>
            </a:solidFill>
            <a:prstDash val="solid"/>
          </a:ln>
        </p:spPr>
      </p:sp>
      <p:sp>
        <p:nvSpPr>
          <p:cNvPr id="23" name="Text 21"/>
          <p:cNvSpPr/>
          <p:nvPr/>
        </p:nvSpPr>
        <p:spPr>
          <a:xfrm>
            <a:off x="4846320" y="4498848"/>
            <a:ext cx="502920" cy="164592"/>
          </a:xfrm>
          <a:prstGeom prst="rect">
            <a:avLst/>
          </a:prstGeom>
          <a:noFill/>
          <a:ln/>
        </p:spPr>
        <p:txBody>
          <a:bodyPr wrap="square" lIns="0" tIns="0" rIns="0" bIns="0" rtlCol="0" anchor="ctr"/>
          <a:lstStyle/>
          <a:p>
            <a:pPr algn="r" indent="0" marL="0">
              <a:buNone/>
            </a:pPr>
            <a:r>
              <a:rPr lang="en-US" sz="840" b="1" dirty="0">
                <a:solidFill>
                  <a:srgbClr val="0B1220"/>
                </a:solidFill>
                <a:latin typeface="Arial" pitchFamily="34" charset="0"/>
                <a:ea typeface="Arial" pitchFamily="34" charset="-122"/>
                <a:cs typeface="Arial" pitchFamily="34" charset="-120"/>
              </a:rPr>
              <a:t>52.5%</a:t>
            </a:r>
            <a:endParaRPr lang="en-US" sz="840" dirty="0"/>
          </a:p>
        </p:txBody>
      </p:sp>
      <p:sp>
        <p:nvSpPr>
          <p:cNvPr id="24" name="Text 22"/>
          <p:cNvSpPr/>
          <p:nvPr/>
        </p:nvSpPr>
        <p:spPr>
          <a:xfrm>
            <a:off x="713232" y="4764024"/>
            <a:ext cx="1353312" cy="164592"/>
          </a:xfrm>
          <a:prstGeom prst="rect">
            <a:avLst/>
          </a:prstGeom>
          <a:noFill/>
          <a:ln/>
        </p:spPr>
        <p:txBody>
          <a:bodyPr wrap="square" lIns="0" tIns="0" rIns="0" bIns="0" rtlCol="0" anchor="ctr"/>
          <a:lstStyle/>
          <a:p>
            <a:pPr indent="0" marL="0">
              <a:buNone/>
            </a:pPr>
            <a:r>
              <a:rPr lang="en-US" sz="850" dirty="0">
                <a:solidFill>
                  <a:srgbClr val="273142"/>
                </a:solidFill>
                <a:latin typeface="Arial" pitchFamily="34" charset="0"/>
                <a:ea typeface="Arial" pitchFamily="34" charset="-122"/>
                <a:cs typeface="Arial" pitchFamily="34" charset="-120"/>
              </a:rPr>
              <a:t>Vanilla</a:t>
            </a:r>
            <a:endParaRPr lang="en-US" sz="850" dirty="0"/>
          </a:p>
        </p:txBody>
      </p:sp>
      <p:sp>
        <p:nvSpPr>
          <p:cNvPr id="25" name="Shape 23"/>
          <p:cNvSpPr/>
          <p:nvPr/>
        </p:nvSpPr>
        <p:spPr>
          <a:xfrm>
            <a:off x="2103120" y="4782312"/>
            <a:ext cx="1866460" cy="128016"/>
          </a:xfrm>
          <a:prstGeom prst="rect">
            <a:avLst/>
          </a:prstGeom>
          <a:solidFill>
            <a:srgbClr val="22B8A0"/>
          </a:solidFill>
          <a:ln w="12700">
            <a:solidFill>
              <a:srgbClr val="22B8A0"/>
            </a:solidFill>
            <a:prstDash val="solid"/>
          </a:ln>
        </p:spPr>
      </p:sp>
      <p:sp>
        <p:nvSpPr>
          <p:cNvPr id="26" name="Text 24"/>
          <p:cNvSpPr/>
          <p:nvPr/>
        </p:nvSpPr>
        <p:spPr>
          <a:xfrm>
            <a:off x="4846320" y="4764024"/>
            <a:ext cx="502920" cy="164592"/>
          </a:xfrm>
          <a:prstGeom prst="rect">
            <a:avLst/>
          </a:prstGeom>
          <a:noFill/>
          <a:ln/>
        </p:spPr>
        <p:txBody>
          <a:bodyPr wrap="square" lIns="0" tIns="0" rIns="0" bIns="0" rtlCol="0" anchor="ctr"/>
          <a:lstStyle/>
          <a:p>
            <a:pPr algn="r" indent="0" marL="0">
              <a:buNone/>
            </a:pPr>
            <a:r>
              <a:rPr lang="en-US" sz="840" b="1" dirty="0">
                <a:solidFill>
                  <a:srgbClr val="0B1220"/>
                </a:solidFill>
                <a:latin typeface="Arial" pitchFamily="34" charset="0"/>
                <a:ea typeface="Arial" pitchFamily="34" charset="-122"/>
                <a:cs typeface="Arial" pitchFamily="34" charset="-120"/>
              </a:rPr>
              <a:t>49.4%</a:t>
            </a:r>
            <a:endParaRPr lang="en-US" sz="840" dirty="0"/>
          </a:p>
        </p:txBody>
      </p:sp>
      <p:sp>
        <p:nvSpPr>
          <p:cNvPr id="27" name="Text 25"/>
          <p:cNvSpPr/>
          <p:nvPr/>
        </p:nvSpPr>
        <p:spPr>
          <a:xfrm>
            <a:off x="713232" y="5029200"/>
            <a:ext cx="1353312" cy="164592"/>
          </a:xfrm>
          <a:prstGeom prst="rect">
            <a:avLst/>
          </a:prstGeom>
          <a:noFill/>
          <a:ln/>
        </p:spPr>
        <p:txBody>
          <a:bodyPr wrap="square" lIns="0" tIns="0" rIns="0" bIns="0" rtlCol="0" anchor="ctr"/>
          <a:lstStyle/>
          <a:p>
            <a:pPr indent="0" marL="0">
              <a:buNone/>
            </a:pPr>
            <a:r>
              <a:rPr lang="en-US" sz="850" dirty="0">
                <a:solidFill>
                  <a:srgbClr val="273142"/>
                </a:solidFill>
                <a:latin typeface="Arial" pitchFamily="34" charset="0"/>
                <a:ea typeface="Arial" pitchFamily="34" charset="-122"/>
                <a:cs typeface="Arial" pitchFamily="34" charset="-120"/>
              </a:rPr>
              <a:t>GMMSampling</a:t>
            </a:r>
            <a:endParaRPr lang="en-US" sz="850" dirty="0"/>
          </a:p>
        </p:txBody>
      </p:sp>
      <p:sp>
        <p:nvSpPr>
          <p:cNvPr id="28" name="Shape 26"/>
          <p:cNvSpPr/>
          <p:nvPr/>
        </p:nvSpPr>
        <p:spPr>
          <a:xfrm>
            <a:off x="2103120" y="5047488"/>
            <a:ext cx="1648997" cy="128016"/>
          </a:xfrm>
          <a:prstGeom prst="rect">
            <a:avLst/>
          </a:prstGeom>
          <a:solidFill>
            <a:srgbClr val="22B8A0"/>
          </a:solidFill>
          <a:ln w="12700">
            <a:solidFill>
              <a:srgbClr val="22B8A0"/>
            </a:solidFill>
            <a:prstDash val="solid"/>
          </a:ln>
        </p:spPr>
      </p:sp>
      <p:sp>
        <p:nvSpPr>
          <p:cNvPr id="29" name="Text 27"/>
          <p:cNvSpPr/>
          <p:nvPr/>
        </p:nvSpPr>
        <p:spPr>
          <a:xfrm>
            <a:off x="4846320" y="5029200"/>
            <a:ext cx="502920" cy="164592"/>
          </a:xfrm>
          <a:prstGeom prst="rect">
            <a:avLst/>
          </a:prstGeom>
          <a:noFill/>
          <a:ln/>
        </p:spPr>
        <p:txBody>
          <a:bodyPr wrap="square" lIns="0" tIns="0" rIns="0" bIns="0" rtlCol="0" anchor="ctr"/>
          <a:lstStyle/>
          <a:p>
            <a:pPr algn="r" indent="0" marL="0">
              <a:buNone/>
            </a:pPr>
            <a:r>
              <a:rPr lang="en-US" sz="840" b="1" dirty="0">
                <a:solidFill>
                  <a:srgbClr val="0B1220"/>
                </a:solidFill>
                <a:latin typeface="Arial" pitchFamily="34" charset="0"/>
                <a:ea typeface="Arial" pitchFamily="34" charset="-122"/>
                <a:cs typeface="Arial" pitchFamily="34" charset="-120"/>
              </a:rPr>
              <a:t>47.2%</a:t>
            </a:r>
            <a:endParaRPr lang="en-US" sz="840" dirty="0"/>
          </a:p>
        </p:txBody>
      </p:sp>
      <p:sp>
        <p:nvSpPr>
          <p:cNvPr id="30" name="Text 28"/>
          <p:cNvSpPr/>
          <p:nvPr/>
        </p:nvSpPr>
        <p:spPr>
          <a:xfrm>
            <a:off x="713232" y="5294376"/>
            <a:ext cx="1353312" cy="164592"/>
          </a:xfrm>
          <a:prstGeom prst="rect">
            <a:avLst/>
          </a:prstGeom>
          <a:noFill/>
          <a:ln/>
        </p:spPr>
        <p:txBody>
          <a:bodyPr wrap="square" lIns="0" tIns="0" rIns="0" bIns="0" rtlCol="0" anchor="ctr"/>
          <a:lstStyle/>
          <a:p>
            <a:pPr indent="0" marL="0">
              <a:buNone/>
            </a:pPr>
            <a:r>
              <a:rPr lang="en-US" sz="850" dirty="0">
                <a:solidFill>
                  <a:srgbClr val="273142"/>
                </a:solidFill>
                <a:latin typeface="Arial" pitchFamily="34" charset="0"/>
                <a:ea typeface="Arial" pitchFamily="34" charset="-122"/>
                <a:cs typeface="Arial" pitchFamily="34" charset="-120"/>
              </a:rPr>
              <a:t>BorderlineSMOTE</a:t>
            </a:r>
            <a:endParaRPr lang="en-US" sz="850" dirty="0"/>
          </a:p>
        </p:txBody>
      </p:sp>
      <p:sp>
        <p:nvSpPr>
          <p:cNvPr id="31" name="Shape 29"/>
          <p:cNvSpPr/>
          <p:nvPr/>
        </p:nvSpPr>
        <p:spPr>
          <a:xfrm>
            <a:off x="2103120" y="5312664"/>
            <a:ext cx="1535479" cy="128016"/>
          </a:xfrm>
          <a:prstGeom prst="rect">
            <a:avLst/>
          </a:prstGeom>
          <a:solidFill>
            <a:srgbClr val="22B8A0"/>
          </a:solidFill>
          <a:ln w="12700">
            <a:solidFill>
              <a:srgbClr val="22B8A0"/>
            </a:solidFill>
            <a:prstDash val="solid"/>
          </a:ln>
        </p:spPr>
      </p:sp>
      <p:sp>
        <p:nvSpPr>
          <p:cNvPr id="32" name="Text 30"/>
          <p:cNvSpPr/>
          <p:nvPr/>
        </p:nvSpPr>
        <p:spPr>
          <a:xfrm>
            <a:off x="4846320" y="5294376"/>
            <a:ext cx="502920" cy="164592"/>
          </a:xfrm>
          <a:prstGeom prst="rect">
            <a:avLst/>
          </a:prstGeom>
          <a:noFill/>
          <a:ln/>
        </p:spPr>
        <p:txBody>
          <a:bodyPr wrap="square" lIns="0" tIns="0" rIns="0" bIns="0" rtlCol="0" anchor="ctr"/>
          <a:lstStyle/>
          <a:p>
            <a:pPr algn="r" indent="0" marL="0">
              <a:buNone/>
            </a:pPr>
            <a:r>
              <a:rPr lang="en-US" sz="840" b="1" dirty="0">
                <a:solidFill>
                  <a:srgbClr val="0B1220"/>
                </a:solidFill>
                <a:latin typeface="Arial" pitchFamily="34" charset="0"/>
                <a:ea typeface="Arial" pitchFamily="34" charset="-122"/>
                <a:cs typeface="Arial" pitchFamily="34" charset="-120"/>
              </a:rPr>
              <a:t>46.0%</a:t>
            </a:r>
            <a:endParaRPr lang="en-US" sz="840" dirty="0"/>
          </a:p>
        </p:txBody>
      </p:sp>
      <p:sp>
        <p:nvSpPr>
          <p:cNvPr id="33" name="Text 31"/>
          <p:cNvSpPr/>
          <p:nvPr/>
        </p:nvSpPr>
        <p:spPr>
          <a:xfrm>
            <a:off x="713232" y="5559552"/>
            <a:ext cx="1353312" cy="164592"/>
          </a:xfrm>
          <a:prstGeom prst="rect">
            <a:avLst/>
          </a:prstGeom>
          <a:noFill/>
          <a:ln/>
        </p:spPr>
        <p:txBody>
          <a:bodyPr wrap="square" lIns="0" tIns="0" rIns="0" bIns="0" rtlCol="0" anchor="ctr"/>
          <a:lstStyle/>
          <a:p>
            <a:pPr indent="0" marL="0">
              <a:buNone/>
            </a:pPr>
            <a:r>
              <a:rPr lang="en-US" sz="850" dirty="0">
                <a:solidFill>
                  <a:srgbClr val="273142"/>
                </a:solidFill>
                <a:latin typeface="Arial" pitchFamily="34" charset="0"/>
                <a:ea typeface="Arial" pitchFamily="34" charset="-122"/>
                <a:cs typeface="Arial" pitchFamily="34" charset="-120"/>
              </a:rPr>
              <a:t>SMOTE</a:t>
            </a:r>
            <a:endParaRPr lang="en-US" sz="850" dirty="0"/>
          </a:p>
        </p:txBody>
      </p:sp>
      <p:sp>
        <p:nvSpPr>
          <p:cNvPr id="34" name="Shape 32"/>
          <p:cNvSpPr/>
          <p:nvPr/>
        </p:nvSpPr>
        <p:spPr>
          <a:xfrm>
            <a:off x="2103120" y="5577840"/>
            <a:ext cx="1535479" cy="128016"/>
          </a:xfrm>
          <a:prstGeom prst="rect">
            <a:avLst/>
          </a:prstGeom>
          <a:solidFill>
            <a:srgbClr val="22B8A0"/>
          </a:solidFill>
          <a:ln w="12700">
            <a:solidFill>
              <a:srgbClr val="22B8A0"/>
            </a:solidFill>
            <a:prstDash val="solid"/>
          </a:ln>
        </p:spPr>
      </p:sp>
      <p:sp>
        <p:nvSpPr>
          <p:cNvPr id="35" name="Text 33"/>
          <p:cNvSpPr/>
          <p:nvPr/>
        </p:nvSpPr>
        <p:spPr>
          <a:xfrm>
            <a:off x="4846320" y="5559552"/>
            <a:ext cx="502920" cy="164592"/>
          </a:xfrm>
          <a:prstGeom prst="rect">
            <a:avLst/>
          </a:prstGeom>
          <a:noFill/>
          <a:ln/>
        </p:spPr>
        <p:txBody>
          <a:bodyPr wrap="square" lIns="0" tIns="0" rIns="0" bIns="0" rtlCol="0" anchor="ctr"/>
          <a:lstStyle/>
          <a:p>
            <a:pPr algn="r" indent="0" marL="0">
              <a:buNone/>
            </a:pPr>
            <a:r>
              <a:rPr lang="en-US" sz="840" b="1" dirty="0">
                <a:solidFill>
                  <a:srgbClr val="0B1220"/>
                </a:solidFill>
                <a:latin typeface="Arial" pitchFamily="34" charset="0"/>
                <a:ea typeface="Arial" pitchFamily="34" charset="-122"/>
                <a:cs typeface="Arial" pitchFamily="34" charset="-120"/>
              </a:rPr>
              <a:t>46.0%</a:t>
            </a:r>
            <a:endParaRPr lang="en-US" sz="840" dirty="0"/>
          </a:p>
        </p:txBody>
      </p:sp>
      <p:sp>
        <p:nvSpPr>
          <p:cNvPr id="36" name="Text 34"/>
          <p:cNvSpPr/>
          <p:nvPr/>
        </p:nvSpPr>
        <p:spPr>
          <a:xfrm>
            <a:off x="713232" y="5824728"/>
            <a:ext cx="1353312" cy="164592"/>
          </a:xfrm>
          <a:prstGeom prst="rect">
            <a:avLst/>
          </a:prstGeom>
          <a:noFill/>
          <a:ln/>
        </p:spPr>
        <p:txBody>
          <a:bodyPr wrap="square" lIns="0" tIns="0" rIns="0" bIns="0" rtlCol="0" anchor="ctr"/>
          <a:lstStyle/>
          <a:p>
            <a:pPr indent="0" marL="0">
              <a:buNone/>
            </a:pPr>
            <a:r>
              <a:rPr lang="en-US" sz="850" dirty="0">
                <a:solidFill>
                  <a:srgbClr val="273142"/>
                </a:solidFill>
                <a:latin typeface="Arial" pitchFamily="34" charset="0"/>
                <a:ea typeface="Arial" pitchFamily="34" charset="-122"/>
                <a:cs typeface="Arial" pitchFamily="34" charset="-120"/>
              </a:rPr>
              <a:t>DummyPrior</a:t>
            </a:r>
            <a:endParaRPr lang="en-US" sz="850" dirty="0"/>
          </a:p>
        </p:txBody>
      </p:sp>
      <p:sp>
        <p:nvSpPr>
          <p:cNvPr id="37" name="Shape 35"/>
          <p:cNvSpPr/>
          <p:nvPr/>
        </p:nvSpPr>
        <p:spPr>
          <a:xfrm>
            <a:off x="2103120" y="5843016"/>
            <a:ext cx="320040" cy="128016"/>
          </a:xfrm>
          <a:prstGeom prst="rect">
            <a:avLst/>
          </a:prstGeom>
          <a:solidFill>
            <a:srgbClr val="22B8A0"/>
          </a:solidFill>
          <a:ln w="12700">
            <a:solidFill>
              <a:srgbClr val="22B8A0"/>
            </a:solidFill>
            <a:prstDash val="solid"/>
          </a:ln>
        </p:spPr>
      </p:sp>
      <p:sp>
        <p:nvSpPr>
          <p:cNvPr id="38" name="Text 36"/>
          <p:cNvSpPr/>
          <p:nvPr/>
        </p:nvSpPr>
        <p:spPr>
          <a:xfrm>
            <a:off x="4846320" y="5824728"/>
            <a:ext cx="502920" cy="164592"/>
          </a:xfrm>
          <a:prstGeom prst="rect">
            <a:avLst/>
          </a:prstGeom>
          <a:noFill/>
          <a:ln/>
        </p:spPr>
        <p:txBody>
          <a:bodyPr wrap="square" lIns="0" tIns="0" rIns="0" bIns="0" rtlCol="0" anchor="ctr"/>
          <a:lstStyle/>
          <a:p>
            <a:pPr algn="r" indent="0" marL="0">
              <a:buNone/>
            </a:pPr>
            <a:r>
              <a:rPr lang="en-US" sz="840" b="1" dirty="0">
                <a:solidFill>
                  <a:srgbClr val="0B1220"/>
                </a:solidFill>
                <a:latin typeface="Arial" pitchFamily="34" charset="0"/>
                <a:ea typeface="Arial" pitchFamily="34" charset="-122"/>
                <a:cs typeface="Arial" pitchFamily="34" charset="-120"/>
              </a:rPr>
              <a:t>33.3%</a:t>
            </a:r>
            <a:endParaRPr lang="en-US" sz="840" dirty="0"/>
          </a:p>
        </p:txBody>
      </p:sp>
      <p:sp>
        <p:nvSpPr>
          <p:cNvPr id="39" name="Shape 37"/>
          <p:cNvSpPr/>
          <p:nvPr/>
        </p:nvSpPr>
        <p:spPr>
          <a:xfrm>
            <a:off x="5650992" y="3950208"/>
            <a:ext cx="5669280" cy="1572768"/>
          </a:xfrm>
          <a:prstGeom prst="roundRect">
            <a:avLst>
              <a:gd name="adj" fmla="val 3488"/>
            </a:avLst>
          </a:prstGeom>
          <a:solidFill>
            <a:srgbClr val="E9F8F3"/>
          </a:solidFill>
          <a:ln w="12700">
            <a:solidFill>
              <a:srgbClr val="E9F8F3"/>
            </a:solidFill>
            <a:prstDash val="solid"/>
          </a:ln>
        </p:spPr>
      </p:sp>
      <p:sp>
        <p:nvSpPr>
          <p:cNvPr id="40" name="Shape 38"/>
          <p:cNvSpPr/>
          <p:nvPr/>
        </p:nvSpPr>
        <p:spPr>
          <a:xfrm>
            <a:off x="5650992" y="3950208"/>
            <a:ext cx="91440" cy="1572768"/>
          </a:xfrm>
          <a:prstGeom prst="rect">
            <a:avLst/>
          </a:prstGeom>
          <a:solidFill>
            <a:srgbClr val="0B8F6A"/>
          </a:solidFill>
          <a:ln w="12700">
            <a:solidFill>
              <a:srgbClr val="0B8F6A"/>
            </a:solidFill>
            <a:prstDash val="solid"/>
          </a:ln>
        </p:spPr>
      </p:sp>
      <p:sp>
        <p:nvSpPr>
          <p:cNvPr id="41" name="Text 39"/>
          <p:cNvSpPr/>
          <p:nvPr/>
        </p:nvSpPr>
        <p:spPr>
          <a:xfrm>
            <a:off x="5870448" y="4069080"/>
            <a:ext cx="5303520" cy="219456"/>
          </a:xfrm>
          <a:prstGeom prst="rect">
            <a:avLst/>
          </a:prstGeom>
          <a:noFill/>
          <a:ln/>
        </p:spPr>
        <p:txBody>
          <a:bodyPr wrap="square" lIns="0" tIns="0" rIns="0" bIns="0" rtlCol="0" anchor="ctr">
            <a:normAutofit/>
          </a:bodyPr>
          <a:lstStyle/>
          <a:p>
            <a:pPr indent="0" marL="0">
              <a:buNone/>
            </a:pPr>
            <a:r>
              <a:rPr sz="1050" b="1">
                <a:solidFill>
                  <a:srgbClr val="0B1220"/>
                </a:solidFill>
                <a:latin typeface="Arial"/>
              </a:rPr>
              <a:t>Imbalance conclusion</a:t>
            </a:r>
            <a:endParaRPr lang="en-US" sz="1050" dirty="0"/>
          </a:p>
        </p:txBody>
      </p:sp>
      <p:sp>
        <p:nvSpPr>
          <p:cNvPr id="42" name="Text 40"/>
          <p:cNvSpPr/>
          <p:nvPr/>
        </p:nvSpPr>
        <p:spPr>
          <a:xfrm>
            <a:off x="5870448" y="4343400"/>
            <a:ext cx="5285232" cy="1078992"/>
          </a:xfrm>
          <a:prstGeom prst="rect">
            <a:avLst/>
          </a:prstGeom>
          <a:noFill/>
          <a:ln/>
        </p:spPr>
        <p:txBody>
          <a:bodyPr wrap="square" lIns="0" tIns="0" rIns="0" bIns="0" rtlCol="0" anchor="ctr">
            <a:normAutofit/>
          </a:bodyPr>
          <a:lstStyle/>
          <a:p>
            <a:pPr indent="0" marL="0">
              <a:buNone/>
            </a:pPr>
            <a:r>
              <a:rPr sz="1270">
                <a:solidFill>
                  <a:srgbClr val="273142"/>
                </a:solidFill>
                <a:latin typeface="Arial"/>
              </a:rPr>
              <a:t>Class weighting was strongest in the earlier imbalance comparison (~52.6% mean balanced accuracy). Final real-data model uses no synthetic oversampling; negative results remain reported.</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15 · BONUS</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sz="2500" b="1">
                <a:solidFill>
                  <a:srgbClr val="0B1220"/>
                </a:solidFill>
                <a:latin typeface="Arial"/>
              </a:rPr>
              <a:t>Live prediction service: &lt;200 ms achieved with evidence</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sz="1380">
                <a:solidFill>
                  <a:srgbClr val="5B6577"/>
                </a:solidFill>
                <a:latin typeface="Arial"/>
              </a:rPr>
              <a:t>Same frozen Phase2 feature contract; models and SHAP explainers load once, and real feature vectors are cached before requests.</a:t>
            </a:r>
            <a:endParaRPr lang="en-US" sz="1050" dirty="0"/>
          </a:p>
        </p:txBody>
      </p:sp>
      <p:sp>
        <p:nvSpPr>
          <p:cNvPr id="5" name="Shape 3"/>
          <p:cNvSpPr/>
          <p:nvPr/>
        </p:nvSpPr>
        <p:spPr>
          <a:xfrm>
            <a:off x="658368" y="1417320"/>
            <a:ext cx="6492240" cy="4553712"/>
          </a:xfrm>
          <a:prstGeom prst="roundRect">
            <a:avLst>
              <a:gd name="adj" fmla="val 1004"/>
            </a:avLst>
          </a:prstGeom>
          <a:solidFill>
            <a:srgbClr val="FFFFFF"/>
          </a:solidFill>
          <a:ln w="10160">
            <a:solidFill>
              <a:srgbClr val="DDE5EA"/>
            </a:solidFill>
            <a:prstDash val="solid"/>
          </a:ln>
        </p:spPr>
      </p:sp>
      <p:sp>
        <p:nvSpPr>
          <p:cNvPr id="7" name="Text 4"/>
          <p:cNvSpPr/>
          <p:nvPr/>
        </p:nvSpPr>
        <p:spPr>
          <a:xfrm>
            <a:off x="822960" y="5669280"/>
            <a:ext cx="6163056" cy="164592"/>
          </a:xfrm>
          <a:prstGeom prst="rect">
            <a:avLst/>
          </a:prstGeom>
          <a:noFill/>
          <a:ln/>
        </p:spPr>
        <p:txBody>
          <a:bodyPr wrap="square" lIns="0" tIns="0" rIns="0" bIns="0" rtlCol="0" anchor="ctr">
            <a:normAutofit/>
          </a:bodyPr>
          <a:lstStyle/>
          <a:p>
            <a:r>
              <a:rPr sz="780"/>
              <a:t>Measured uvicorn HTTP latency distribution from 200 real requests after warm-up.</a:t>
            </a:r>
          </a:p>
        </p:txBody>
      </p:sp>
      <p:sp>
        <p:nvSpPr>
          <p:cNvPr id="8" name="Shape 5"/>
          <p:cNvSpPr/>
          <p:nvPr/>
        </p:nvSpPr>
        <p:spPr>
          <a:xfrm>
            <a:off x="7461504" y="1490472"/>
            <a:ext cx="3767328" cy="1078992"/>
          </a:xfrm>
          <a:prstGeom prst="roundRect">
            <a:avLst>
              <a:gd name="adj" fmla="val 6780"/>
            </a:avLst>
          </a:prstGeom>
          <a:solidFill>
            <a:srgbClr val="FFFFFF"/>
          </a:solidFill>
          <a:ln w="10160">
            <a:solidFill>
              <a:srgbClr val="DDE5EA"/>
            </a:solidFill>
            <a:prstDash val="solid"/>
          </a:ln>
        </p:spPr>
      </p:sp>
      <p:sp>
        <p:nvSpPr>
          <p:cNvPr id="9" name="Shape 6"/>
          <p:cNvSpPr/>
          <p:nvPr/>
        </p:nvSpPr>
        <p:spPr>
          <a:xfrm>
            <a:off x="7461504" y="1490472"/>
            <a:ext cx="73152" cy="1078992"/>
          </a:xfrm>
          <a:prstGeom prst="rect">
            <a:avLst/>
          </a:prstGeom>
          <a:solidFill>
            <a:srgbClr val="0B8F6A"/>
          </a:solidFill>
          <a:ln w="12700">
            <a:solidFill>
              <a:srgbClr val="0B8F6A"/>
            </a:solidFill>
            <a:prstDash val="solid"/>
          </a:ln>
        </p:spPr>
      </p:sp>
      <p:sp>
        <p:nvSpPr>
          <p:cNvPr id="10" name="Text 7"/>
          <p:cNvSpPr/>
          <p:nvPr/>
        </p:nvSpPr>
        <p:spPr>
          <a:xfrm>
            <a:off x="7662672" y="1636776"/>
            <a:ext cx="3419856" cy="256032"/>
          </a:xfrm>
          <a:prstGeom prst="rect">
            <a:avLst/>
          </a:prstGeom>
          <a:noFill/>
          <a:ln/>
        </p:spPr>
        <p:txBody>
          <a:bodyPr wrap="square" lIns="0" tIns="0" rIns="0" bIns="0" rtlCol="0" anchor="ctr">
            <a:normAutofit/>
          </a:bodyPr>
          <a:lstStyle/>
          <a:p>
            <a:pPr indent="0" marL="0">
              <a:buNone/>
            </a:pPr>
            <a:r>
              <a:rPr sz="1100" b="1">
                <a:solidFill>
                  <a:srgbClr val="0B1220"/>
                </a:solidFill>
                <a:latin typeface="Arial"/>
              </a:rPr>
              <a:t>FastAPI service</a:t>
            </a:r>
            <a:endParaRPr lang="en-US" sz="1100" dirty="0"/>
          </a:p>
        </p:txBody>
      </p:sp>
      <p:sp>
        <p:nvSpPr>
          <p:cNvPr id="11" name="Text 8"/>
          <p:cNvSpPr/>
          <p:nvPr/>
        </p:nvSpPr>
        <p:spPr>
          <a:xfrm>
            <a:off x="7662672" y="1965960"/>
            <a:ext cx="3401568" cy="484632"/>
          </a:xfrm>
          <a:prstGeom prst="rect">
            <a:avLst/>
          </a:prstGeom>
          <a:noFill/>
          <a:ln/>
        </p:spPr>
        <p:txBody>
          <a:bodyPr wrap="square" lIns="0" tIns="0" rIns="0" bIns="0" rtlCol="0" anchor="t">
            <a:normAutofit/>
          </a:bodyPr>
          <a:lstStyle/>
          <a:p>
            <a:pPr indent="0" marL="0">
              <a:buNone/>
            </a:pPr>
            <a:r>
              <a:rPr sz="1310">
                <a:solidFill>
                  <a:srgbClr val="273142"/>
                </a:solidFill>
                <a:latin typeface="Arial"/>
              </a:rPr>
              <a:t>11 pre-match / 14 in-play features · 111 + 1,998 vectors cached · Logistic + SVR loaded once · SHAP explainer preloaded.</a:t>
            </a:r>
            <a:endParaRPr lang="en-US" sz="960" dirty="0"/>
          </a:p>
        </p:txBody>
      </p:sp>
      <p:sp>
        <p:nvSpPr>
          <p:cNvPr id="12" name="Shape 9"/>
          <p:cNvSpPr/>
          <p:nvPr/>
        </p:nvSpPr>
        <p:spPr>
          <a:xfrm>
            <a:off x="7461504" y="2788920"/>
            <a:ext cx="3767328" cy="1078992"/>
          </a:xfrm>
          <a:prstGeom prst="roundRect">
            <a:avLst>
              <a:gd name="adj" fmla="val 6780"/>
            </a:avLst>
          </a:prstGeom>
          <a:solidFill>
            <a:srgbClr val="FFFFFF"/>
          </a:solidFill>
          <a:ln w="10160">
            <a:solidFill>
              <a:srgbClr val="DDE5EA"/>
            </a:solidFill>
            <a:prstDash val="solid"/>
          </a:ln>
        </p:spPr>
      </p:sp>
      <p:sp>
        <p:nvSpPr>
          <p:cNvPr id="13" name="Shape 10"/>
          <p:cNvSpPr/>
          <p:nvPr/>
        </p:nvSpPr>
        <p:spPr>
          <a:xfrm>
            <a:off x="7461504" y="2788920"/>
            <a:ext cx="73152" cy="1078992"/>
          </a:xfrm>
          <a:prstGeom prst="rect">
            <a:avLst/>
          </a:prstGeom>
          <a:solidFill>
            <a:srgbClr val="22B8A0"/>
          </a:solidFill>
          <a:ln w="12700">
            <a:solidFill>
              <a:srgbClr val="22B8A0"/>
            </a:solidFill>
            <a:prstDash val="solid"/>
          </a:ln>
        </p:spPr>
      </p:sp>
      <p:sp>
        <p:nvSpPr>
          <p:cNvPr id="14" name="Text 11"/>
          <p:cNvSpPr/>
          <p:nvPr/>
        </p:nvSpPr>
        <p:spPr>
          <a:xfrm>
            <a:off x="7662672" y="2935224"/>
            <a:ext cx="3419856" cy="256032"/>
          </a:xfrm>
          <a:prstGeom prst="rect">
            <a:avLst/>
          </a:prstGeom>
          <a:noFill/>
          <a:ln/>
        </p:spPr>
        <p:txBody>
          <a:bodyPr wrap="square" lIns="0" tIns="0" rIns="0" bIns="0" rtlCol="0" anchor="ctr">
            <a:normAutofit/>
          </a:bodyPr>
          <a:lstStyle/>
          <a:p>
            <a:pPr indent="0" marL="0">
              <a:buNone/>
            </a:pPr>
            <a:r>
              <a:rPr sz="1100" b="1">
                <a:solidFill>
                  <a:srgbClr val="0B1220"/>
                </a:solidFill>
                <a:latin typeface="Arial"/>
              </a:rPr>
              <a:t>Correctness check</a:t>
            </a:r>
            <a:endParaRPr lang="en-US" sz="1100" dirty="0"/>
          </a:p>
        </p:txBody>
      </p:sp>
      <p:sp>
        <p:nvSpPr>
          <p:cNvPr id="15" name="Text 12"/>
          <p:cNvSpPr/>
          <p:nvPr/>
        </p:nvSpPr>
        <p:spPr>
          <a:xfrm>
            <a:off x="7662672" y="3264408"/>
            <a:ext cx="3401568" cy="484632"/>
          </a:xfrm>
          <a:prstGeom prst="rect">
            <a:avLst/>
          </a:prstGeom>
          <a:noFill/>
          <a:ln/>
        </p:spPr>
        <p:txBody>
          <a:bodyPr wrap="square" lIns="0" tIns="0" rIns="0" bIns="0" rtlCol="0" anchor="t">
            <a:normAutofit/>
          </a:bodyPr>
          <a:lstStyle/>
          <a:p>
            <a:pPr indent="0" marL="0">
              <a:buNone/>
            </a:pPr>
            <a:r>
              <a:rPr sz="1320">
                <a:solidFill>
                  <a:srgbClr val="273142"/>
                </a:solidFill>
                <a:latin typeface="Arial"/>
              </a:rPr>
              <a:t>12/12 offline-vs-API cases PASS. Maximum probability difference = 0; maximum expected-margin difference = 0.</a:t>
            </a:r>
            <a:endParaRPr lang="en-US" sz="940" dirty="0"/>
          </a:p>
        </p:txBody>
      </p:sp>
      <p:sp>
        <p:nvSpPr>
          <p:cNvPr id="16" name="Shape 13"/>
          <p:cNvSpPr/>
          <p:nvPr/>
        </p:nvSpPr>
        <p:spPr>
          <a:xfrm>
            <a:off x="7461504" y="4087368"/>
            <a:ext cx="3767328" cy="1078992"/>
          </a:xfrm>
          <a:prstGeom prst="roundRect">
            <a:avLst>
              <a:gd name="adj" fmla="val 6780"/>
            </a:avLst>
          </a:prstGeom>
          <a:solidFill>
            <a:srgbClr val="FFF5D8"/>
          </a:solidFill>
          <a:ln w="10160">
            <a:solidFill>
              <a:srgbClr val="DDE5EA"/>
            </a:solidFill>
            <a:prstDash val="solid"/>
          </a:ln>
        </p:spPr>
      </p:sp>
      <p:sp>
        <p:nvSpPr>
          <p:cNvPr id="17" name="Shape 14"/>
          <p:cNvSpPr/>
          <p:nvPr/>
        </p:nvSpPr>
        <p:spPr>
          <a:xfrm>
            <a:off x="7461504" y="4087368"/>
            <a:ext cx="73152" cy="1078992"/>
          </a:xfrm>
          <a:prstGeom prst="rect">
            <a:avLst/>
          </a:prstGeom>
          <a:solidFill>
            <a:srgbClr val="F4B942"/>
          </a:solidFill>
          <a:ln w="12700">
            <a:solidFill>
              <a:srgbClr val="F4B942"/>
            </a:solidFill>
            <a:prstDash val="solid"/>
          </a:ln>
        </p:spPr>
      </p:sp>
      <p:sp>
        <p:nvSpPr>
          <p:cNvPr id="18" name="Text 15"/>
          <p:cNvSpPr/>
          <p:nvPr/>
        </p:nvSpPr>
        <p:spPr>
          <a:xfrm>
            <a:off x="7662672" y="4233672"/>
            <a:ext cx="3419856" cy="256032"/>
          </a:xfrm>
          <a:prstGeom prst="rect">
            <a:avLst/>
          </a:prstGeom>
          <a:noFill/>
          <a:ln/>
        </p:spPr>
        <p:txBody>
          <a:bodyPr wrap="square" lIns="0" tIns="0" rIns="0" bIns="0" rtlCol="0" anchor="ctr">
            <a:normAutofit/>
          </a:bodyPr>
          <a:lstStyle/>
          <a:p>
            <a:pPr indent="0" marL="0">
              <a:buNone/>
            </a:pPr>
            <a:r>
              <a:rPr sz="1100" b="1">
                <a:solidFill>
                  <a:srgbClr val="0B1220"/>
                </a:solidFill>
                <a:latin typeface="Arial"/>
              </a:rPr>
              <a:t>HTTP latency benchmark</a:t>
            </a:r>
            <a:endParaRPr lang="en-US" sz="1100" dirty="0"/>
          </a:p>
        </p:txBody>
      </p:sp>
      <p:sp>
        <p:nvSpPr>
          <p:cNvPr id="19" name="Text 16"/>
          <p:cNvSpPr/>
          <p:nvPr/>
        </p:nvSpPr>
        <p:spPr>
          <a:xfrm>
            <a:off x="7662672" y="4562856"/>
            <a:ext cx="3401568" cy="484632"/>
          </a:xfrm>
          <a:prstGeom prst="rect">
            <a:avLst/>
          </a:prstGeom>
          <a:noFill/>
          <a:ln/>
        </p:spPr>
        <p:txBody>
          <a:bodyPr wrap="square" lIns="0" tIns="0" rIns="0" bIns="0" rtlCol="0" anchor="t">
            <a:normAutofit/>
          </a:bodyPr>
          <a:lstStyle/>
          <a:p>
            <a:pPr indent="0" marL="0">
              <a:buNone/>
            </a:pPr>
            <a:r>
              <a:rPr sz="1270">
                <a:solidFill>
                  <a:srgbClr val="273142"/>
                </a:solidFill>
                <a:latin typeface="Arial"/>
              </a:rPr>
              <a:t>200 measured requests after warm-up · 200 successes · 0 errors · p50 ≈ 1.8 ms · p95 ≈ 2.1 ms · p99 ≈ 2.7 ms · max ≈ 3.4 ms.</a:t>
            </a:r>
            <a:endParaRPr lang="en-US" sz="940" dirty="0"/>
          </a:p>
        </p:txBody>
      </p:sp>
      <p:sp>
        <p:nvSpPr>
          <p:cNvPr id="20" name="Shape 17"/>
          <p:cNvSpPr/>
          <p:nvPr/>
        </p:nvSpPr>
        <p:spPr>
          <a:xfrm>
            <a:off x="7461504" y="5394960"/>
            <a:ext cx="3767328" cy="621792"/>
          </a:xfrm>
          <a:prstGeom prst="roundRect">
            <a:avLst>
              <a:gd name="adj" fmla="val 8824"/>
            </a:avLst>
          </a:prstGeom>
          <a:solidFill>
            <a:srgbClr val="FDECEC"/>
          </a:solidFill>
          <a:ln w="12700">
            <a:solidFill>
              <a:srgbClr val="FDECEC"/>
            </a:solidFill>
            <a:prstDash val="solid"/>
          </a:ln>
        </p:spPr>
        <p:txBody>
          <a:bodyPr/>
          <a:p>
            <a:r>
              <a:rPr sz="1270"/>
              <a:t>200 measured requests after warm-up · 200 successes · 0 errors · p50 ≈ 1.6 ms · p95 ≈ 1.8 ms · p99 ≈ 2.0 ms · max ≈ 2.1 ms.</a:t>
            </a:r>
          </a:p>
        </p:txBody>
      </p:sp>
      <p:sp>
        <p:nvSpPr>
          <p:cNvPr id="21" name="Shape 18"/>
          <p:cNvSpPr/>
          <p:nvPr/>
        </p:nvSpPr>
        <p:spPr>
          <a:xfrm>
            <a:off x="7461504" y="5394960"/>
            <a:ext cx="91440" cy="621792"/>
          </a:xfrm>
          <a:prstGeom prst="rect">
            <a:avLst/>
          </a:prstGeom>
          <a:solidFill>
            <a:srgbClr val="C94949"/>
          </a:solidFill>
          <a:ln w="12700">
            <a:solidFill>
              <a:srgbClr val="C94949"/>
            </a:solidFill>
            <a:prstDash val="solid"/>
          </a:ln>
        </p:spPr>
      </p:sp>
      <p:sp>
        <p:nvSpPr>
          <p:cNvPr id="22" name="Text 19"/>
          <p:cNvSpPr/>
          <p:nvPr/>
        </p:nvSpPr>
        <p:spPr>
          <a:xfrm>
            <a:off x="7680960" y="5513832"/>
            <a:ext cx="3401568" cy="219456"/>
          </a:xfrm>
          <a:prstGeom prst="rect">
            <a:avLst/>
          </a:prstGeom>
          <a:noFill/>
          <a:ln/>
        </p:spPr>
        <p:txBody>
          <a:bodyPr wrap="square" lIns="0" tIns="0" rIns="0" bIns="0" rtlCol="0" anchor="ctr">
            <a:normAutofit/>
          </a:bodyPr>
          <a:lstStyle/>
          <a:p>
            <a:pPr indent="0" marL="0">
              <a:buNone/>
            </a:pPr>
            <a:r>
              <a:rPr sz="1050" b="1">
                <a:solidFill>
                  <a:srgbClr val="0B1220"/>
                </a:solidFill>
                <a:latin typeface="Arial"/>
              </a:rPr>
              <a:t>Requirement met</a:t>
            </a:r>
            <a:endParaRPr lang="en-US" sz="1050" dirty="0"/>
          </a:p>
        </p:txBody>
      </p:sp>
      <p:sp>
        <p:nvSpPr>
          <p:cNvPr id="23" name="Text 20"/>
          <p:cNvSpPr/>
          <p:nvPr/>
        </p:nvSpPr>
        <p:spPr>
          <a:xfrm>
            <a:off x="7680960" y="5788152"/>
            <a:ext cx="3383280" cy="128016"/>
          </a:xfrm>
          <a:prstGeom prst="rect">
            <a:avLst/>
          </a:prstGeom>
          <a:noFill/>
          <a:ln/>
        </p:spPr>
        <p:txBody>
          <a:bodyPr wrap="square" lIns="0" tIns="0" rIns="0" bIns="0" rtlCol="0" anchor="ctr">
            <a:normAutofit/>
          </a:bodyPr>
          <a:lstStyle/>
          <a:p>
            <a:pPr indent="0" marL="0">
              <a:buNone/>
            </a:pPr>
            <a:r>
              <a:rPr sz="1300">
                <a:solidFill>
                  <a:srgbClr val="273142"/>
                </a:solidFill>
                <a:latin typeface="Arial"/>
              </a:rPr>
              <a:t>p95 and p99 are far below the 200 ms target on this demo machine; raw request timings and summary reports are saved in bonus/outputs.</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16</a:t>
            </a:fld>
            <a:endParaRPr lang="en-US"/>
          </a:p>
        </p:txBody>
      </p:sp>
      <p:pic>
        <p:nvPicPr>
          <p:cNvPr id="26" name="Picture 25" descr="api_latency_histogram_final.png"/>
          <p:cNvPicPr>
            <a:picLocks noChangeAspect="1"/>
          </p:cNvPicPr>
          <p:nvPr/>
        </p:nvPicPr>
        <p:blipFill>
          <a:blip r:embed="rId6"/>
          <a:stretch>
            <a:fillRect/>
          </a:stretch>
        </p:blipFill>
        <p:spPr>
          <a:xfrm>
            <a:off x="2314679" y="1508760"/>
            <a:ext cx="3179618" cy="41148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16 · LIMITATIONS</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sz="2500" b="1">
                <a:solidFill>
                  <a:srgbClr val="0B1220"/>
                </a:solidFill>
                <a:latin typeface="Arial"/>
              </a:rPr>
              <a:t>What is validated — and what remains limited</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sz="1400">
                <a:solidFill>
                  <a:srgbClr val="5B6577"/>
                </a:solidFill>
                <a:latin typeface="Arial"/>
              </a:rPr>
              <a:t>The strongest defense is to attach every claim to its exact data and protocol.</a:t>
            </a:r>
            <a:endParaRPr lang="en-US" sz="1050" dirty="0"/>
          </a:p>
        </p:txBody>
      </p:sp>
      <p:sp>
        <p:nvSpPr>
          <p:cNvPr id="5" name="Text 3"/>
          <p:cNvSpPr/>
          <p:nvPr/>
        </p:nvSpPr>
        <p:spPr>
          <a:xfrm>
            <a:off x="658368" y="1508760"/>
            <a:ext cx="4023360" cy="256032"/>
          </a:xfrm>
          <a:prstGeom prst="rect">
            <a:avLst/>
          </a:prstGeom>
          <a:noFill/>
          <a:ln/>
        </p:spPr>
        <p:txBody>
          <a:bodyPr wrap="square" lIns="0" tIns="0" rIns="0" bIns="0" rtlCol="0" anchor="ctr"/>
          <a:lstStyle/>
          <a:p>
            <a:pPr indent="0" marL="0">
              <a:buNone/>
            </a:pPr>
            <a:r>
              <a:rPr lang="en-US" sz="1100" b="1" dirty="0">
                <a:solidFill>
                  <a:srgbClr val="0B8F6A"/>
                </a:solidFill>
                <a:latin typeface="Arial" pitchFamily="34" charset="0"/>
                <a:ea typeface="Arial" pitchFamily="34" charset="-122"/>
                <a:cs typeface="Arial" pitchFamily="34" charset="-120"/>
              </a:rPr>
              <a:t>VALIDATED IN THIS RUN</a:t>
            </a:r>
            <a:endParaRPr lang="en-US" sz="1100" dirty="0"/>
          </a:p>
        </p:txBody>
      </p:sp>
      <p:sp>
        <p:nvSpPr>
          <p:cNvPr id="6" name="Text 4"/>
          <p:cNvSpPr/>
          <p:nvPr/>
        </p:nvSpPr>
        <p:spPr>
          <a:xfrm>
            <a:off x="694944" y="1874520"/>
            <a:ext cx="5074920" cy="2606040"/>
          </a:xfrm>
          <a:prstGeom prst="rect">
            <a:avLst/>
          </a:prstGeom>
          <a:noFill/>
          <a:ln/>
        </p:spPr>
        <p:txBody>
          <a:bodyPr wrap="square" lIns="254" tIns="254" rIns="254" bIns="254" rtlCol="0" anchor="t">
            <a:normAutofit/>
          </a:bodyPr>
          <a:lstStyle/>
          <a:p>
            <a:pPr marL="170688" indent="-170688">
              <a:buSzPct val="100000"/>
              <a:buChar char="•"/>
            </a:pPr>
            <a:r>
              <a:rPr sz="1400">
                <a:solidFill>
                  <a:srgbClr val="273142"/>
                </a:solidFill>
                <a:latin typeface="Arial"/>
              </a:rPr>
              <a:t>End-to-end real-data pipeline runs with leakage assertions.</a:t>
            </a:r>
            <a:endParaRPr lang="en-US" sz="1120" dirty="0"/>
          </a:p>
          <a:p>
            <a:r>
              <a:rPr sz="1400">
                <a:solidFill>
                  <a:srgbClr val="273142"/>
                </a:solidFill>
                <a:latin typeface="Arial"/>
              </a:rPr>
              <a:t>Feature/model choices use future-season development folds only.</a:t>
            </a:r>
          </a:p>
          <a:p>
            <a:r>
              <a:rPr sz="1400">
                <a:solidFill>
                  <a:srgbClr val="273142"/>
                </a:solidFill>
                <a:latin typeface="Arial"/>
              </a:rPr>
              <a:t>Final 2020/21 uses 33 game-by-game predictions with refit after each match.</a:t>
            </a:r>
          </a:p>
          <a:p>
            <a:r>
              <a:rPr sz="1400">
                <a:solidFill>
                  <a:srgbClr val="273142"/>
                </a:solidFill>
                <a:latin typeface="Arial"/>
              </a:rPr>
              <a:t>Odds coverage is 111/111 and market comparison uses identical final matches.</a:t>
            </a:r>
          </a:p>
          <a:p>
            <a:r>
              <a:rPr sz="1400">
                <a:solidFill>
                  <a:srgbClr val="273142"/>
                </a:solidFill>
                <a:latin typeface="Arial"/>
              </a:rPr>
              <a:t>API correctness is 12/12 and p95/p99 latency is &lt;200 ms.</a:t>
            </a:r>
          </a:p>
        </p:txBody>
      </p:sp>
      <p:sp>
        <p:nvSpPr>
          <p:cNvPr id="7" name="Text 5"/>
          <p:cNvSpPr/>
          <p:nvPr/>
        </p:nvSpPr>
        <p:spPr>
          <a:xfrm>
            <a:off x="6199632" y="1508760"/>
            <a:ext cx="4023360" cy="256032"/>
          </a:xfrm>
          <a:prstGeom prst="rect">
            <a:avLst/>
          </a:prstGeom>
          <a:noFill/>
          <a:ln/>
        </p:spPr>
        <p:txBody>
          <a:bodyPr wrap="square" lIns="0" tIns="0" rIns="0" bIns="0" rtlCol="0" anchor="ctr"/>
          <a:lstStyle/>
          <a:p>
            <a:pPr indent="0" marL="0">
              <a:buNone/>
            </a:pPr>
            <a:r>
              <a:rPr lang="en-US" sz="1100" b="1" dirty="0">
                <a:solidFill>
                  <a:srgbClr val="C94949"/>
                </a:solidFill>
                <a:latin typeface="Arial" pitchFamily="34" charset="0"/>
                <a:ea typeface="Arial" pitchFamily="34" charset="-122"/>
                <a:cs typeface="Arial" pitchFamily="34" charset="-120"/>
              </a:rPr>
              <a:t>NOT YET VALIDATED</a:t>
            </a:r>
            <a:endParaRPr lang="en-US" sz="1100" dirty="0"/>
          </a:p>
        </p:txBody>
      </p:sp>
      <p:sp>
        <p:nvSpPr>
          <p:cNvPr id="8" name="Text 6"/>
          <p:cNvSpPr/>
          <p:nvPr/>
        </p:nvSpPr>
        <p:spPr>
          <a:xfrm>
            <a:off x="6236208" y="1874520"/>
            <a:ext cx="5074920" cy="2606040"/>
          </a:xfrm>
          <a:prstGeom prst="rect">
            <a:avLst/>
          </a:prstGeom>
          <a:noFill/>
          <a:ln/>
        </p:spPr>
        <p:txBody>
          <a:bodyPr wrap="square" lIns="254" tIns="254" rIns="254" bIns="254" rtlCol="0" anchor="t">
            <a:normAutofit/>
          </a:bodyPr>
          <a:lstStyle/>
          <a:p>
            <a:pPr marL="170688" indent="-170688">
              <a:buSzPct val="100000"/>
              <a:buChar char="•"/>
            </a:pPr>
            <a:r>
              <a:rPr sz="1400">
                <a:solidFill>
                  <a:srgbClr val="273142"/>
                </a:solidFill>
                <a:latin typeface="Arial"/>
              </a:rPr>
              <a:t>Generalization to full La Liga, other teams, leagues or eras.</a:t>
            </a:r>
            <a:endParaRPr lang="en-US" sz="1120" dirty="0"/>
          </a:p>
          <a:p>
            <a:r>
              <a:rPr sz="1400">
                <a:solidFill>
                  <a:srgbClr val="273142"/>
                </a:solidFill>
                <a:latin typeface="Arial"/>
              </a:rPr>
              <a:t>A claim of consistent market superiority across independent large test seasons.</a:t>
            </a:r>
          </a:p>
          <a:p>
            <a:r>
              <a:rPr sz="1400">
                <a:solidFill>
                  <a:srgbClr val="273142"/>
                </a:solidFill>
                <a:latin typeface="Arial"/>
              </a:rPr>
              <a:t>Stable calibration under every small-sample regime.</a:t>
            </a:r>
          </a:p>
          <a:p>
            <a:r>
              <a:rPr sz="1400">
                <a:solidFill>
                  <a:srgbClr val="273142"/>
                </a:solidFill>
                <a:latin typeface="Arial"/>
              </a:rPr>
              <a:t>Whether richer live event groups help once the dataset is expanded beyond Barcelona-centered coverage.</a:t>
            </a:r>
          </a:p>
        </p:txBody>
      </p:sp>
      <p:sp>
        <p:nvSpPr>
          <p:cNvPr id="9" name="Shape 7"/>
          <p:cNvSpPr/>
          <p:nvPr/>
        </p:nvSpPr>
        <p:spPr>
          <a:xfrm>
            <a:off x="694944" y="4754880"/>
            <a:ext cx="3383280" cy="1060704"/>
          </a:xfrm>
          <a:prstGeom prst="roundRect">
            <a:avLst>
              <a:gd name="adj" fmla="val 5172"/>
            </a:avLst>
          </a:prstGeom>
          <a:solidFill>
            <a:srgbClr val="FFF5D8"/>
          </a:solidFill>
          <a:ln w="12700">
            <a:solidFill>
              <a:srgbClr val="FFF5D8"/>
            </a:solidFill>
            <a:prstDash val="solid"/>
          </a:ln>
        </p:spPr>
      </p:sp>
      <p:sp>
        <p:nvSpPr>
          <p:cNvPr id="10" name="Shape 8"/>
          <p:cNvSpPr/>
          <p:nvPr/>
        </p:nvSpPr>
        <p:spPr>
          <a:xfrm>
            <a:off x="694944" y="4754880"/>
            <a:ext cx="91440" cy="1060704"/>
          </a:xfrm>
          <a:prstGeom prst="rect">
            <a:avLst/>
          </a:prstGeom>
          <a:solidFill>
            <a:srgbClr val="F4B942"/>
          </a:solidFill>
          <a:ln w="12700">
            <a:solidFill>
              <a:srgbClr val="F4B942"/>
            </a:solidFill>
            <a:prstDash val="solid"/>
          </a:ln>
        </p:spPr>
      </p:sp>
      <p:sp>
        <p:nvSpPr>
          <p:cNvPr id="11" name="Text 9"/>
          <p:cNvSpPr/>
          <p:nvPr/>
        </p:nvSpPr>
        <p:spPr>
          <a:xfrm>
            <a:off x="914400" y="4873752"/>
            <a:ext cx="3017520"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#1 limitation</a:t>
            </a:r>
            <a:endParaRPr lang="en-US" sz="1050" dirty="0"/>
          </a:p>
        </p:txBody>
      </p:sp>
      <p:sp>
        <p:nvSpPr>
          <p:cNvPr id="12" name="Text 10"/>
          <p:cNvSpPr/>
          <p:nvPr/>
        </p:nvSpPr>
        <p:spPr>
          <a:xfrm>
            <a:off x="914400" y="5148072"/>
            <a:ext cx="2999232" cy="566928"/>
          </a:xfrm>
          <a:prstGeom prst="rect">
            <a:avLst/>
          </a:prstGeom>
          <a:noFill/>
          <a:ln/>
        </p:spPr>
        <p:txBody>
          <a:bodyPr wrap="square" lIns="0" tIns="0" rIns="0" bIns="0" rtlCol="0" anchor="ctr">
            <a:normAutofit/>
          </a:bodyPr>
          <a:lstStyle/>
          <a:p>
            <a:pPr indent="0" marL="0">
              <a:buNone/>
            </a:pPr>
            <a:r>
              <a:rPr sz="1320">
                <a:solidFill>
                  <a:srgbClr val="273142"/>
                </a:solidFill>
                <a:latin typeface="Arial"/>
              </a:rPr>
              <a:t>First development training set has only 17 modeling matches.</a:t>
            </a:r>
            <a:endParaRPr lang="en-US" sz="920" dirty="0"/>
          </a:p>
        </p:txBody>
      </p:sp>
      <p:sp>
        <p:nvSpPr>
          <p:cNvPr id="13" name="Shape 11"/>
          <p:cNvSpPr/>
          <p:nvPr/>
        </p:nvSpPr>
        <p:spPr>
          <a:xfrm>
            <a:off x="4407408" y="4754880"/>
            <a:ext cx="3383280" cy="1060704"/>
          </a:xfrm>
          <a:prstGeom prst="roundRect">
            <a:avLst>
              <a:gd name="adj" fmla="val 5172"/>
            </a:avLst>
          </a:prstGeom>
          <a:solidFill>
            <a:srgbClr val="FFF5D8"/>
          </a:solidFill>
          <a:ln w="12700">
            <a:solidFill>
              <a:srgbClr val="FFF5D8"/>
            </a:solidFill>
            <a:prstDash val="solid"/>
          </a:ln>
        </p:spPr>
      </p:sp>
      <p:sp>
        <p:nvSpPr>
          <p:cNvPr id="14" name="Shape 12"/>
          <p:cNvSpPr/>
          <p:nvPr/>
        </p:nvSpPr>
        <p:spPr>
          <a:xfrm>
            <a:off x="4407408" y="4754880"/>
            <a:ext cx="91440" cy="1060704"/>
          </a:xfrm>
          <a:prstGeom prst="rect">
            <a:avLst/>
          </a:prstGeom>
          <a:solidFill>
            <a:srgbClr val="F4B942"/>
          </a:solidFill>
          <a:ln w="12700">
            <a:solidFill>
              <a:srgbClr val="F4B942"/>
            </a:solidFill>
            <a:prstDash val="solid"/>
          </a:ln>
        </p:spPr>
      </p:sp>
      <p:sp>
        <p:nvSpPr>
          <p:cNvPr id="15" name="Text 13"/>
          <p:cNvSpPr/>
          <p:nvPr/>
        </p:nvSpPr>
        <p:spPr>
          <a:xfrm>
            <a:off x="4626864" y="4873752"/>
            <a:ext cx="3017520"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#2 limitation</a:t>
            </a:r>
            <a:endParaRPr lang="en-US" sz="1050" dirty="0"/>
          </a:p>
        </p:txBody>
      </p:sp>
      <p:sp>
        <p:nvSpPr>
          <p:cNvPr id="16" name="Text 14"/>
          <p:cNvSpPr/>
          <p:nvPr/>
        </p:nvSpPr>
        <p:spPr>
          <a:xfrm>
            <a:off x="4626864" y="5148072"/>
            <a:ext cx="2999232" cy="566928"/>
          </a:xfrm>
          <a:prstGeom prst="rect">
            <a:avLst/>
          </a:prstGeom>
          <a:noFill/>
          <a:ln/>
        </p:spPr>
        <p:txBody>
          <a:bodyPr wrap="square" lIns="0" tIns="0" rIns="0" bIns="0" rtlCol="0" anchor="ctr">
            <a:normAutofit/>
          </a:bodyPr>
          <a:lstStyle/>
          <a:p>
            <a:pPr indent="0" marL="0">
              <a:buNone/>
            </a:pPr>
            <a:r>
              <a:rPr sz="1320">
                <a:solidFill>
                  <a:srgbClr val="273142"/>
                </a:solidFill>
                <a:latin typeface="Arial"/>
              </a:rPr>
              <a:t>Dataset is Barcelona-centered, not a full-league sample.</a:t>
            </a:r>
            <a:endParaRPr lang="en-US" sz="920" dirty="0"/>
          </a:p>
        </p:txBody>
      </p:sp>
      <p:sp>
        <p:nvSpPr>
          <p:cNvPr id="17" name="Shape 15"/>
          <p:cNvSpPr/>
          <p:nvPr/>
        </p:nvSpPr>
        <p:spPr>
          <a:xfrm>
            <a:off x="8119872" y="4754880"/>
            <a:ext cx="3383280" cy="1060704"/>
          </a:xfrm>
          <a:prstGeom prst="roundRect">
            <a:avLst>
              <a:gd name="adj" fmla="val 5172"/>
            </a:avLst>
          </a:prstGeom>
          <a:solidFill>
            <a:srgbClr val="FDECEC"/>
          </a:solidFill>
          <a:ln w="12700">
            <a:solidFill>
              <a:srgbClr val="FDECEC"/>
            </a:solidFill>
            <a:prstDash val="solid"/>
          </a:ln>
        </p:spPr>
      </p:sp>
      <p:sp>
        <p:nvSpPr>
          <p:cNvPr id="18" name="Shape 16"/>
          <p:cNvSpPr/>
          <p:nvPr/>
        </p:nvSpPr>
        <p:spPr>
          <a:xfrm>
            <a:off x="8119872" y="4754880"/>
            <a:ext cx="91440" cy="1060704"/>
          </a:xfrm>
          <a:prstGeom prst="rect">
            <a:avLst/>
          </a:prstGeom>
          <a:solidFill>
            <a:srgbClr val="C94949"/>
          </a:solidFill>
          <a:ln w="12700">
            <a:solidFill>
              <a:srgbClr val="C94949"/>
            </a:solidFill>
            <a:prstDash val="solid"/>
          </a:ln>
        </p:spPr>
      </p:sp>
      <p:sp>
        <p:nvSpPr>
          <p:cNvPr id="19" name="Text 17"/>
          <p:cNvSpPr/>
          <p:nvPr/>
        </p:nvSpPr>
        <p:spPr>
          <a:xfrm>
            <a:off x="8339328" y="4873752"/>
            <a:ext cx="3017520"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#3 limitation</a:t>
            </a:r>
            <a:endParaRPr lang="en-US" sz="1050" dirty="0"/>
          </a:p>
        </p:txBody>
      </p:sp>
      <p:sp>
        <p:nvSpPr>
          <p:cNvPr id="20" name="Text 18"/>
          <p:cNvSpPr/>
          <p:nvPr/>
        </p:nvSpPr>
        <p:spPr>
          <a:xfrm>
            <a:off x="8339328" y="5148072"/>
            <a:ext cx="2999232" cy="566928"/>
          </a:xfrm>
          <a:prstGeom prst="rect">
            <a:avLst/>
          </a:prstGeom>
          <a:noFill/>
          <a:ln/>
        </p:spPr>
        <p:txBody>
          <a:bodyPr wrap="square" lIns="0" tIns="0" rIns="0" bIns="0" rtlCol="0" anchor="ctr">
            <a:normAutofit/>
          </a:bodyPr>
          <a:lstStyle/>
          <a:p>
            <a:pPr indent="0" marL="0">
              <a:buNone/>
            </a:pPr>
            <a:r>
              <a:rPr sz="1280">
                <a:solidFill>
                  <a:srgbClr val="273142"/>
                </a:solidFill>
                <a:latin typeface="Arial"/>
              </a:rPr>
              <a:t>Market advantage is one 33-match final test: RPS 0.1732 vs 0.1848. It must be replicated on broader seasons.</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17 · DEFENSE Q&amp;A</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lang="en-US" sz="2500" b="1" dirty="0">
                <a:solidFill>
                  <a:srgbClr val="0B1220"/>
                </a:solidFill>
                <a:latin typeface="Arial" pitchFamily="34" charset="0"/>
                <a:ea typeface="Arial" pitchFamily="34" charset="-122"/>
                <a:cs typeface="Arial" pitchFamily="34" charset="-120"/>
              </a:rPr>
              <a:t>Likely examiner questions · part 1</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Keep these answers short, scoped and defensible.</a:t>
            </a:r>
            <a:endParaRPr lang="en-US" sz="1050" dirty="0"/>
          </a:p>
        </p:txBody>
      </p:sp>
      <p:sp>
        <p:nvSpPr>
          <p:cNvPr id="5" name="Shape 3"/>
          <p:cNvSpPr/>
          <p:nvPr/>
        </p:nvSpPr>
        <p:spPr>
          <a:xfrm>
            <a:off x="658368" y="1481328"/>
            <a:ext cx="5440680" cy="1243584"/>
          </a:xfrm>
          <a:prstGeom prst="roundRect">
            <a:avLst>
              <a:gd name="adj" fmla="val 5882"/>
            </a:avLst>
          </a:prstGeom>
          <a:solidFill>
            <a:srgbClr val="FFFFFF"/>
          </a:solidFill>
          <a:ln w="10160">
            <a:solidFill>
              <a:srgbClr val="DDE5EA"/>
            </a:solidFill>
            <a:prstDash val="solid"/>
          </a:ln>
        </p:spPr>
      </p:sp>
      <p:sp>
        <p:nvSpPr>
          <p:cNvPr id="6" name="Shape 4"/>
          <p:cNvSpPr/>
          <p:nvPr/>
        </p:nvSpPr>
        <p:spPr>
          <a:xfrm>
            <a:off x="658368" y="1481328"/>
            <a:ext cx="73152" cy="1243584"/>
          </a:xfrm>
          <a:prstGeom prst="rect">
            <a:avLst/>
          </a:prstGeom>
          <a:solidFill>
            <a:srgbClr val="0B8F6A"/>
          </a:solidFill>
          <a:ln w="12700">
            <a:solidFill>
              <a:srgbClr val="0B8F6A"/>
            </a:solidFill>
            <a:prstDash val="solid"/>
          </a:ln>
        </p:spPr>
      </p:sp>
      <p:sp>
        <p:nvSpPr>
          <p:cNvPr id="7" name="Text 5"/>
          <p:cNvSpPr/>
          <p:nvPr/>
        </p:nvSpPr>
        <p:spPr>
          <a:xfrm>
            <a:off x="859536" y="1627632"/>
            <a:ext cx="5093208"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Q · What features did you use?</a:t>
            </a:r>
            <a:endParaRPr lang="en-US" sz="1100" dirty="0"/>
          </a:p>
        </p:txBody>
      </p:sp>
      <p:sp>
        <p:nvSpPr>
          <p:cNvPr id="8" name="Text 6"/>
          <p:cNvSpPr/>
          <p:nvPr/>
        </p:nvSpPr>
        <p:spPr>
          <a:xfrm>
            <a:off x="859536" y="1956816"/>
            <a:ext cx="5074920" cy="649224"/>
          </a:xfrm>
          <a:prstGeom prst="rect">
            <a:avLst/>
          </a:prstGeom>
          <a:noFill/>
          <a:ln/>
        </p:spPr>
        <p:txBody>
          <a:bodyPr wrap="square" lIns="0" tIns="0" rIns="0" bIns="0" rtlCol="0" anchor="t">
            <a:normAutofit/>
          </a:bodyPr>
          <a:lstStyle/>
          <a:p>
            <a:pPr indent="0" marL="0">
              <a:buNone/>
            </a:pPr>
            <a:r>
              <a:rPr sz="1230">
                <a:solidFill>
                  <a:srgbClr val="273142"/>
                </a:solidFill>
                <a:latin typeface="Arial"/>
              </a:rPr>
              <a:t>Pre-match: 6 core-form + 5 style contrasts. Style stayed because it improved dev RPS by 0.0147; context/efficiency/short-form/set-piece groups failed thresholds. Live adds only minute, score difference and man advantage: 14 total.</a:t>
            </a:r>
            <a:endParaRPr lang="en-US" sz="910" dirty="0"/>
          </a:p>
        </p:txBody>
      </p:sp>
      <p:sp>
        <p:nvSpPr>
          <p:cNvPr id="9" name="Shape 7"/>
          <p:cNvSpPr/>
          <p:nvPr/>
        </p:nvSpPr>
        <p:spPr>
          <a:xfrm>
            <a:off x="6336792" y="1481328"/>
            <a:ext cx="5193792" cy="1243584"/>
          </a:xfrm>
          <a:prstGeom prst="roundRect">
            <a:avLst>
              <a:gd name="adj" fmla="val 5882"/>
            </a:avLst>
          </a:prstGeom>
          <a:solidFill>
            <a:srgbClr val="FDECEC"/>
          </a:solidFill>
          <a:ln w="10160">
            <a:solidFill>
              <a:srgbClr val="DDE5EA"/>
            </a:solidFill>
            <a:prstDash val="solid"/>
          </a:ln>
        </p:spPr>
      </p:sp>
      <p:sp>
        <p:nvSpPr>
          <p:cNvPr id="10" name="Shape 8"/>
          <p:cNvSpPr/>
          <p:nvPr/>
        </p:nvSpPr>
        <p:spPr>
          <a:xfrm>
            <a:off x="6336792" y="1481328"/>
            <a:ext cx="73152" cy="1243584"/>
          </a:xfrm>
          <a:prstGeom prst="rect">
            <a:avLst/>
          </a:prstGeom>
          <a:solidFill>
            <a:srgbClr val="C94949"/>
          </a:solidFill>
          <a:ln w="12700">
            <a:solidFill>
              <a:srgbClr val="C94949"/>
            </a:solidFill>
            <a:prstDash val="solid"/>
          </a:ln>
        </p:spPr>
      </p:sp>
      <p:sp>
        <p:nvSpPr>
          <p:cNvPr id="11" name="Text 9"/>
          <p:cNvSpPr/>
          <p:nvPr/>
        </p:nvSpPr>
        <p:spPr>
          <a:xfrm>
            <a:off x="6537960" y="1627632"/>
            <a:ext cx="4846320"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Q · What market features did you add?</a:t>
            </a:r>
            <a:endParaRPr lang="en-US" sz="1100" dirty="0"/>
          </a:p>
        </p:txBody>
      </p:sp>
      <p:sp>
        <p:nvSpPr>
          <p:cNvPr id="12" name="Text 10"/>
          <p:cNvSpPr/>
          <p:nvPr/>
        </p:nvSpPr>
        <p:spPr>
          <a:xfrm>
            <a:off x="6537960" y="1956816"/>
            <a:ext cx="4828032" cy="649224"/>
          </a:xfrm>
          <a:prstGeom prst="rect">
            <a:avLst/>
          </a:prstGeom>
          <a:noFill/>
          <a:ln/>
        </p:spPr>
        <p:txBody>
          <a:bodyPr wrap="square" lIns="0" tIns="0" rIns="0" bIns="0" rtlCol="0" anchor="t">
            <a:normAutofit/>
          </a:bodyPr>
          <a:lstStyle/>
          <a:p>
            <a:pPr indent="0" marL="0">
              <a:buNone/>
            </a:pPr>
            <a:r>
              <a:rPr sz="1230">
                <a:solidFill>
                  <a:srgbClr val="273142"/>
                </a:solidFill>
                <a:latin typeface="Arial"/>
              </a:rPr>
              <a:t>111/111 rows are odds-tagged. Odds are de-vigged into H/D/A probabilities and kept baseline-only. On the same 33 final matches: model RPS 0.1732 vs market 0.1848.</a:t>
            </a:r>
            <a:endParaRPr lang="en-US" sz="930" dirty="0"/>
          </a:p>
        </p:txBody>
      </p:sp>
      <p:sp>
        <p:nvSpPr>
          <p:cNvPr id="13" name="Shape 11"/>
          <p:cNvSpPr/>
          <p:nvPr/>
        </p:nvSpPr>
        <p:spPr>
          <a:xfrm>
            <a:off x="658368" y="2990088"/>
            <a:ext cx="5440680" cy="1243584"/>
          </a:xfrm>
          <a:prstGeom prst="roundRect">
            <a:avLst>
              <a:gd name="adj" fmla="val 5882"/>
            </a:avLst>
          </a:prstGeom>
          <a:solidFill>
            <a:srgbClr val="FFFFFF"/>
          </a:solidFill>
          <a:ln w="10160">
            <a:solidFill>
              <a:srgbClr val="DDE5EA"/>
            </a:solidFill>
            <a:prstDash val="solid"/>
          </a:ln>
        </p:spPr>
      </p:sp>
      <p:sp>
        <p:nvSpPr>
          <p:cNvPr id="14" name="Shape 12"/>
          <p:cNvSpPr/>
          <p:nvPr/>
        </p:nvSpPr>
        <p:spPr>
          <a:xfrm>
            <a:off x="658368" y="2990088"/>
            <a:ext cx="73152" cy="1243584"/>
          </a:xfrm>
          <a:prstGeom prst="rect">
            <a:avLst/>
          </a:prstGeom>
          <a:solidFill>
            <a:srgbClr val="22B8A0"/>
          </a:solidFill>
          <a:ln w="12700">
            <a:solidFill>
              <a:srgbClr val="22B8A0"/>
            </a:solidFill>
            <a:prstDash val="solid"/>
          </a:ln>
        </p:spPr>
      </p:sp>
      <p:sp>
        <p:nvSpPr>
          <p:cNvPr id="15" name="Text 13"/>
          <p:cNvSpPr/>
          <p:nvPr/>
        </p:nvSpPr>
        <p:spPr>
          <a:xfrm>
            <a:off x="859536" y="3136392"/>
            <a:ext cx="5093208"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Q · What did you do for validation?</a:t>
            </a:r>
            <a:endParaRPr lang="en-US" sz="1100" dirty="0"/>
          </a:p>
        </p:txBody>
      </p:sp>
      <p:sp>
        <p:nvSpPr>
          <p:cNvPr id="16" name="Text 14"/>
          <p:cNvSpPr/>
          <p:nvPr/>
        </p:nvSpPr>
        <p:spPr>
          <a:xfrm>
            <a:off x="859536" y="3465576"/>
            <a:ext cx="5074920" cy="649224"/>
          </a:xfrm>
          <a:prstGeom prst="rect">
            <a:avLst/>
          </a:prstGeom>
          <a:noFill/>
          <a:ln/>
        </p:spPr>
        <p:txBody>
          <a:bodyPr wrap="square" lIns="0" tIns="0" rIns="0" bIns="0" rtlCol="0" anchor="t">
            <a:normAutofit/>
          </a:bodyPr>
          <a:lstStyle/>
          <a:p>
            <a:pPr indent="0" marL="0">
              <a:buNone/>
            </a:pPr>
            <a:r>
              <a:rPr sz="1210">
                <a:solidFill>
                  <a:srgbClr val="273142"/>
                </a:solidFill>
                <a:latin typeface="Arial"/>
              </a:rPr>
              <a:t>Two future-season development folds choose features/models. Final 2020/21 starts from 61 earlier matches, predicts one game, observes its result, refits, then predicts the next — 33 times.</a:t>
            </a:r>
            <a:endParaRPr lang="en-US" sz="930" dirty="0"/>
          </a:p>
        </p:txBody>
      </p:sp>
      <p:sp>
        <p:nvSpPr>
          <p:cNvPr id="17" name="Shape 15"/>
          <p:cNvSpPr/>
          <p:nvPr/>
        </p:nvSpPr>
        <p:spPr>
          <a:xfrm>
            <a:off x="6336792" y="2990088"/>
            <a:ext cx="5193792" cy="1243584"/>
          </a:xfrm>
          <a:prstGeom prst="roundRect">
            <a:avLst>
              <a:gd name="adj" fmla="val 5882"/>
            </a:avLst>
          </a:prstGeom>
          <a:solidFill>
            <a:srgbClr val="FFFFFF"/>
          </a:solidFill>
          <a:ln w="10160">
            <a:solidFill>
              <a:srgbClr val="DDE5EA"/>
            </a:solidFill>
            <a:prstDash val="solid"/>
          </a:ln>
        </p:spPr>
      </p:sp>
      <p:sp>
        <p:nvSpPr>
          <p:cNvPr id="18" name="Shape 16"/>
          <p:cNvSpPr/>
          <p:nvPr/>
        </p:nvSpPr>
        <p:spPr>
          <a:xfrm>
            <a:off x="6336792" y="2990088"/>
            <a:ext cx="73152" cy="1243584"/>
          </a:xfrm>
          <a:prstGeom prst="rect">
            <a:avLst/>
          </a:prstGeom>
          <a:solidFill>
            <a:srgbClr val="F4B942"/>
          </a:solidFill>
          <a:ln w="12700">
            <a:solidFill>
              <a:srgbClr val="F4B942"/>
            </a:solidFill>
            <a:prstDash val="solid"/>
          </a:ln>
        </p:spPr>
      </p:sp>
      <p:sp>
        <p:nvSpPr>
          <p:cNvPr id="19" name="Text 17"/>
          <p:cNvSpPr/>
          <p:nvPr/>
        </p:nvSpPr>
        <p:spPr>
          <a:xfrm>
            <a:off x="6537960" y="3136392"/>
            <a:ext cx="4846320"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Q · How do you know the model is good?</a:t>
            </a:r>
            <a:endParaRPr lang="en-US" sz="1100" dirty="0"/>
          </a:p>
        </p:txBody>
      </p:sp>
      <p:sp>
        <p:nvSpPr>
          <p:cNvPr id="20" name="Text 18"/>
          <p:cNvSpPr/>
          <p:nvPr/>
        </p:nvSpPr>
        <p:spPr>
          <a:xfrm>
            <a:off x="6537960" y="3465576"/>
            <a:ext cx="4828032" cy="649224"/>
          </a:xfrm>
          <a:prstGeom prst="rect">
            <a:avLst/>
          </a:prstGeom>
          <a:noFill/>
          <a:ln/>
        </p:spPr>
        <p:txBody>
          <a:bodyPr wrap="square" lIns="0" tIns="0" rIns="0" bIns="0" rtlCol="0" anchor="t">
            <a:normAutofit/>
          </a:bodyPr>
          <a:lstStyle/>
          <a:p>
            <a:pPr indent="0" marL="0">
              <a:buNone/>
            </a:pPr>
            <a:r>
              <a:rPr sz="1220">
                <a:solidFill>
                  <a:srgbClr val="273142"/>
                </a:solidFill>
                <a:latin typeface="Arial"/>
              </a:rPr>
              <a:t>Future/prequential testing + exact market baseline + RPS/Log Loss/ECE + regression MAE/RMSE + in-play-vs-frozen curves + SHAP + API correctness/latency.</a:t>
            </a:r>
            <a:endParaRPr lang="en-US" sz="930" dirty="0"/>
          </a:p>
        </p:txBody>
      </p:sp>
      <p:sp>
        <p:nvSpPr>
          <p:cNvPr id="21" name="Shape 19"/>
          <p:cNvSpPr/>
          <p:nvPr/>
        </p:nvSpPr>
        <p:spPr>
          <a:xfrm>
            <a:off x="658368" y="4590288"/>
            <a:ext cx="10872216" cy="960120"/>
          </a:xfrm>
          <a:prstGeom prst="roundRect">
            <a:avLst>
              <a:gd name="adj" fmla="val 5714"/>
            </a:avLst>
          </a:prstGeom>
          <a:solidFill>
            <a:srgbClr val="E9F8F3"/>
          </a:solidFill>
          <a:ln w="12700">
            <a:solidFill>
              <a:srgbClr val="E9F8F3"/>
            </a:solidFill>
            <a:prstDash val="solid"/>
          </a:ln>
        </p:spPr>
      </p:sp>
      <p:sp>
        <p:nvSpPr>
          <p:cNvPr id="22" name="Shape 20"/>
          <p:cNvSpPr/>
          <p:nvPr/>
        </p:nvSpPr>
        <p:spPr>
          <a:xfrm>
            <a:off x="658368" y="4590288"/>
            <a:ext cx="91440" cy="960120"/>
          </a:xfrm>
          <a:prstGeom prst="rect">
            <a:avLst/>
          </a:prstGeom>
          <a:solidFill>
            <a:srgbClr val="0B8F6A"/>
          </a:solidFill>
          <a:ln w="12700">
            <a:solidFill>
              <a:srgbClr val="0B8F6A"/>
            </a:solidFill>
            <a:prstDash val="solid"/>
          </a:ln>
        </p:spPr>
      </p:sp>
      <p:sp>
        <p:nvSpPr>
          <p:cNvPr id="23" name="Text 21"/>
          <p:cNvSpPr/>
          <p:nvPr/>
        </p:nvSpPr>
        <p:spPr>
          <a:xfrm>
            <a:off x="877824" y="4709160"/>
            <a:ext cx="10506456"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A useful sentence to memorize</a:t>
            </a:r>
            <a:endParaRPr lang="en-US" sz="1050" dirty="0"/>
          </a:p>
        </p:txBody>
      </p:sp>
      <p:sp>
        <p:nvSpPr>
          <p:cNvPr id="24" name="Text 22"/>
          <p:cNvSpPr/>
          <p:nvPr/>
        </p:nvSpPr>
        <p:spPr>
          <a:xfrm>
            <a:off x="877824" y="4983480"/>
            <a:ext cx="10488168" cy="466344"/>
          </a:xfrm>
          <a:prstGeom prst="rect">
            <a:avLst/>
          </a:prstGeom>
          <a:noFill/>
          <a:ln/>
        </p:spPr>
        <p:txBody>
          <a:bodyPr wrap="square" lIns="0" tIns="0" rIns="0" bIns="0" rtlCol="0" anchor="ctr">
            <a:normAutofit/>
          </a:bodyPr>
          <a:lstStyle/>
          <a:p>
            <a:pPr indent="0" marL="0">
              <a:buNone/>
            </a:pPr>
            <a:r>
              <a:rPr sz="1300">
                <a:solidFill>
                  <a:srgbClr val="273142"/>
                </a:solidFill>
                <a:latin typeface="Arial"/>
              </a:rPr>
              <a:t>“A defensible football forecast is a probability made with information available at that time, tested forward in time, and compared on the same matches as its baseline.”</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18 · DEFENSE Q&amp;A</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lang="en-US" sz="2500" b="1" dirty="0">
                <a:solidFill>
                  <a:srgbClr val="0B1220"/>
                </a:solidFill>
                <a:latin typeface="Arial" pitchFamily="34" charset="0"/>
                <a:ea typeface="Arial" pitchFamily="34" charset="-122"/>
                <a:cs typeface="Arial" pitchFamily="34" charset="-120"/>
              </a:rPr>
              <a:t>Likely examiner questions · part 2</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The most important issue is attaching every number to its test data.</a:t>
            </a:r>
            <a:endParaRPr lang="en-US" sz="1050" dirty="0"/>
          </a:p>
        </p:txBody>
      </p:sp>
      <p:sp>
        <p:nvSpPr>
          <p:cNvPr id="5" name="Shape 3"/>
          <p:cNvSpPr/>
          <p:nvPr/>
        </p:nvSpPr>
        <p:spPr>
          <a:xfrm>
            <a:off x="658368" y="1490472"/>
            <a:ext cx="5413248" cy="1463040"/>
          </a:xfrm>
          <a:prstGeom prst="roundRect">
            <a:avLst>
              <a:gd name="adj" fmla="val 5000"/>
            </a:avLst>
          </a:prstGeom>
          <a:solidFill>
            <a:srgbClr val="FFFFFF"/>
          </a:solidFill>
          <a:ln w="10160">
            <a:solidFill>
              <a:srgbClr val="DDE5EA"/>
            </a:solidFill>
            <a:prstDash val="solid"/>
          </a:ln>
        </p:spPr>
      </p:sp>
      <p:sp>
        <p:nvSpPr>
          <p:cNvPr id="6" name="Shape 4"/>
          <p:cNvSpPr/>
          <p:nvPr/>
        </p:nvSpPr>
        <p:spPr>
          <a:xfrm>
            <a:off x="658368" y="1490472"/>
            <a:ext cx="73152" cy="1463040"/>
          </a:xfrm>
          <a:prstGeom prst="rect">
            <a:avLst/>
          </a:prstGeom>
          <a:solidFill>
            <a:srgbClr val="0B8F6A"/>
          </a:solidFill>
          <a:ln w="12700">
            <a:solidFill>
              <a:srgbClr val="0B8F6A"/>
            </a:solidFill>
            <a:prstDash val="solid"/>
          </a:ln>
        </p:spPr>
      </p:sp>
      <p:sp>
        <p:nvSpPr>
          <p:cNvPr id="7" name="Text 5"/>
          <p:cNvSpPr/>
          <p:nvPr/>
        </p:nvSpPr>
        <p:spPr>
          <a:xfrm>
            <a:off x="859536" y="1636776"/>
            <a:ext cx="5065776" cy="256032"/>
          </a:xfrm>
          <a:prstGeom prst="rect">
            <a:avLst/>
          </a:prstGeom>
          <a:noFill/>
          <a:ln/>
        </p:spPr>
        <p:txBody>
          <a:bodyPr wrap="square" lIns="0" tIns="0" rIns="0" bIns="0" rtlCol="0" anchor="ctr">
            <a:normAutofit/>
          </a:bodyPr>
          <a:lstStyle/>
          <a:p>
            <a:pPr indent="0" marL="0">
              <a:buNone/>
            </a:pPr>
            <a:r>
              <a:rPr sz="1100" b="1">
                <a:solidFill>
                  <a:srgbClr val="0B1220"/>
                </a:solidFill>
                <a:latin typeface="Arial"/>
              </a:rPr>
              <a:t>Q · These final numbers belong to which data?</a:t>
            </a:r>
            <a:endParaRPr lang="en-US" sz="1100" dirty="0"/>
          </a:p>
        </p:txBody>
      </p:sp>
      <p:sp>
        <p:nvSpPr>
          <p:cNvPr id="8" name="Text 6"/>
          <p:cNvSpPr/>
          <p:nvPr/>
        </p:nvSpPr>
        <p:spPr>
          <a:xfrm>
            <a:off x="859536" y="1965960"/>
            <a:ext cx="5047488" cy="868680"/>
          </a:xfrm>
          <a:prstGeom prst="rect">
            <a:avLst/>
          </a:prstGeom>
          <a:noFill/>
          <a:ln/>
        </p:spPr>
        <p:txBody>
          <a:bodyPr wrap="square" lIns="0" tIns="0" rIns="0" bIns="0" rtlCol="0" anchor="t">
            <a:normAutofit/>
          </a:bodyPr>
          <a:lstStyle/>
          <a:p>
            <a:pPr indent="0" marL="0">
              <a:buNone/>
            </a:pPr>
            <a:r>
              <a:rPr sz="1240">
                <a:solidFill>
                  <a:srgbClr val="273142"/>
                </a:solidFill>
                <a:latin typeface="Arial"/>
              </a:rPr>
              <a:t>Final test = 33 Barcelona-centered La Liga matches in 2020/21. Initial training = 61 matches from 2018/19 + 2019/20; the model is updated after every observed final result.</a:t>
            </a:r>
            <a:endParaRPr lang="en-US" sz="940" dirty="0"/>
          </a:p>
        </p:txBody>
      </p:sp>
      <p:sp>
        <p:nvSpPr>
          <p:cNvPr id="9" name="Shape 7"/>
          <p:cNvSpPr/>
          <p:nvPr/>
        </p:nvSpPr>
        <p:spPr>
          <a:xfrm>
            <a:off x="6309360" y="1490472"/>
            <a:ext cx="5212080" cy="1463040"/>
          </a:xfrm>
          <a:prstGeom prst="roundRect">
            <a:avLst>
              <a:gd name="adj" fmla="val 5000"/>
            </a:avLst>
          </a:prstGeom>
          <a:solidFill>
            <a:srgbClr val="FFF5D8"/>
          </a:solidFill>
          <a:ln w="10160">
            <a:solidFill>
              <a:srgbClr val="DDE5EA"/>
            </a:solidFill>
            <a:prstDash val="solid"/>
          </a:ln>
        </p:spPr>
      </p:sp>
      <p:sp>
        <p:nvSpPr>
          <p:cNvPr id="10" name="Shape 8"/>
          <p:cNvSpPr/>
          <p:nvPr/>
        </p:nvSpPr>
        <p:spPr>
          <a:xfrm>
            <a:off x="6309360" y="1490472"/>
            <a:ext cx="73152" cy="1463040"/>
          </a:xfrm>
          <a:prstGeom prst="rect">
            <a:avLst/>
          </a:prstGeom>
          <a:solidFill>
            <a:srgbClr val="F4B942"/>
          </a:solidFill>
          <a:ln w="12700">
            <a:solidFill>
              <a:srgbClr val="F4B942"/>
            </a:solidFill>
            <a:prstDash val="solid"/>
          </a:ln>
        </p:spPr>
      </p:sp>
      <p:sp>
        <p:nvSpPr>
          <p:cNvPr id="11" name="Text 9"/>
          <p:cNvSpPr/>
          <p:nvPr/>
        </p:nvSpPr>
        <p:spPr>
          <a:xfrm>
            <a:off x="6510528" y="1636776"/>
            <a:ext cx="4864608" cy="256032"/>
          </a:xfrm>
          <a:prstGeom prst="rect">
            <a:avLst/>
          </a:prstGeom>
          <a:noFill/>
          <a:ln/>
        </p:spPr>
        <p:txBody>
          <a:bodyPr wrap="square" lIns="0" tIns="0" rIns="0" bIns="0" rtlCol="0" anchor="ctr">
            <a:normAutofit/>
          </a:bodyPr>
          <a:lstStyle/>
          <a:p>
            <a:pPr indent="0" marL="0">
              <a:buNone/>
            </a:pPr>
            <a:r>
              <a:rPr sz="1100" b="1">
                <a:solidFill>
                  <a:srgbClr val="0B1220"/>
                </a:solidFill>
                <a:latin typeface="Arial"/>
              </a:rPr>
              <a:t>Q · Why refit every match — why not every two weeks?</a:t>
            </a:r>
            <a:endParaRPr lang="en-US" sz="1100" dirty="0"/>
          </a:p>
        </p:txBody>
      </p:sp>
      <p:sp>
        <p:nvSpPr>
          <p:cNvPr id="12" name="Text 10"/>
          <p:cNvSpPr/>
          <p:nvPr/>
        </p:nvSpPr>
        <p:spPr>
          <a:xfrm>
            <a:off x="6510528" y="1965960"/>
            <a:ext cx="4846320" cy="868680"/>
          </a:xfrm>
          <a:prstGeom prst="rect">
            <a:avLst/>
          </a:prstGeom>
          <a:noFill/>
          <a:ln/>
        </p:spPr>
        <p:txBody>
          <a:bodyPr wrap="square" lIns="0" tIns="0" rIns="0" bIns="0" rtlCol="0" anchor="t">
            <a:normAutofit/>
          </a:bodyPr>
          <a:lstStyle/>
          <a:p>
            <a:pPr indent="0" marL="0">
              <a:buNone/>
            </a:pPr>
            <a:r>
              <a:rPr sz="1170">
                <a:solidFill>
                  <a:srgbClr val="273142"/>
                </a:solidFill>
                <a:latin typeface="Arial"/>
              </a:rPr>
              <a:t>We tested cadence on 2019/20: every4 RPS 0.1364, every2 0.1383, every1 0.1391, never 0.1413. We choose every-match for operational freshness and ECE &lt;0.10, while reporting that every4 had slightly better RPS.</a:t>
            </a:r>
            <a:endParaRPr lang="en-US" sz="940" dirty="0"/>
          </a:p>
        </p:txBody>
      </p:sp>
      <p:sp>
        <p:nvSpPr>
          <p:cNvPr id="13" name="Shape 11"/>
          <p:cNvSpPr/>
          <p:nvPr/>
        </p:nvSpPr>
        <p:spPr>
          <a:xfrm>
            <a:off x="658368" y="3273552"/>
            <a:ext cx="5413248" cy="1463040"/>
          </a:xfrm>
          <a:prstGeom prst="roundRect">
            <a:avLst>
              <a:gd name="adj" fmla="val 5000"/>
            </a:avLst>
          </a:prstGeom>
          <a:solidFill>
            <a:srgbClr val="FFFFFF"/>
          </a:solidFill>
          <a:ln w="10160">
            <a:solidFill>
              <a:srgbClr val="DDE5EA"/>
            </a:solidFill>
            <a:prstDash val="solid"/>
          </a:ln>
        </p:spPr>
      </p:sp>
      <p:sp>
        <p:nvSpPr>
          <p:cNvPr id="14" name="Shape 12"/>
          <p:cNvSpPr/>
          <p:nvPr/>
        </p:nvSpPr>
        <p:spPr>
          <a:xfrm>
            <a:off x="658368" y="3273552"/>
            <a:ext cx="73152" cy="1463040"/>
          </a:xfrm>
          <a:prstGeom prst="rect">
            <a:avLst/>
          </a:prstGeom>
          <a:solidFill>
            <a:srgbClr val="22B8A0"/>
          </a:solidFill>
          <a:ln w="12700">
            <a:solidFill>
              <a:srgbClr val="22B8A0"/>
            </a:solidFill>
            <a:prstDash val="solid"/>
          </a:ln>
        </p:spPr>
      </p:sp>
      <p:sp>
        <p:nvSpPr>
          <p:cNvPr id="15" name="Text 13"/>
          <p:cNvSpPr/>
          <p:nvPr/>
        </p:nvSpPr>
        <p:spPr>
          <a:xfrm>
            <a:off x="859536" y="3419856"/>
            <a:ext cx="5065776" cy="256032"/>
          </a:xfrm>
          <a:prstGeom prst="rect">
            <a:avLst/>
          </a:prstGeom>
          <a:noFill/>
          <a:ln/>
        </p:spPr>
        <p:txBody>
          <a:bodyPr wrap="square" lIns="0" tIns="0" rIns="0" bIns="0" rtlCol="0" anchor="ctr">
            <a:normAutofit/>
          </a:bodyPr>
          <a:lstStyle/>
          <a:p>
            <a:pPr indent="0" marL="0">
              <a:buNone/>
            </a:pPr>
            <a:r>
              <a:rPr sz="1100" b="1">
                <a:solidFill>
                  <a:srgbClr val="0B1220"/>
                </a:solidFill>
                <a:latin typeface="Arial"/>
              </a:rPr>
              <a:t>Q · Are the results validate-able?</a:t>
            </a:r>
            <a:endParaRPr lang="en-US" sz="1100" dirty="0"/>
          </a:p>
        </p:txBody>
      </p:sp>
      <p:sp>
        <p:nvSpPr>
          <p:cNvPr id="16" name="Text 14"/>
          <p:cNvSpPr/>
          <p:nvPr/>
        </p:nvSpPr>
        <p:spPr>
          <a:xfrm>
            <a:off x="859536" y="3749040"/>
            <a:ext cx="5047488" cy="868680"/>
          </a:xfrm>
          <a:prstGeom prst="rect">
            <a:avLst/>
          </a:prstGeom>
          <a:noFill/>
          <a:ln/>
        </p:spPr>
        <p:txBody>
          <a:bodyPr wrap="square" lIns="0" tIns="0" rIns="0" bIns="0" rtlCol="0" anchor="t">
            <a:normAutofit/>
          </a:bodyPr>
          <a:lstStyle/>
          <a:p>
            <a:pPr indent="0" marL="0">
              <a:buNone/>
            </a:pPr>
            <a:r>
              <a:rPr sz="1200">
                <a:solidFill>
                  <a:srgbClr val="273142"/>
                </a:solidFill>
                <a:latin typeface="Arial"/>
              </a:rPr>
              <a:t>Internally yes for this held-out sequence: leakage checks, identical odds matches, game-by-game scoring, and API/offline equality are all explicit. External validity remains limited by sample size and team diversity.</a:t>
            </a:r>
            <a:endParaRPr lang="en-US" sz="940" dirty="0"/>
          </a:p>
        </p:txBody>
      </p:sp>
      <p:sp>
        <p:nvSpPr>
          <p:cNvPr id="17" name="Shape 15"/>
          <p:cNvSpPr/>
          <p:nvPr/>
        </p:nvSpPr>
        <p:spPr>
          <a:xfrm>
            <a:off x="6309360" y="3273552"/>
            <a:ext cx="5212080" cy="1463040"/>
          </a:xfrm>
          <a:prstGeom prst="roundRect">
            <a:avLst>
              <a:gd name="adj" fmla="val 5000"/>
            </a:avLst>
          </a:prstGeom>
          <a:solidFill>
            <a:srgbClr val="FFFFFF"/>
          </a:solidFill>
          <a:ln w="10160">
            <a:solidFill>
              <a:srgbClr val="DDE5EA"/>
            </a:solidFill>
            <a:prstDash val="solid"/>
          </a:ln>
        </p:spPr>
      </p:sp>
      <p:sp>
        <p:nvSpPr>
          <p:cNvPr id="18" name="Shape 16"/>
          <p:cNvSpPr/>
          <p:nvPr/>
        </p:nvSpPr>
        <p:spPr>
          <a:xfrm>
            <a:off x="6309360" y="3273552"/>
            <a:ext cx="73152" cy="1463040"/>
          </a:xfrm>
          <a:prstGeom prst="rect">
            <a:avLst/>
          </a:prstGeom>
          <a:solidFill>
            <a:srgbClr val="0B8F6A"/>
          </a:solidFill>
          <a:ln w="12700">
            <a:solidFill>
              <a:srgbClr val="0B8F6A"/>
            </a:solidFill>
            <a:prstDash val="solid"/>
          </a:ln>
        </p:spPr>
      </p:sp>
      <p:sp>
        <p:nvSpPr>
          <p:cNvPr id="19" name="Text 17"/>
          <p:cNvSpPr/>
          <p:nvPr/>
        </p:nvSpPr>
        <p:spPr>
          <a:xfrm>
            <a:off x="6510528" y="3419856"/>
            <a:ext cx="4864608" cy="256032"/>
          </a:xfrm>
          <a:prstGeom prst="rect">
            <a:avLst/>
          </a:prstGeom>
          <a:noFill/>
          <a:ln/>
        </p:spPr>
        <p:txBody>
          <a:bodyPr wrap="square" lIns="0" tIns="0" rIns="0" bIns="0" rtlCol="0" anchor="ctr">
            <a:normAutofit/>
          </a:bodyPr>
          <a:lstStyle/>
          <a:p>
            <a:pPr indent="0" marL="0">
              <a:buNone/>
            </a:pPr>
            <a:r>
              <a:rPr sz="1100" b="1">
                <a:solidFill>
                  <a:srgbClr val="0B1220"/>
                </a:solidFill>
                <a:latin typeface="Arial"/>
              </a:rPr>
              <a:t>Q · What would you improve next?</a:t>
            </a:r>
            <a:endParaRPr lang="en-US" sz="1100" dirty="0"/>
          </a:p>
        </p:txBody>
      </p:sp>
      <p:sp>
        <p:nvSpPr>
          <p:cNvPr id="20" name="Text 18"/>
          <p:cNvSpPr/>
          <p:nvPr/>
        </p:nvSpPr>
        <p:spPr>
          <a:xfrm>
            <a:off x="6510528" y="3749040"/>
            <a:ext cx="4846320" cy="868680"/>
          </a:xfrm>
          <a:prstGeom prst="rect">
            <a:avLst/>
          </a:prstGeom>
          <a:noFill/>
          <a:ln/>
        </p:spPr>
        <p:txBody>
          <a:bodyPr wrap="square" lIns="0" tIns="0" rIns="0" bIns="0" rtlCol="0" anchor="t">
            <a:normAutofit/>
          </a:bodyPr>
          <a:lstStyle/>
          <a:p>
            <a:pPr indent="0" marL="0">
              <a:buNone/>
            </a:pPr>
            <a:r>
              <a:rPr sz="1200">
                <a:solidFill>
                  <a:srgbClr val="273142"/>
                </a:solidFill>
                <a:latin typeface="Arial"/>
              </a:rPr>
              <a:t>Expand to full-league/multi-team seasons; repeat the market comparison on multiple independent years; revisit rejected live groups only if they clear a pre-declared gain threshold; retest calibration with larger N.</a:t>
            </a:r>
            <a:endParaRPr lang="en-US" sz="940" dirty="0"/>
          </a:p>
        </p:txBody>
      </p:sp>
      <p:sp>
        <p:nvSpPr>
          <p:cNvPr id="21" name="Shape 19"/>
          <p:cNvSpPr/>
          <p:nvPr/>
        </p:nvSpPr>
        <p:spPr>
          <a:xfrm>
            <a:off x="658368" y="5175504"/>
            <a:ext cx="10863072" cy="749808"/>
          </a:xfrm>
          <a:prstGeom prst="roundRect">
            <a:avLst>
              <a:gd name="adj" fmla="val 7317"/>
            </a:avLst>
          </a:prstGeom>
          <a:solidFill>
            <a:srgbClr val="FDECEC"/>
          </a:solidFill>
          <a:ln w="12700">
            <a:solidFill>
              <a:srgbClr val="FDECEC"/>
            </a:solidFill>
            <a:prstDash val="solid"/>
          </a:ln>
        </p:spPr>
      </p:sp>
      <p:sp>
        <p:nvSpPr>
          <p:cNvPr id="22" name="Shape 20"/>
          <p:cNvSpPr/>
          <p:nvPr/>
        </p:nvSpPr>
        <p:spPr>
          <a:xfrm>
            <a:off x="658368" y="5175504"/>
            <a:ext cx="91440" cy="749808"/>
          </a:xfrm>
          <a:prstGeom prst="rect">
            <a:avLst/>
          </a:prstGeom>
          <a:solidFill>
            <a:srgbClr val="C94949"/>
          </a:solidFill>
          <a:ln w="12700">
            <a:solidFill>
              <a:srgbClr val="C94949"/>
            </a:solidFill>
            <a:prstDash val="solid"/>
          </a:ln>
        </p:spPr>
      </p:sp>
      <p:sp>
        <p:nvSpPr>
          <p:cNvPr id="23" name="Text 21"/>
          <p:cNvSpPr/>
          <p:nvPr/>
        </p:nvSpPr>
        <p:spPr>
          <a:xfrm>
            <a:off x="877824" y="5294376"/>
            <a:ext cx="10497312"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Never say</a:t>
            </a:r>
            <a:endParaRPr lang="en-US" sz="1050" dirty="0"/>
          </a:p>
        </p:txBody>
      </p:sp>
      <p:sp>
        <p:nvSpPr>
          <p:cNvPr id="24" name="Text 22"/>
          <p:cNvSpPr/>
          <p:nvPr/>
        </p:nvSpPr>
        <p:spPr>
          <a:xfrm>
            <a:off x="877824" y="5568696"/>
            <a:ext cx="10479024" cy="256032"/>
          </a:xfrm>
          <a:prstGeom prst="rect">
            <a:avLst/>
          </a:prstGeom>
          <a:noFill/>
          <a:ln/>
        </p:spPr>
        <p:txBody>
          <a:bodyPr wrap="square" lIns="0" tIns="0" rIns="0" bIns="0" rtlCol="0" anchor="ctr">
            <a:normAutofit/>
          </a:bodyPr>
          <a:lstStyle/>
          <a:p>
            <a:pPr indent="0" marL="0">
              <a:buNone/>
            </a:pPr>
            <a:r>
              <a:rPr sz="1260">
                <a:solidFill>
                  <a:srgbClr val="273142"/>
                </a:solidFill>
                <a:latin typeface="Arial"/>
              </a:rPr>
              <a:t>Never say “our model beats the market.” Say: “On the exact 33-match 2020/21 held-out subset, Logistic had lower RPS/ECE than the de-vigged market; broader replication is still required.”</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19 · CONCLUSION</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sz="2500" b="1">
                <a:solidFill>
                  <a:srgbClr val="0B1220"/>
                </a:solidFill>
                <a:latin typeface="Arial"/>
              </a:rPr>
              <a:t>What we can defend confidently</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sz="1400">
                <a:solidFill>
                  <a:srgbClr val="5B6577"/>
                </a:solidFill>
                <a:latin typeface="Arial"/>
              </a:rPr>
              <a:t>The project now answers the “why this decision?” questions with measured ablations, forward tests and production evidence.</a:t>
            </a:r>
            <a:endParaRPr lang="en-US" sz="1050" dirty="0"/>
          </a:p>
        </p:txBody>
      </p:sp>
      <p:sp>
        <p:nvSpPr>
          <p:cNvPr id="5" name="Shape 3"/>
          <p:cNvSpPr/>
          <p:nvPr/>
        </p:nvSpPr>
        <p:spPr>
          <a:xfrm>
            <a:off x="658368" y="1536192"/>
            <a:ext cx="3383280" cy="1298448"/>
          </a:xfrm>
          <a:prstGeom prst="roundRect">
            <a:avLst>
              <a:gd name="adj" fmla="val 5634"/>
            </a:avLst>
          </a:prstGeom>
          <a:solidFill>
            <a:srgbClr val="FFFFFF"/>
          </a:solidFill>
          <a:ln w="10160">
            <a:solidFill>
              <a:srgbClr val="DDE5EA"/>
            </a:solidFill>
            <a:prstDash val="solid"/>
          </a:ln>
        </p:spPr>
      </p:sp>
      <p:sp>
        <p:nvSpPr>
          <p:cNvPr id="6" name="Shape 4"/>
          <p:cNvSpPr/>
          <p:nvPr/>
        </p:nvSpPr>
        <p:spPr>
          <a:xfrm>
            <a:off x="658368" y="1536192"/>
            <a:ext cx="73152" cy="1298448"/>
          </a:xfrm>
          <a:prstGeom prst="rect">
            <a:avLst/>
          </a:prstGeom>
          <a:solidFill>
            <a:srgbClr val="0B8F6A"/>
          </a:solidFill>
          <a:ln w="12700">
            <a:solidFill>
              <a:srgbClr val="0B8F6A"/>
            </a:solidFill>
            <a:prstDash val="solid"/>
          </a:ln>
        </p:spPr>
      </p:sp>
      <p:sp>
        <p:nvSpPr>
          <p:cNvPr id="7" name="Text 5"/>
          <p:cNvSpPr/>
          <p:nvPr/>
        </p:nvSpPr>
        <p:spPr>
          <a:xfrm>
            <a:off x="859536" y="1682496"/>
            <a:ext cx="3035808" cy="256032"/>
          </a:xfrm>
          <a:prstGeom prst="rect">
            <a:avLst/>
          </a:prstGeom>
          <a:noFill/>
          <a:ln/>
        </p:spPr>
        <p:txBody>
          <a:bodyPr wrap="square" lIns="0" tIns="0" rIns="0" bIns="0" rtlCol="0" anchor="ctr">
            <a:normAutofit/>
          </a:bodyPr>
          <a:lstStyle/>
          <a:p>
            <a:pPr indent="0" marL="0">
              <a:buNone/>
            </a:pPr>
            <a:r>
              <a:rPr lang="en-US" sz="1150" b="1" dirty="0">
                <a:solidFill>
                  <a:srgbClr val="0B1220"/>
                </a:solidFill>
                <a:latin typeface="Arial" pitchFamily="34" charset="0"/>
                <a:ea typeface="Arial" pitchFamily="34" charset="-122"/>
                <a:cs typeface="Arial" pitchFamily="34" charset="-120"/>
              </a:rPr>
              <a:t>1 · Pipeline</a:t>
            </a:r>
            <a:endParaRPr lang="en-US" sz="1150" dirty="0"/>
          </a:p>
        </p:txBody>
      </p:sp>
      <p:sp>
        <p:nvSpPr>
          <p:cNvPr id="8" name="Text 6"/>
          <p:cNvSpPr/>
          <p:nvPr/>
        </p:nvSpPr>
        <p:spPr>
          <a:xfrm>
            <a:off x="859536" y="2011680"/>
            <a:ext cx="3017520" cy="704088"/>
          </a:xfrm>
          <a:prstGeom prst="rect">
            <a:avLst/>
          </a:prstGeom>
          <a:noFill/>
          <a:ln/>
        </p:spPr>
        <p:txBody>
          <a:bodyPr wrap="square" lIns="0" tIns="0" rIns="0" bIns="0" rtlCol="0" anchor="t">
            <a:normAutofit/>
          </a:bodyPr>
          <a:lstStyle/>
          <a:p>
            <a:pPr indent="0" marL="0">
              <a:buNone/>
            </a:pPr>
            <a:r>
              <a:rPr sz="1280">
                <a:solidFill>
                  <a:srgbClr val="273142"/>
                </a:solidFill>
                <a:latin typeface="Arial"/>
              </a:rPr>
              <a:t>Real StatsBomb events + Football-Data odds. 111 modeling rows are odds-tagged. Final contracts: 11 pre-match features and 14 live features; synthetic final rows = 0.</a:t>
            </a:r>
            <a:endParaRPr lang="en-US" sz="950" dirty="0"/>
          </a:p>
        </p:txBody>
      </p:sp>
      <p:sp>
        <p:nvSpPr>
          <p:cNvPr id="9" name="Shape 7"/>
          <p:cNvSpPr/>
          <p:nvPr/>
        </p:nvSpPr>
        <p:spPr>
          <a:xfrm>
            <a:off x="4407408" y="1536192"/>
            <a:ext cx="3383280" cy="1298448"/>
          </a:xfrm>
          <a:prstGeom prst="roundRect">
            <a:avLst>
              <a:gd name="adj" fmla="val 5634"/>
            </a:avLst>
          </a:prstGeom>
          <a:solidFill>
            <a:srgbClr val="FFFFFF"/>
          </a:solidFill>
          <a:ln w="10160">
            <a:solidFill>
              <a:srgbClr val="DDE5EA"/>
            </a:solidFill>
            <a:prstDash val="solid"/>
          </a:ln>
        </p:spPr>
      </p:sp>
      <p:sp>
        <p:nvSpPr>
          <p:cNvPr id="10" name="Shape 8"/>
          <p:cNvSpPr/>
          <p:nvPr/>
        </p:nvSpPr>
        <p:spPr>
          <a:xfrm>
            <a:off x="4407408" y="1536192"/>
            <a:ext cx="73152" cy="1298448"/>
          </a:xfrm>
          <a:prstGeom prst="rect">
            <a:avLst/>
          </a:prstGeom>
          <a:solidFill>
            <a:srgbClr val="22B8A0"/>
          </a:solidFill>
          <a:ln w="12700">
            <a:solidFill>
              <a:srgbClr val="22B8A0"/>
            </a:solidFill>
            <a:prstDash val="solid"/>
          </a:ln>
        </p:spPr>
      </p:sp>
      <p:sp>
        <p:nvSpPr>
          <p:cNvPr id="11" name="Text 9"/>
          <p:cNvSpPr/>
          <p:nvPr/>
        </p:nvSpPr>
        <p:spPr>
          <a:xfrm>
            <a:off x="4608576" y="1682496"/>
            <a:ext cx="3035808" cy="256032"/>
          </a:xfrm>
          <a:prstGeom prst="rect">
            <a:avLst/>
          </a:prstGeom>
          <a:noFill/>
          <a:ln/>
        </p:spPr>
        <p:txBody>
          <a:bodyPr wrap="square" lIns="0" tIns="0" rIns="0" bIns="0" rtlCol="0" anchor="ctr">
            <a:normAutofit/>
          </a:bodyPr>
          <a:lstStyle/>
          <a:p>
            <a:pPr indent="0" marL="0">
              <a:buNone/>
            </a:pPr>
            <a:r>
              <a:rPr lang="en-US" sz="1150" b="1" dirty="0">
                <a:solidFill>
                  <a:srgbClr val="0B1220"/>
                </a:solidFill>
                <a:latin typeface="Arial" pitchFamily="34" charset="0"/>
                <a:ea typeface="Arial" pitchFamily="34" charset="-122"/>
                <a:cs typeface="Arial" pitchFamily="34" charset="-120"/>
              </a:rPr>
              <a:t>2 · Validation</a:t>
            </a:r>
            <a:endParaRPr lang="en-US" sz="1150" dirty="0"/>
          </a:p>
        </p:txBody>
      </p:sp>
      <p:sp>
        <p:nvSpPr>
          <p:cNvPr id="12" name="Text 10"/>
          <p:cNvSpPr/>
          <p:nvPr/>
        </p:nvSpPr>
        <p:spPr>
          <a:xfrm>
            <a:off x="4608576" y="2011680"/>
            <a:ext cx="3017520" cy="704088"/>
          </a:xfrm>
          <a:prstGeom prst="rect">
            <a:avLst/>
          </a:prstGeom>
          <a:noFill/>
          <a:ln/>
        </p:spPr>
        <p:txBody>
          <a:bodyPr wrap="square" lIns="0" tIns="0" rIns="0" bIns="0" rtlCol="0" anchor="t">
            <a:normAutofit/>
          </a:bodyPr>
          <a:lstStyle/>
          <a:p>
            <a:pPr indent="0" marL="0">
              <a:buNone/>
            </a:pPr>
            <a:r>
              <a:rPr sz="1280">
                <a:solidFill>
                  <a:srgbClr val="273142"/>
                </a:solidFill>
                <a:latin typeface="Arial"/>
              </a:rPr>
              <a:t>Two development future-season folds + final 33-match prequential 2020/21 test. Predict → observe → refit after each match; all snapshots remain match-grouped.</a:t>
            </a:r>
            <a:endParaRPr lang="en-US" sz="950" dirty="0"/>
          </a:p>
        </p:txBody>
      </p:sp>
      <p:sp>
        <p:nvSpPr>
          <p:cNvPr id="13" name="Shape 11"/>
          <p:cNvSpPr/>
          <p:nvPr/>
        </p:nvSpPr>
        <p:spPr>
          <a:xfrm>
            <a:off x="8156448" y="1536192"/>
            <a:ext cx="3383280" cy="1298448"/>
          </a:xfrm>
          <a:prstGeom prst="roundRect">
            <a:avLst>
              <a:gd name="adj" fmla="val 5634"/>
            </a:avLst>
          </a:prstGeom>
          <a:solidFill>
            <a:srgbClr val="FFFFFF"/>
          </a:solidFill>
          <a:ln w="10160">
            <a:solidFill>
              <a:srgbClr val="DDE5EA"/>
            </a:solidFill>
            <a:prstDash val="solid"/>
          </a:ln>
        </p:spPr>
      </p:sp>
      <p:sp>
        <p:nvSpPr>
          <p:cNvPr id="14" name="Shape 12"/>
          <p:cNvSpPr/>
          <p:nvPr/>
        </p:nvSpPr>
        <p:spPr>
          <a:xfrm>
            <a:off x="8156448" y="1536192"/>
            <a:ext cx="73152" cy="1298448"/>
          </a:xfrm>
          <a:prstGeom prst="rect">
            <a:avLst/>
          </a:prstGeom>
          <a:solidFill>
            <a:srgbClr val="F4B942"/>
          </a:solidFill>
          <a:ln w="12700">
            <a:solidFill>
              <a:srgbClr val="F4B942"/>
            </a:solidFill>
            <a:prstDash val="solid"/>
          </a:ln>
        </p:spPr>
      </p:sp>
      <p:sp>
        <p:nvSpPr>
          <p:cNvPr id="15" name="Text 13"/>
          <p:cNvSpPr/>
          <p:nvPr/>
        </p:nvSpPr>
        <p:spPr>
          <a:xfrm>
            <a:off x="8357616" y="1682496"/>
            <a:ext cx="3035808" cy="256032"/>
          </a:xfrm>
          <a:prstGeom prst="rect">
            <a:avLst/>
          </a:prstGeom>
          <a:noFill/>
          <a:ln/>
        </p:spPr>
        <p:txBody>
          <a:bodyPr wrap="square" lIns="0" tIns="0" rIns="0" bIns="0" rtlCol="0" anchor="ctr">
            <a:normAutofit/>
          </a:bodyPr>
          <a:lstStyle/>
          <a:p>
            <a:pPr indent="0" marL="0">
              <a:buNone/>
            </a:pPr>
            <a:r>
              <a:rPr lang="en-US" sz="1150" b="1" dirty="0">
                <a:solidFill>
                  <a:srgbClr val="0B1220"/>
                </a:solidFill>
                <a:latin typeface="Arial" pitchFamily="34" charset="0"/>
                <a:ea typeface="Arial" pitchFamily="34" charset="-122"/>
                <a:cs typeface="Arial" pitchFamily="34" charset="-120"/>
              </a:rPr>
              <a:t>3 · Results</a:t>
            </a:r>
            <a:endParaRPr lang="en-US" sz="1150" dirty="0"/>
          </a:p>
        </p:txBody>
      </p:sp>
      <p:sp>
        <p:nvSpPr>
          <p:cNvPr id="16" name="Text 14"/>
          <p:cNvSpPr/>
          <p:nvPr/>
        </p:nvSpPr>
        <p:spPr>
          <a:xfrm>
            <a:off x="8357616" y="2011680"/>
            <a:ext cx="3017520" cy="704088"/>
          </a:xfrm>
          <a:prstGeom prst="rect">
            <a:avLst/>
          </a:prstGeom>
          <a:noFill/>
          <a:ln/>
        </p:spPr>
        <p:txBody>
          <a:bodyPr wrap="square" lIns="0" tIns="0" rIns="0" bIns="0" rtlCol="0" anchor="t">
            <a:normAutofit/>
          </a:bodyPr>
          <a:lstStyle/>
          <a:p>
            <a:r>
              <a:rPr sz="1280"/>
              <a:t>Pre-match RPS 0.1732 vs market 0.1848. At minute 90, live RPS 0.1003 vs frozen 0.1732. API p95 ≈ 1.8 ms with 12/12 correctness cases.</a:t>
            </a:r>
          </a:p>
        </p:txBody>
      </p:sp>
      <p:sp>
        <p:nvSpPr>
          <p:cNvPr id="17" name="Shape 15"/>
          <p:cNvSpPr/>
          <p:nvPr/>
        </p:nvSpPr>
        <p:spPr>
          <a:xfrm>
            <a:off x="658368" y="3200400"/>
            <a:ext cx="10881360" cy="1078992"/>
          </a:xfrm>
          <a:prstGeom prst="roundRect">
            <a:avLst>
              <a:gd name="adj" fmla="val 5085"/>
            </a:avLst>
          </a:prstGeom>
          <a:solidFill>
            <a:srgbClr val="E9F8F3"/>
          </a:solidFill>
          <a:ln w="12700">
            <a:solidFill>
              <a:srgbClr val="E9F8F3"/>
            </a:solidFill>
            <a:prstDash val="solid"/>
          </a:ln>
        </p:spPr>
      </p:sp>
      <p:sp>
        <p:nvSpPr>
          <p:cNvPr id="18" name="Shape 16"/>
          <p:cNvSpPr/>
          <p:nvPr/>
        </p:nvSpPr>
        <p:spPr>
          <a:xfrm>
            <a:off x="658368" y="3200400"/>
            <a:ext cx="91440" cy="1078992"/>
          </a:xfrm>
          <a:prstGeom prst="rect">
            <a:avLst/>
          </a:prstGeom>
          <a:solidFill>
            <a:srgbClr val="0B8F6A"/>
          </a:solidFill>
          <a:ln w="12700">
            <a:solidFill>
              <a:srgbClr val="0B8F6A"/>
            </a:solidFill>
            <a:prstDash val="solid"/>
          </a:ln>
        </p:spPr>
      </p:sp>
      <p:sp>
        <p:nvSpPr>
          <p:cNvPr id="19" name="Text 17"/>
          <p:cNvSpPr/>
          <p:nvPr/>
        </p:nvSpPr>
        <p:spPr>
          <a:xfrm>
            <a:off x="877824" y="3319272"/>
            <a:ext cx="10515600" cy="219456"/>
          </a:xfrm>
          <a:prstGeom prst="rect">
            <a:avLst/>
          </a:prstGeom>
          <a:noFill/>
          <a:ln/>
        </p:spPr>
        <p:txBody>
          <a:bodyPr wrap="square" lIns="0" tIns="0" rIns="0" bIns="0" rtlCol="0" anchor="ctr">
            <a:normAutofit/>
          </a:bodyPr>
          <a:lstStyle/>
          <a:p>
            <a:pPr indent="0" marL="0">
              <a:buNone/>
            </a:pPr>
            <a:r>
              <a:rPr sz="1050" b="1">
                <a:solidFill>
                  <a:srgbClr val="0B1220"/>
                </a:solidFill>
                <a:latin typeface="Arial"/>
              </a:rPr>
              <a:t>Most defensible headline</a:t>
            </a:r>
            <a:endParaRPr lang="en-US" sz="1050" dirty="0"/>
          </a:p>
        </p:txBody>
      </p:sp>
      <p:sp>
        <p:nvSpPr>
          <p:cNvPr id="20" name="Text 18"/>
          <p:cNvSpPr/>
          <p:nvPr/>
        </p:nvSpPr>
        <p:spPr>
          <a:xfrm>
            <a:off x="877824" y="3593592"/>
            <a:ext cx="10497312" cy="585216"/>
          </a:xfrm>
          <a:prstGeom prst="rect">
            <a:avLst/>
          </a:prstGeom>
          <a:noFill/>
          <a:ln/>
        </p:spPr>
        <p:txBody>
          <a:bodyPr wrap="square" lIns="0" tIns="0" rIns="0" bIns="0" rtlCol="0" anchor="ctr">
            <a:normAutofit/>
          </a:bodyPr>
          <a:lstStyle/>
          <a:p>
            <a:pPr indent="0" marL="0">
              <a:buNone/>
            </a:pPr>
            <a:r>
              <a:rPr sz="1300">
                <a:solidFill>
                  <a:srgbClr val="273142"/>
                </a:solidFill>
                <a:latin typeface="Arial"/>
              </a:rPr>
              <a:t>“On the exact 33-match 2020/21 subset, regularized Logistic improves RPS and ECE versus the de-vigged market; live predictions improve as match information accumulates; the API meets the 200 ms target. Scope remains Barcelona-centered.”</a:t>
            </a:r>
            <a:endParaRPr lang="en-US" sz="920" dirty="0"/>
          </a:p>
        </p:txBody>
      </p:sp>
      <p:sp>
        <p:nvSpPr>
          <p:cNvPr id="21" name="Text 19"/>
          <p:cNvSpPr/>
          <p:nvPr/>
        </p:nvSpPr>
        <p:spPr>
          <a:xfrm>
            <a:off x="658368" y="4901184"/>
            <a:ext cx="3108960" cy="310896"/>
          </a:xfrm>
          <a:prstGeom prst="rect">
            <a:avLst/>
          </a:prstGeom>
          <a:noFill/>
          <a:ln/>
        </p:spPr>
        <p:txBody>
          <a:bodyPr wrap="square" lIns="0" tIns="0" rIns="0" bIns="0" rtlCol="0" anchor="ctr"/>
          <a:lstStyle/>
          <a:p>
            <a:pPr indent="0" marL="0">
              <a:buNone/>
            </a:pPr>
            <a:r>
              <a:rPr lang="en-US" sz="1600" b="1" dirty="0">
                <a:solidFill>
                  <a:srgbClr val="0B1220"/>
                </a:solidFill>
                <a:latin typeface="Arial" pitchFamily="34" charset="0"/>
                <a:ea typeface="Arial" pitchFamily="34" charset="-122"/>
                <a:cs typeface="Arial" pitchFamily="34" charset="-120"/>
              </a:rPr>
              <a:t>NOSRATI  ·  YAZDANI</a:t>
            </a:r>
            <a:endParaRPr lang="en-US" sz="1600" dirty="0"/>
          </a:p>
        </p:txBody>
      </p:sp>
      <p:sp>
        <p:nvSpPr>
          <p:cNvPr id="22" name="Text 20"/>
          <p:cNvSpPr/>
          <p:nvPr/>
        </p:nvSpPr>
        <p:spPr>
          <a:xfrm>
            <a:off x="658368" y="5321808"/>
            <a:ext cx="3474720" cy="237744"/>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Instructor: Sattar Hashemi</a:t>
            </a:r>
            <a:endParaRPr lang="en-US" sz="1050" dirty="0"/>
          </a:p>
        </p:txBody>
      </p:sp>
      <p:sp>
        <p:nvSpPr>
          <p:cNvPr id="23" name="Shape 21"/>
          <p:cNvSpPr/>
          <p:nvPr/>
        </p:nvSpPr>
        <p:spPr>
          <a:xfrm>
            <a:off x="7635240" y="4882896"/>
            <a:ext cx="3886200" cy="91440"/>
          </a:xfrm>
          <a:prstGeom prst="rect">
            <a:avLst/>
          </a:prstGeom>
          <a:solidFill>
            <a:srgbClr val="0B8F6A"/>
          </a:solidFill>
          <a:ln w="12700">
            <a:solidFill>
              <a:srgbClr val="0B8F6A"/>
            </a:solidFill>
            <a:prstDash val="solid"/>
          </a:ln>
        </p:spPr>
      </p:sp>
      <p:sp>
        <p:nvSpPr>
          <p:cNvPr id="24" name="Shape 22"/>
          <p:cNvSpPr/>
          <p:nvPr/>
        </p:nvSpPr>
        <p:spPr>
          <a:xfrm>
            <a:off x="7635240" y="5084064"/>
            <a:ext cx="2834640" cy="91440"/>
          </a:xfrm>
          <a:prstGeom prst="rect">
            <a:avLst/>
          </a:prstGeom>
          <a:solidFill>
            <a:srgbClr val="22B8A0"/>
          </a:solidFill>
          <a:ln w="12700">
            <a:solidFill>
              <a:srgbClr val="22B8A0"/>
            </a:solidFill>
            <a:prstDash val="solid"/>
          </a:ln>
        </p:spPr>
      </p:sp>
      <p:sp>
        <p:nvSpPr>
          <p:cNvPr id="25" name="Shape 23"/>
          <p:cNvSpPr/>
          <p:nvPr/>
        </p:nvSpPr>
        <p:spPr>
          <a:xfrm>
            <a:off x="7635240" y="5285232"/>
            <a:ext cx="1691640" cy="91440"/>
          </a:xfrm>
          <a:prstGeom prst="rect">
            <a:avLst/>
          </a:prstGeom>
          <a:solidFill>
            <a:srgbClr val="F4B942"/>
          </a:solidFill>
          <a:ln w="12700">
            <a:solidFill>
              <a:srgbClr val="F4B942"/>
            </a:solidFill>
            <a:prstDash val="solid"/>
          </a:ln>
        </p:spPr>
      </p:sp>
      <p:sp>
        <p:nvSpPr>
          <p:cNvPr id="26" name="Text 24"/>
          <p:cNvSpPr/>
          <p:nvPr/>
        </p:nvSpPr>
        <p:spPr>
          <a:xfrm>
            <a:off x="7626096" y="5632704"/>
            <a:ext cx="3886200" cy="411480"/>
          </a:xfrm>
          <a:prstGeom prst="rect">
            <a:avLst/>
          </a:prstGeom>
          <a:noFill/>
          <a:ln/>
        </p:spPr>
        <p:txBody>
          <a:bodyPr wrap="square" lIns="0" tIns="0" rIns="0" bIns="0" rtlCol="0" anchor="ctr"/>
          <a:lstStyle/>
          <a:p>
            <a:pPr algn="r" indent="0" marL="0">
              <a:buNone/>
            </a:pPr>
            <a:r>
              <a:rPr lang="en-US" sz="2400" b="1" dirty="0">
                <a:solidFill>
                  <a:srgbClr val="0B1220"/>
                </a:solidFill>
                <a:latin typeface="Arial" pitchFamily="34" charset="0"/>
                <a:ea typeface="Arial" pitchFamily="34" charset="-122"/>
                <a:cs typeface="Arial" pitchFamily="34" charset="-120"/>
              </a:rPr>
              <a:t>THANK YOU</a:t>
            </a:r>
            <a:endParaRPr lang="en-US" sz="240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APPENDIX</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lang="en-US" sz="2500" b="1" dirty="0">
                <a:solidFill>
                  <a:srgbClr val="0B1220"/>
                </a:solidFill>
                <a:latin typeface="Arial" pitchFamily="34" charset="0"/>
                <a:ea typeface="Arial" pitchFamily="34" charset="-122"/>
                <a:cs typeface="Arial" pitchFamily="34" charset="-120"/>
              </a:rPr>
              <a:t>References &amp; reproducibility</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Backup slide for methodology questions.</a:t>
            </a:r>
            <a:endParaRPr lang="en-US" sz="1050" dirty="0"/>
          </a:p>
        </p:txBody>
      </p:sp>
      <p:sp>
        <p:nvSpPr>
          <p:cNvPr id="5" name="Text 3"/>
          <p:cNvSpPr/>
          <p:nvPr/>
        </p:nvSpPr>
        <p:spPr>
          <a:xfrm>
            <a:off x="786384" y="1591056"/>
            <a:ext cx="10561320" cy="3429000"/>
          </a:xfrm>
          <a:prstGeom prst="rect">
            <a:avLst/>
          </a:prstGeom>
          <a:noFill/>
          <a:ln/>
        </p:spPr>
        <p:txBody>
          <a:bodyPr wrap="square" lIns="254" tIns="254" rIns="254" bIns="254" rtlCol="0" anchor="t">
            <a:normAutofit/>
          </a:bodyPr>
          <a:lstStyle/>
          <a:p>
            <a:pPr marL="167640" indent="-167640">
              <a:buSzPct val="100000"/>
              <a:buChar char="•"/>
            </a:pPr>
            <a:r>
              <a:rPr lang="en-US" sz="1100" dirty="0">
                <a:solidFill>
                  <a:srgbClr val="273142"/>
                </a:solidFill>
                <a:latin typeface="Arial" pitchFamily="34" charset="0"/>
                <a:ea typeface="Arial" pitchFamily="34" charset="-122"/>
                <a:cs typeface="Arial" pitchFamily="34" charset="-120"/>
              </a:rPr>
              <a:t>StatsBomb / Hudl StatsBomb — StatsBomb Open Data.</a:t>
            </a:r>
            <a:endParaRPr lang="en-US" sz="1100" dirty="0"/>
          </a:p>
          <a:p>
            <a:pPr marL="167640" indent="-167640">
              <a:buSzPct val="100000"/>
              <a:buChar char="•"/>
            </a:pPr>
            <a:r>
              <a:rPr lang="en-US" sz="1100" dirty="0">
                <a:solidFill>
                  <a:srgbClr val="273142"/>
                </a:solidFill>
                <a:latin typeface="Arial" pitchFamily="34" charset="0"/>
                <a:ea typeface="Arial" pitchFamily="34" charset="-122"/>
                <a:cs typeface="Arial" pitchFamily="34" charset="-120"/>
              </a:rPr>
              <a:t>Football-Data.co.uk — historical football results and betting odds data.</a:t>
            </a:r>
            <a:endParaRPr lang="en-US" sz="1100" dirty="0"/>
          </a:p>
          <a:p>
            <a:pPr marL="167640" indent="-167640">
              <a:buSzPct val="100000"/>
              <a:buChar char="•"/>
            </a:pPr>
            <a:r>
              <a:rPr lang="en-US" sz="1100" dirty="0">
                <a:solidFill>
                  <a:srgbClr val="273142"/>
                </a:solidFill>
                <a:latin typeface="Arial" pitchFamily="34" charset="0"/>
                <a:ea typeface="Arial" pitchFamily="34" charset="-122"/>
                <a:cs typeface="Arial" pitchFamily="34" charset="-120"/>
              </a:rPr>
              <a:t>Tan, Y. S., Singh, C., Nasseri, K., et al. — Fast Interpretable Greedy-Tree Sums (FIGS), 2022 preprint.</a:t>
            </a:r>
            <a:endParaRPr lang="en-US" sz="1100" dirty="0"/>
          </a:p>
          <a:p>
            <a:pPr marL="167640" indent="-167640">
              <a:buSzPct val="100000"/>
              <a:buChar char="•"/>
            </a:pPr>
            <a:r>
              <a:rPr lang="en-US" sz="1100" dirty="0">
                <a:solidFill>
                  <a:srgbClr val="273142"/>
                </a:solidFill>
                <a:latin typeface="Arial" pitchFamily="34" charset="0"/>
                <a:ea typeface="Arial" pitchFamily="34" charset="-122"/>
                <a:cs typeface="Arial" pitchFamily="34" charset="-120"/>
              </a:rPr>
              <a:t>Lundberg, S. M. &amp; Lee, S. I. — A Unified Approach to Interpreting Model Predictions (SHAP).</a:t>
            </a:r>
            <a:endParaRPr lang="en-US" sz="1100" dirty="0"/>
          </a:p>
          <a:p>
            <a:pPr marL="167640" indent="-167640">
              <a:buSzPct val="100000"/>
              <a:buChar char="•"/>
            </a:pPr>
            <a:r>
              <a:rPr lang="en-US" sz="1100" dirty="0">
                <a:solidFill>
                  <a:srgbClr val="273142"/>
                </a:solidFill>
                <a:latin typeface="Arial" pitchFamily="34" charset="0"/>
                <a:ea typeface="Arial" pitchFamily="34" charset="-122"/>
                <a:cs typeface="Arial" pitchFamily="34" charset="-120"/>
              </a:rPr>
              <a:t>Chen, T. &amp; Guestrin, C. — XGBoost: A Scalable Tree Boosting System.</a:t>
            </a:r>
            <a:endParaRPr lang="en-US" sz="1100" dirty="0"/>
          </a:p>
          <a:p>
            <a:pPr marL="167640" indent="-167640">
              <a:buSzPct val="100000"/>
              <a:buChar char="•"/>
            </a:pPr>
            <a:r>
              <a:rPr lang="en-US" sz="1100" dirty="0">
                <a:solidFill>
                  <a:srgbClr val="273142"/>
                </a:solidFill>
                <a:latin typeface="Arial" pitchFamily="34" charset="0"/>
                <a:ea typeface="Arial" pitchFamily="34" charset="-122"/>
                <a:cs typeface="Arial" pitchFamily="34" charset="-120"/>
              </a:rPr>
              <a:t>Ke, G. et al. — LightGBM: A Highly Efficient Gradient Boosting Decision Tree.</a:t>
            </a:r>
            <a:endParaRPr lang="en-US" sz="1100" dirty="0"/>
          </a:p>
          <a:p>
            <a:pPr marL="167640" indent="-167640">
              <a:buSzPct val="100000"/>
              <a:buChar char="•"/>
            </a:pPr>
            <a:r>
              <a:rPr lang="en-US" sz="1100" dirty="0">
                <a:solidFill>
                  <a:srgbClr val="273142"/>
                </a:solidFill>
                <a:latin typeface="Arial" pitchFamily="34" charset="0"/>
                <a:ea typeface="Arial" pitchFamily="34" charset="-122"/>
                <a:cs typeface="Arial" pitchFamily="34" charset="-120"/>
              </a:rPr>
              <a:t>Course project specification — Forecasting Competitive Football: Pre-Match &amp; In-Play Prediction from Raw Event Data.</a:t>
            </a:r>
            <a:endParaRPr lang="en-US" sz="1100" dirty="0"/>
          </a:p>
        </p:txBody>
      </p:sp>
      <p:sp>
        <p:nvSpPr>
          <p:cNvPr id="6" name="Shape 4"/>
          <p:cNvSpPr/>
          <p:nvPr/>
        </p:nvSpPr>
        <p:spPr>
          <a:xfrm>
            <a:off x="786384" y="5257800"/>
            <a:ext cx="4919472" cy="713232"/>
          </a:xfrm>
          <a:prstGeom prst="roundRect">
            <a:avLst>
              <a:gd name="adj" fmla="val 7692"/>
            </a:avLst>
          </a:prstGeom>
          <a:solidFill>
            <a:srgbClr val="E9F8F3"/>
          </a:solidFill>
          <a:ln w="12700">
            <a:solidFill>
              <a:srgbClr val="E9F8F3"/>
            </a:solidFill>
            <a:prstDash val="solid"/>
          </a:ln>
        </p:spPr>
      </p:sp>
      <p:sp>
        <p:nvSpPr>
          <p:cNvPr id="7" name="Shape 5"/>
          <p:cNvSpPr/>
          <p:nvPr/>
        </p:nvSpPr>
        <p:spPr>
          <a:xfrm>
            <a:off x="786384" y="5257800"/>
            <a:ext cx="91440" cy="713232"/>
          </a:xfrm>
          <a:prstGeom prst="rect">
            <a:avLst/>
          </a:prstGeom>
          <a:solidFill>
            <a:srgbClr val="0B8F6A"/>
          </a:solidFill>
          <a:ln w="12700">
            <a:solidFill>
              <a:srgbClr val="0B8F6A"/>
            </a:solidFill>
            <a:prstDash val="solid"/>
          </a:ln>
        </p:spPr>
      </p:sp>
      <p:sp>
        <p:nvSpPr>
          <p:cNvPr id="8" name="Text 6"/>
          <p:cNvSpPr/>
          <p:nvPr/>
        </p:nvSpPr>
        <p:spPr>
          <a:xfrm>
            <a:off x="1005840" y="5376672"/>
            <a:ext cx="4553712"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Reproducibility</a:t>
            </a:r>
            <a:endParaRPr lang="en-US" sz="1050" dirty="0"/>
          </a:p>
        </p:txBody>
      </p:sp>
      <p:sp>
        <p:nvSpPr>
          <p:cNvPr id="9" name="Text 7"/>
          <p:cNvSpPr/>
          <p:nvPr/>
        </p:nvSpPr>
        <p:spPr>
          <a:xfrm>
            <a:off x="1005840" y="5650992"/>
            <a:ext cx="4535424" cy="219456"/>
          </a:xfrm>
          <a:prstGeom prst="rect">
            <a:avLst/>
          </a:prstGeom>
          <a:noFill/>
          <a:ln/>
        </p:spPr>
        <p:txBody>
          <a:bodyPr wrap="square" lIns="0" tIns="0" rIns="0" bIns="0" rtlCol="0" anchor="ctr">
            <a:normAutofit/>
          </a:bodyPr>
          <a:lstStyle/>
          <a:p>
            <a:pPr indent="0" marL="0">
              <a:buNone/>
            </a:pPr>
            <a:r>
              <a:rPr sz="1240">
                <a:solidFill>
                  <a:srgbClr val="273142"/>
                </a:solidFill>
                <a:latin typeface="Arial"/>
              </a:rPr>
              <a:t>Seed = 42. Run phase1/phase1_final.ipynb → phase2/phase2_final.ipynb → bonus/bonus_final.ipynb. requirements.txt is pinned; each notebook was executed end-to-end and saved with outputs.</a:t>
            </a:r>
            <a:endParaRPr lang="en-US" sz="920" dirty="0"/>
          </a:p>
        </p:txBody>
      </p:sp>
      <p:sp>
        <p:nvSpPr>
          <p:cNvPr id="10" name="Shape 8"/>
          <p:cNvSpPr/>
          <p:nvPr/>
        </p:nvSpPr>
        <p:spPr>
          <a:xfrm>
            <a:off x="5961888" y="5257800"/>
            <a:ext cx="5394960" cy="713232"/>
          </a:xfrm>
          <a:prstGeom prst="roundRect">
            <a:avLst>
              <a:gd name="adj" fmla="val 7692"/>
            </a:avLst>
          </a:prstGeom>
          <a:solidFill>
            <a:srgbClr val="FFF5D8"/>
          </a:solidFill>
          <a:ln w="12700">
            <a:solidFill>
              <a:srgbClr val="FFF5D8"/>
            </a:solidFill>
            <a:prstDash val="solid"/>
          </a:ln>
        </p:spPr>
      </p:sp>
      <p:sp>
        <p:nvSpPr>
          <p:cNvPr id="11" name="Shape 9"/>
          <p:cNvSpPr/>
          <p:nvPr/>
        </p:nvSpPr>
        <p:spPr>
          <a:xfrm>
            <a:off x="5961888" y="5257800"/>
            <a:ext cx="91440" cy="713232"/>
          </a:xfrm>
          <a:prstGeom prst="rect">
            <a:avLst/>
          </a:prstGeom>
          <a:solidFill>
            <a:srgbClr val="F4B942"/>
          </a:solidFill>
          <a:ln w="12700">
            <a:solidFill>
              <a:srgbClr val="F4B942"/>
            </a:solidFill>
            <a:prstDash val="solid"/>
          </a:ln>
        </p:spPr>
      </p:sp>
      <p:sp>
        <p:nvSpPr>
          <p:cNvPr id="12" name="Text 10"/>
          <p:cNvSpPr/>
          <p:nvPr/>
        </p:nvSpPr>
        <p:spPr>
          <a:xfrm>
            <a:off x="6181344" y="5376672"/>
            <a:ext cx="5029200"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Paper sign-off caveat</a:t>
            </a:r>
            <a:endParaRPr lang="en-US" sz="1050" dirty="0"/>
          </a:p>
        </p:txBody>
      </p:sp>
      <p:sp>
        <p:nvSpPr>
          <p:cNvPr id="13" name="Text 11"/>
          <p:cNvSpPr/>
          <p:nvPr/>
        </p:nvSpPr>
        <p:spPr>
          <a:xfrm>
            <a:off x="6181344" y="5650992"/>
            <a:ext cx="5010912" cy="219456"/>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Exact TA-approved P1/P2 paper bibliography and sign-off metadata are not present in the supplied archive; verify against the papers used in class.</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Department of Computer Science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Forecasting Competitive Football</dc:title>
  <dc:subject>Machine Learning Final Project</dc:subject>
  <dc:creator>Nosrati &amp; Yazdani</dc:creator>
  <cp:lastModifiedBy>Nosrati &amp; Yazdani</cp:lastModifiedBy>
  <cp:revision>1</cp:revision>
  <dcterms:created xsi:type="dcterms:W3CDTF">2026-08-28T14:32:41Z</dcterms:created>
  <dcterms:modified xsi:type="dcterms:W3CDTF">2026-08-28T14:32:41Z</dcterms:modified>
</cp:coreProperties>
</file>