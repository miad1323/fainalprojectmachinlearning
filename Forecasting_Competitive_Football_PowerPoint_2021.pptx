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 built three football forecasting deliverables from raw StatsBomb event data: pre-match outcome classification, pre-match goal-margin regression, and in-play prediction. The key point of this defense is not a single accuracy number; it is whether the pipeline is leakage-safe and whether performance survives future-season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frame the project. Mention the exact scale: 138 raw matches; after requiring enough historical matches, 111 pre-match examples remain; each produces 18 snapshots, so 1,998 live examples. Emphasize that the grading brief asks for all three tasks and probability quality, not accuracy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critical answer if asked “which league and which period?” Say: La Liga seasons 2017/18 through 2020/21, but the StatsBomb open-data availability in this run is Barcelona-centered. Therefore the evaluation is not a full-season league sample and external generalization is 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leakage in plain language. Pre-match: all rolling aggregates are shifted before rolling, so the current match cannot affect its own features. In-play: snapshots only use events with timestamp at or before t. And snapshots are split by parent match, not row-by-row. Resampling is restricted to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feature question by grouping, not reciting 100+ columns. Pre-match categories: form, xG/shots, passing/pressure/territory, discipline, efficiency, rest/context, momentum and home-away differences. In-play adds score state, man advantage, cumulative event statistics, recent 5-minute windows, live differences and the pre-match prior.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say the model beat bookmakers. Say exactly: the code includes odds_tagged and de-vigged H/D/A market probabilities, but the saved run has 0% successful odds tagging. Therefore those fields are unusable and there is no scientifically valid market comparison in the submitted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validation answer: three chronological one-season-ahead outer tests. Hyperparameters and calibration are learned only from the training season. For live data, split by match, not by snapshot. One nuance: feature construction can use earlier completed games within the test season for a later test match, because that information is legitimately available at prediction time; model parameters are still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do you know it is good now?”, say: I do not infer quality from accuracy alone. I require held-out future-season performance, comparison to a dummy prior, proper scoring rules, calibration, class-aware metrics and error analysis. The market baseline is not currently available because odds tagging is 0%, so I cannot use it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directly answers the “2016 vs 2019” type question. A number from one held-out season belongs to that season. The same SVC family scored 51.6%, 70.0% and 60.6% accuracy on the three future seasons. That variation is evidence of temporal distribution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final held-out 2020/21 subset, uncalibrated GBM reached 63.6% accuracy with RPS 0.161 on 33 matches. Always attach the scope: trained on 2019/20, tested on the Barcelona-centered 2020/21 subset. Across all three splits, SVC has the strongest mean balanced accuracy among the uncalibrated fixed variants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is strongest with XGBoost/GBM across the three chronological splits: mean MAE about 1.05–1.06 goals. The final 2020/21 split looks much better — GBM MAE 0.452 — but because the test set is only 33 matches, present it as a split-specific result, not universal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an example, not a universal claim. On split 2, Random Forest isotonic calibration improved ECE from about 0.177 to 0.075, RPS from 0.157 to 0.127 and Log Loss from 0.858 to 0.717. But small samples make isotonic unstable on some other splits, so calibration must be inspected separately by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is required because a forecasting model must be explainable. Global SHAP ranks overall feature impact. Local explanations help with worst-case post-mortems. In-play timelines are intended to show how attribution changes through a match. Do not interpret SHAP causally.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3 is evaluated on 18 snapshots per match. The best cross-season RPS variants are around 0.171 for SVC calibration variants. The saved SHAP timeline is relatively flat, which is a limitation: it suggests the pre-match signal still dominates and the live feature contribution needs stronger or more diverse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negative results. The custom GMM oversampler is implemented and leakage-safe, but it did not outperform simple class weighting in the saved cross-season experiment. Class weighting averaged about 52.6% balanced accuracy; GMM sampling about 47.2%. The first split is very small, and ADASYN could not run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bonus artifact shows a working-looking Streamlit replay, including updated probabilities and margin at successive 5-minute states. The code includes latency benchmarking, but the provided outputs do not include a successful latency benchmark, so do not claim the under-200-millisecond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validity is supported by chronological testing and leakage assertions. External validity is limited: small sample, Barcelona-centered data, and missing odds tags. For stronger validation, expand to full-league seasons and use a growing-window design, for example train 2017/18 through 2019/20 and test 2020/21.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these answers as 20–30 second responses. Start with the headline, then one supporting detail. Do not drown the examiner in feature names or model names unless asked for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answer to the examiner’s likely validation challenge. The number is always conditional on the test season and sample. Internal validity means the pipeline can be checked and rerun on held-out seasons without leakage. External validity requires broader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The main achievement is a complete, leakage-aware, reproducible pipeline with three model tasks and real future-season evaluation. The main limitations are also clear: small Barcelona-centered sample and zero successful odds tags in the saved run. That honesty makes the validation argument stronger, not weaker.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asked about citations or reproducibility. The exact course-approved paper references should be checked against your class paper choices because the uploaded archive does not contain the approval/sign-off PDFs.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8F6A"/>
          </a:solidFill>
          <a:ln w="12700">
            <a:solidFill>
              <a:srgbClr val="0B8F6A"/>
            </a:solidFill>
            <a:prstDash val="solid"/>
          </a:ln>
        </p:spPr>
      </p:sp>
      <p:sp>
        <p:nvSpPr>
          <p:cNvPr id="3" name="Text 1"/>
          <p:cNvSpPr/>
          <p:nvPr/>
        </p:nvSpPr>
        <p:spPr>
          <a:xfrm>
            <a:off x="502920" y="6537960"/>
            <a:ext cx="4389120" cy="164592"/>
          </a:xfrm>
          <a:prstGeom prst="rect">
            <a:avLst/>
          </a:prstGeom>
          <a:noFill/>
          <a:ln/>
        </p:spPr>
        <p:txBody>
          <a:bodyPr wrap="square" lIns="0" tIns="0" rIns="0" bIns="0" rtlCol="0" anchor="ctr"/>
          <a:lstStyle/>
          <a:p>
            <a:pPr indent="0" marL="0">
              <a:buNone/>
            </a:pPr>
            <a:r>
              <a:rPr lang="en-US" sz="750" dirty="0">
                <a:solidFill>
                  <a:srgbClr val="5B6577"/>
                </a:solidFill>
                <a:latin typeface="Arial" pitchFamily="34" charset="0"/>
                <a:ea typeface="Arial" pitchFamily="34" charset="-122"/>
                <a:cs typeface="Arial" pitchFamily="34" charset="-120"/>
              </a:rPr>
              <a:t>FORECASTING COMPETITIVE FOOTBALL</a:t>
            </a:r>
            <a:endParaRPr lang="en-US" sz="75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220"/>
          </a:solidFill>
          <a:ln w="12700">
            <a:solidFill>
              <a:srgbClr val="0B1220"/>
            </a:solidFill>
            <a:prstDash val="solid"/>
          </a:ln>
        </p:spPr>
      </p:sp>
      <p:sp>
        <p:nvSpPr>
          <p:cNvPr id="3" name="Shape 1"/>
          <p:cNvSpPr/>
          <p:nvPr/>
        </p:nvSpPr>
        <p:spPr>
          <a:xfrm>
            <a:off x="7452360" y="594360"/>
            <a:ext cx="4160520" cy="5074920"/>
          </a:xfrm>
          <a:prstGeom prst="rect">
            <a:avLst/>
          </a:prstGeom>
          <a:solidFill>
            <a:srgbClr val="101C2E">
              <a:alpha val="95000"/>
            </a:srgbClr>
          </a:solidFill>
          <a:ln w="15240">
            <a:solidFill>
              <a:srgbClr val="22B8A0">
                <a:alpha val="35000"/>
              </a:srgbClr>
            </a:solidFill>
            <a:prstDash val="solid"/>
          </a:ln>
        </p:spPr>
      </p:sp>
      <p:sp>
        <p:nvSpPr>
          <p:cNvPr id="4" name="Shape 2"/>
          <p:cNvSpPr/>
          <p:nvPr/>
        </p:nvSpPr>
        <p:spPr>
          <a:xfrm>
            <a:off x="8851392" y="1901952"/>
            <a:ext cx="1417320" cy="1417320"/>
          </a:xfrm>
          <a:prstGeom prst="ellipse">
            <a:avLst/>
          </a:prstGeom>
          <a:solidFill>
            <a:srgbClr val="0B1220">
              <a:alpha val="0"/>
            </a:srgbClr>
          </a:solidFill>
          <a:ln w="15240">
            <a:solidFill>
              <a:srgbClr val="22B8A0">
                <a:alpha val="45000"/>
              </a:srgbClr>
            </a:solidFill>
            <a:prstDash val="solid"/>
          </a:ln>
        </p:spPr>
      </p:sp>
      <p:sp>
        <p:nvSpPr>
          <p:cNvPr id="5" name="Shape 3"/>
          <p:cNvSpPr/>
          <p:nvPr/>
        </p:nvSpPr>
        <p:spPr>
          <a:xfrm>
            <a:off x="9564624" y="594360"/>
            <a:ext cx="0" cy="5074920"/>
          </a:xfrm>
          <a:prstGeom prst="line">
            <a:avLst/>
          </a:prstGeom>
          <a:noFill/>
          <a:ln w="13970">
            <a:solidFill>
              <a:srgbClr val="22B8A0">
                <a:alpha val="40000"/>
              </a:srgbClr>
            </a:solidFill>
            <a:prstDash val="solid"/>
          </a:ln>
        </p:spPr>
      </p:sp>
      <p:sp>
        <p:nvSpPr>
          <p:cNvPr id="6" name="Shape 4"/>
          <p:cNvSpPr/>
          <p:nvPr/>
        </p:nvSpPr>
        <p:spPr>
          <a:xfrm>
            <a:off x="7726680" y="914400"/>
            <a:ext cx="109728" cy="109728"/>
          </a:xfrm>
          <a:prstGeom prst="ellipse">
            <a:avLst/>
          </a:prstGeom>
          <a:solidFill>
            <a:srgbClr val="22B8A0"/>
          </a:solidFill>
          <a:ln w="12700">
            <a:solidFill>
              <a:srgbClr val="22B8A0"/>
            </a:solidFill>
            <a:prstDash val="solid"/>
          </a:ln>
        </p:spPr>
      </p:sp>
      <p:sp>
        <p:nvSpPr>
          <p:cNvPr id="7" name="Shape 5"/>
          <p:cNvSpPr/>
          <p:nvPr/>
        </p:nvSpPr>
        <p:spPr>
          <a:xfrm>
            <a:off x="7781544" y="969264"/>
            <a:ext cx="640080" cy="411480"/>
          </a:xfrm>
          <a:prstGeom prst="line">
            <a:avLst/>
          </a:prstGeom>
          <a:noFill/>
          <a:ln w="10160">
            <a:solidFill>
              <a:srgbClr val="22B8A0">
                <a:alpha val="30000"/>
              </a:srgbClr>
            </a:solidFill>
            <a:prstDash val="solid"/>
          </a:ln>
        </p:spPr>
      </p:sp>
      <p:sp>
        <p:nvSpPr>
          <p:cNvPr id="8" name="Shape 6"/>
          <p:cNvSpPr/>
          <p:nvPr/>
        </p:nvSpPr>
        <p:spPr>
          <a:xfrm>
            <a:off x="8869680" y="914400"/>
            <a:ext cx="109728" cy="109728"/>
          </a:xfrm>
          <a:prstGeom prst="ellipse">
            <a:avLst/>
          </a:prstGeom>
          <a:solidFill>
            <a:srgbClr val="F4B942"/>
          </a:solidFill>
          <a:ln w="12700">
            <a:solidFill>
              <a:srgbClr val="F4B942"/>
            </a:solidFill>
            <a:prstDash val="solid"/>
          </a:ln>
        </p:spPr>
      </p:sp>
      <p:sp>
        <p:nvSpPr>
          <p:cNvPr id="9" name="Shape 7"/>
          <p:cNvSpPr/>
          <p:nvPr/>
        </p:nvSpPr>
        <p:spPr>
          <a:xfrm>
            <a:off x="8924544" y="969264"/>
            <a:ext cx="640080" cy="411480"/>
          </a:xfrm>
          <a:prstGeom prst="line">
            <a:avLst/>
          </a:prstGeom>
          <a:noFill/>
          <a:ln w="10160">
            <a:solidFill>
              <a:srgbClr val="22B8A0">
                <a:alpha val="30000"/>
              </a:srgbClr>
            </a:solidFill>
            <a:prstDash val="solid"/>
          </a:ln>
        </p:spPr>
      </p:sp>
      <p:sp>
        <p:nvSpPr>
          <p:cNvPr id="10" name="Shape 8"/>
          <p:cNvSpPr/>
          <p:nvPr/>
        </p:nvSpPr>
        <p:spPr>
          <a:xfrm>
            <a:off x="10012680" y="914400"/>
            <a:ext cx="109728" cy="109728"/>
          </a:xfrm>
          <a:prstGeom prst="ellipse">
            <a:avLst/>
          </a:prstGeom>
          <a:solidFill>
            <a:srgbClr val="22B8A0"/>
          </a:solidFill>
          <a:ln w="12700">
            <a:solidFill>
              <a:srgbClr val="22B8A0"/>
            </a:solidFill>
            <a:prstDash val="solid"/>
          </a:ln>
        </p:spPr>
      </p:sp>
      <p:sp>
        <p:nvSpPr>
          <p:cNvPr id="11" name="Shape 9"/>
          <p:cNvSpPr/>
          <p:nvPr/>
        </p:nvSpPr>
        <p:spPr>
          <a:xfrm>
            <a:off x="10067544" y="969264"/>
            <a:ext cx="640080" cy="411480"/>
          </a:xfrm>
          <a:prstGeom prst="line">
            <a:avLst/>
          </a:prstGeom>
          <a:noFill/>
          <a:ln w="10160">
            <a:solidFill>
              <a:srgbClr val="22B8A0">
                <a:alpha val="30000"/>
              </a:srgbClr>
            </a:solidFill>
            <a:prstDash val="solid"/>
          </a:ln>
        </p:spPr>
      </p:sp>
      <p:sp>
        <p:nvSpPr>
          <p:cNvPr id="12" name="Shape 10"/>
          <p:cNvSpPr/>
          <p:nvPr/>
        </p:nvSpPr>
        <p:spPr>
          <a:xfrm>
            <a:off x="7726680" y="2331720"/>
            <a:ext cx="109728" cy="109728"/>
          </a:xfrm>
          <a:prstGeom prst="ellipse">
            <a:avLst/>
          </a:prstGeom>
          <a:solidFill>
            <a:srgbClr val="F4B942"/>
          </a:solidFill>
          <a:ln w="12700">
            <a:solidFill>
              <a:srgbClr val="F4B942"/>
            </a:solidFill>
            <a:prstDash val="solid"/>
          </a:ln>
        </p:spPr>
      </p:sp>
      <p:sp>
        <p:nvSpPr>
          <p:cNvPr id="13" name="Shape 11"/>
          <p:cNvSpPr/>
          <p:nvPr/>
        </p:nvSpPr>
        <p:spPr>
          <a:xfrm>
            <a:off x="7781544" y="2386584"/>
            <a:ext cx="640080" cy="411480"/>
          </a:xfrm>
          <a:prstGeom prst="line">
            <a:avLst/>
          </a:prstGeom>
          <a:noFill/>
          <a:ln w="10160">
            <a:solidFill>
              <a:srgbClr val="22B8A0">
                <a:alpha val="30000"/>
              </a:srgbClr>
            </a:solidFill>
            <a:prstDash val="solid"/>
          </a:ln>
        </p:spPr>
      </p:sp>
      <p:sp>
        <p:nvSpPr>
          <p:cNvPr id="14" name="Shape 12"/>
          <p:cNvSpPr/>
          <p:nvPr/>
        </p:nvSpPr>
        <p:spPr>
          <a:xfrm>
            <a:off x="8869680" y="2331720"/>
            <a:ext cx="109728" cy="109728"/>
          </a:xfrm>
          <a:prstGeom prst="ellipse">
            <a:avLst/>
          </a:prstGeom>
          <a:solidFill>
            <a:srgbClr val="22B8A0"/>
          </a:solidFill>
          <a:ln w="12700">
            <a:solidFill>
              <a:srgbClr val="22B8A0"/>
            </a:solidFill>
            <a:prstDash val="solid"/>
          </a:ln>
        </p:spPr>
      </p:sp>
      <p:sp>
        <p:nvSpPr>
          <p:cNvPr id="15" name="Shape 13"/>
          <p:cNvSpPr/>
          <p:nvPr/>
        </p:nvSpPr>
        <p:spPr>
          <a:xfrm>
            <a:off x="8924544" y="2386584"/>
            <a:ext cx="640080" cy="411480"/>
          </a:xfrm>
          <a:prstGeom prst="line">
            <a:avLst/>
          </a:prstGeom>
          <a:noFill/>
          <a:ln w="10160">
            <a:solidFill>
              <a:srgbClr val="22B8A0">
                <a:alpha val="30000"/>
              </a:srgbClr>
            </a:solidFill>
            <a:prstDash val="solid"/>
          </a:ln>
        </p:spPr>
      </p:sp>
      <p:sp>
        <p:nvSpPr>
          <p:cNvPr id="16" name="Shape 14"/>
          <p:cNvSpPr/>
          <p:nvPr/>
        </p:nvSpPr>
        <p:spPr>
          <a:xfrm>
            <a:off x="10012680" y="2331720"/>
            <a:ext cx="109728" cy="109728"/>
          </a:xfrm>
          <a:prstGeom prst="ellipse">
            <a:avLst/>
          </a:prstGeom>
          <a:solidFill>
            <a:srgbClr val="F4B942"/>
          </a:solidFill>
          <a:ln w="12700">
            <a:solidFill>
              <a:srgbClr val="F4B942"/>
            </a:solidFill>
            <a:prstDash val="solid"/>
          </a:ln>
        </p:spPr>
      </p:sp>
      <p:sp>
        <p:nvSpPr>
          <p:cNvPr id="17" name="Shape 15"/>
          <p:cNvSpPr/>
          <p:nvPr/>
        </p:nvSpPr>
        <p:spPr>
          <a:xfrm>
            <a:off x="10067544" y="2386584"/>
            <a:ext cx="640080" cy="411480"/>
          </a:xfrm>
          <a:prstGeom prst="line">
            <a:avLst/>
          </a:prstGeom>
          <a:noFill/>
          <a:ln w="10160">
            <a:solidFill>
              <a:srgbClr val="22B8A0">
                <a:alpha val="30000"/>
              </a:srgbClr>
            </a:solidFill>
            <a:prstDash val="solid"/>
          </a:ln>
        </p:spPr>
      </p:sp>
      <p:sp>
        <p:nvSpPr>
          <p:cNvPr id="18" name="Shape 16"/>
          <p:cNvSpPr/>
          <p:nvPr/>
        </p:nvSpPr>
        <p:spPr>
          <a:xfrm>
            <a:off x="7726680" y="3749040"/>
            <a:ext cx="109728" cy="109728"/>
          </a:xfrm>
          <a:prstGeom prst="ellipse">
            <a:avLst/>
          </a:prstGeom>
          <a:solidFill>
            <a:srgbClr val="22B8A0"/>
          </a:solidFill>
          <a:ln w="12700">
            <a:solidFill>
              <a:srgbClr val="22B8A0"/>
            </a:solidFill>
            <a:prstDash val="solid"/>
          </a:ln>
        </p:spPr>
      </p:sp>
      <p:sp>
        <p:nvSpPr>
          <p:cNvPr id="19" name="Shape 17"/>
          <p:cNvSpPr/>
          <p:nvPr/>
        </p:nvSpPr>
        <p:spPr>
          <a:xfrm>
            <a:off x="7781544" y="3803904"/>
            <a:ext cx="640080" cy="411480"/>
          </a:xfrm>
          <a:prstGeom prst="line">
            <a:avLst/>
          </a:prstGeom>
          <a:noFill/>
          <a:ln w="10160">
            <a:solidFill>
              <a:srgbClr val="22B8A0">
                <a:alpha val="30000"/>
              </a:srgbClr>
            </a:solidFill>
            <a:prstDash val="solid"/>
          </a:ln>
        </p:spPr>
      </p:sp>
      <p:sp>
        <p:nvSpPr>
          <p:cNvPr id="20" name="Shape 18"/>
          <p:cNvSpPr/>
          <p:nvPr/>
        </p:nvSpPr>
        <p:spPr>
          <a:xfrm>
            <a:off x="8869680" y="3749040"/>
            <a:ext cx="109728" cy="109728"/>
          </a:xfrm>
          <a:prstGeom prst="ellipse">
            <a:avLst/>
          </a:prstGeom>
          <a:solidFill>
            <a:srgbClr val="F4B942"/>
          </a:solidFill>
          <a:ln w="12700">
            <a:solidFill>
              <a:srgbClr val="F4B942"/>
            </a:solidFill>
            <a:prstDash val="solid"/>
          </a:ln>
        </p:spPr>
      </p:sp>
      <p:sp>
        <p:nvSpPr>
          <p:cNvPr id="21" name="Shape 19"/>
          <p:cNvSpPr/>
          <p:nvPr/>
        </p:nvSpPr>
        <p:spPr>
          <a:xfrm>
            <a:off x="8924544" y="3803904"/>
            <a:ext cx="640080" cy="411480"/>
          </a:xfrm>
          <a:prstGeom prst="line">
            <a:avLst/>
          </a:prstGeom>
          <a:noFill/>
          <a:ln w="10160">
            <a:solidFill>
              <a:srgbClr val="22B8A0">
                <a:alpha val="30000"/>
              </a:srgbClr>
            </a:solidFill>
            <a:prstDash val="solid"/>
          </a:ln>
        </p:spPr>
      </p:sp>
      <p:sp>
        <p:nvSpPr>
          <p:cNvPr id="22" name="Shape 20"/>
          <p:cNvSpPr/>
          <p:nvPr/>
        </p:nvSpPr>
        <p:spPr>
          <a:xfrm>
            <a:off x="10012680" y="3749040"/>
            <a:ext cx="109728" cy="109728"/>
          </a:xfrm>
          <a:prstGeom prst="ellipse">
            <a:avLst/>
          </a:prstGeom>
          <a:solidFill>
            <a:srgbClr val="22B8A0"/>
          </a:solidFill>
          <a:ln w="12700">
            <a:solidFill>
              <a:srgbClr val="22B8A0"/>
            </a:solidFill>
            <a:prstDash val="solid"/>
          </a:ln>
        </p:spPr>
      </p:sp>
      <p:sp>
        <p:nvSpPr>
          <p:cNvPr id="23" name="Text 21"/>
          <p:cNvSpPr/>
          <p:nvPr/>
        </p:nvSpPr>
        <p:spPr>
          <a:xfrm>
            <a:off x="658368" y="658368"/>
            <a:ext cx="2194560" cy="256032"/>
          </a:xfrm>
          <a:prstGeom prst="rect">
            <a:avLst/>
          </a:prstGeom>
          <a:noFill/>
          <a:ln/>
        </p:spPr>
        <p:txBody>
          <a:bodyPr wrap="square" lIns="0" tIns="0" rIns="0" bIns="0" rtlCol="0" anchor="ctr"/>
          <a:lstStyle/>
          <a:p>
            <a:pPr indent="0" marL="0">
              <a:buNone/>
            </a:pPr>
            <a:r>
              <a:rPr lang="en-US" sz="1100" b="1" dirty="0">
                <a:solidFill>
                  <a:srgbClr val="22B8A0"/>
                </a:solidFill>
                <a:latin typeface="Arial" pitchFamily="34" charset="0"/>
                <a:ea typeface="Arial" pitchFamily="34" charset="-122"/>
                <a:cs typeface="Arial" pitchFamily="34" charset="-120"/>
              </a:rPr>
              <a:t>FINAL PROJECT</a:t>
            </a:r>
            <a:endParaRPr lang="en-US" sz="1100" dirty="0"/>
          </a:p>
        </p:txBody>
      </p:sp>
      <p:sp>
        <p:nvSpPr>
          <p:cNvPr id="24" name="Text 22"/>
          <p:cNvSpPr/>
          <p:nvPr/>
        </p:nvSpPr>
        <p:spPr>
          <a:xfrm>
            <a:off x="658368" y="1143000"/>
            <a:ext cx="6400800" cy="132588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rial" pitchFamily="34" charset="0"/>
                <a:ea typeface="Arial" pitchFamily="34" charset="-122"/>
                <a:cs typeface="Arial" pitchFamily="34" charset="-120"/>
              </a:rPr>
              <a:t>FORECASTING</a:t>
            </a:r>
            <a:endParaRPr lang="en-US" sz="3500" dirty="0"/>
          </a:p>
          <a:p>
            <a:pPr indent="0" marL="0">
              <a:buNone/>
            </a:pPr>
            <a:r>
              <a:rPr lang="en-US" sz="3500" b="1" dirty="0">
                <a:solidFill>
                  <a:srgbClr val="FFFFFF"/>
                </a:solidFill>
                <a:latin typeface="Arial" pitchFamily="34" charset="0"/>
                <a:ea typeface="Arial" pitchFamily="34" charset="-122"/>
                <a:cs typeface="Arial" pitchFamily="34" charset="-120"/>
              </a:rPr>
              <a:t>COMPETITIVE FOOTBALL</a:t>
            </a:r>
            <a:endParaRPr lang="en-US" sz="3500" dirty="0"/>
          </a:p>
        </p:txBody>
      </p:sp>
      <p:sp>
        <p:nvSpPr>
          <p:cNvPr id="25" name="Text 23"/>
          <p:cNvSpPr/>
          <p:nvPr/>
        </p:nvSpPr>
        <p:spPr>
          <a:xfrm>
            <a:off x="676656" y="2679192"/>
            <a:ext cx="6217920" cy="402336"/>
          </a:xfrm>
          <a:prstGeom prst="rect">
            <a:avLst/>
          </a:prstGeom>
          <a:noFill/>
          <a:ln/>
        </p:spPr>
        <p:txBody>
          <a:bodyPr wrap="square" lIns="0" tIns="0" rIns="0" bIns="0" rtlCol="0" anchor="ctr">
            <a:normAutofit/>
          </a:bodyPr>
          <a:lstStyle/>
          <a:p>
            <a:pPr indent="0" marL="0">
              <a:buNone/>
            </a:pPr>
            <a:r>
              <a:rPr lang="en-US" sz="1600" b="1" dirty="0">
                <a:solidFill>
                  <a:srgbClr val="BFEFE3"/>
                </a:solidFill>
                <a:latin typeface="Arial" pitchFamily="34" charset="0"/>
                <a:ea typeface="Arial" pitchFamily="34" charset="-122"/>
                <a:cs typeface="Arial" pitchFamily="34" charset="-120"/>
              </a:rPr>
              <a:t>Pre-Match &amp; In-Play Prediction from Raw Event Data</a:t>
            </a:r>
            <a:endParaRPr lang="en-US" sz="1600" dirty="0"/>
          </a:p>
        </p:txBody>
      </p:sp>
      <p:sp>
        <p:nvSpPr>
          <p:cNvPr id="26" name="Shape 24"/>
          <p:cNvSpPr/>
          <p:nvPr/>
        </p:nvSpPr>
        <p:spPr>
          <a:xfrm>
            <a:off x="676656" y="3273552"/>
            <a:ext cx="3840480" cy="109728"/>
          </a:xfrm>
          <a:prstGeom prst="rect">
            <a:avLst/>
          </a:prstGeom>
          <a:solidFill>
            <a:srgbClr val="0B8F6A"/>
          </a:solidFill>
          <a:ln w="12700">
            <a:solidFill>
              <a:srgbClr val="0B8F6A"/>
            </a:solidFill>
            <a:prstDash val="solid"/>
          </a:ln>
        </p:spPr>
      </p:sp>
      <p:sp>
        <p:nvSpPr>
          <p:cNvPr id="27" name="Shape 25"/>
          <p:cNvSpPr/>
          <p:nvPr/>
        </p:nvSpPr>
        <p:spPr>
          <a:xfrm>
            <a:off x="4517136" y="3273552"/>
            <a:ext cx="1417320" cy="109728"/>
          </a:xfrm>
          <a:prstGeom prst="rect">
            <a:avLst/>
          </a:prstGeom>
          <a:solidFill>
            <a:srgbClr val="22B8A0"/>
          </a:solidFill>
          <a:ln w="12700">
            <a:solidFill>
              <a:srgbClr val="22B8A0"/>
            </a:solidFill>
            <a:prstDash val="solid"/>
          </a:ln>
        </p:spPr>
      </p:sp>
      <p:sp>
        <p:nvSpPr>
          <p:cNvPr id="28" name="Shape 26"/>
          <p:cNvSpPr/>
          <p:nvPr/>
        </p:nvSpPr>
        <p:spPr>
          <a:xfrm>
            <a:off x="5934456" y="3273552"/>
            <a:ext cx="685800" cy="109728"/>
          </a:xfrm>
          <a:prstGeom prst="rect">
            <a:avLst/>
          </a:prstGeom>
          <a:solidFill>
            <a:srgbClr val="F4B942"/>
          </a:solidFill>
          <a:ln w="12700">
            <a:solidFill>
              <a:srgbClr val="F4B942"/>
            </a:solidFill>
            <a:prstDash val="solid"/>
          </a:ln>
        </p:spPr>
      </p:sp>
      <p:sp>
        <p:nvSpPr>
          <p:cNvPr id="29" name="Shape 27"/>
          <p:cNvSpPr/>
          <p:nvPr/>
        </p:nvSpPr>
        <p:spPr>
          <a:xfrm>
            <a:off x="676656" y="3840480"/>
            <a:ext cx="1188720" cy="310896"/>
          </a:xfrm>
          <a:prstGeom prst="roundRect">
            <a:avLst>
              <a:gd name="adj" fmla="val 23529"/>
            </a:avLst>
          </a:prstGeom>
          <a:solidFill>
            <a:srgbClr val="15263A"/>
          </a:solidFill>
          <a:ln w="12700">
            <a:solidFill>
              <a:srgbClr val="15263A"/>
            </a:solidFill>
            <a:prstDash val="solid"/>
          </a:ln>
        </p:spPr>
      </p:sp>
      <p:sp>
        <p:nvSpPr>
          <p:cNvPr id="30" name="Text 28"/>
          <p:cNvSpPr/>
          <p:nvPr/>
        </p:nvSpPr>
        <p:spPr>
          <a:xfrm>
            <a:off x="749808" y="3895344"/>
            <a:ext cx="1042416" cy="164592"/>
          </a:xfrm>
          <a:prstGeom prst="rect">
            <a:avLst/>
          </a:prstGeom>
          <a:noFill/>
          <a:ln/>
        </p:spPr>
        <p:txBody>
          <a:bodyPr wrap="square" lIns="0" tIns="0" rIns="0" bIns="0" rtlCol="0" anchor="ctr">
            <a:normAutofit/>
          </a:bodyPr>
          <a:lstStyle/>
          <a:p>
            <a:pPr algn="ctr" indent="0" marL="0">
              <a:buNone/>
            </a:pPr>
            <a:r>
              <a:rPr lang="en-US" sz="850" b="1" dirty="0">
                <a:solidFill>
                  <a:srgbClr val="BFEFE3"/>
                </a:solidFill>
                <a:latin typeface="Arial" pitchFamily="34" charset="0"/>
                <a:ea typeface="Arial" pitchFamily="34" charset="-122"/>
                <a:cs typeface="Arial" pitchFamily="34" charset="-120"/>
              </a:rPr>
              <a:t>NOSRATI</a:t>
            </a:r>
            <a:endParaRPr lang="en-US" sz="850" dirty="0"/>
          </a:p>
        </p:txBody>
      </p:sp>
      <p:sp>
        <p:nvSpPr>
          <p:cNvPr id="31" name="Shape 29"/>
          <p:cNvSpPr/>
          <p:nvPr/>
        </p:nvSpPr>
        <p:spPr>
          <a:xfrm>
            <a:off x="1965960" y="3840480"/>
            <a:ext cx="1188720" cy="310896"/>
          </a:xfrm>
          <a:prstGeom prst="roundRect">
            <a:avLst>
              <a:gd name="adj" fmla="val 23529"/>
            </a:avLst>
          </a:prstGeom>
          <a:solidFill>
            <a:srgbClr val="15263A"/>
          </a:solidFill>
          <a:ln w="12700">
            <a:solidFill>
              <a:srgbClr val="15263A"/>
            </a:solidFill>
            <a:prstDash val="solid"/>
          </a:ln>
        </p:spPr>
      </p:sp>
      <p:sp>
        <p:nvSpPr>
          <p:cNvPr id="32" name="Text 30"/>
          <p:cNvSpPr/>
          <p:nvPr/>
        </p:nvSpPr>
        <p:spPr>
          <a:xfrm>
            <a:off x="2039112" y="3895344"/>
            <a:ext cx="1042416" cy="164592"/>
          </a:xfrm>
          <a:prstGeom prst="rect">
            <a:avLst/>
          </a:prstGeom>
          <a:noFill/>
          <a:ln/>
        </p:spPr>
        <p:txBody>
          <a:bodyPr wrap="square" lIns="0" tIns="0" rIns="0" bIns="0" rtlCol="0" anchor="ctr">
            <a:normAutofit/>
          </a:bodyPr>
          <a:lstStyle/>
          <a:p>
            <a:pPr algn="ctr" indent="0" marL="0">
              <a:buNone/>
            </a:pPr>
            <a:r>
              <a:rPr lang="en-US" sz="850" b="1" dirty="0">
                <a:solidFill>
                  <a:srgbClr val="BFEFE3"/>
                </a:solidFill>
                <a:latin typeface="Arial" pitchFamily="34" charset="0"/>
                <a:ea typeface="Arial" pitchFamily="34" charset="-122"/>
                <a:cs typeface="Arial" pitchFamily="34" charset="-120"/>
              </a:rPr>
              <a:t>YAZDANI</a:t>
            </a:r>
            <a:endParaRPr lang="en-US" sz="850" dirty="0"/>
          </a:p>
        </p:txBody>
      </p:sp>
      <p:sp>
        <p:nvSpPr>
          <p:cNvPr id="33" name="Text 31"/>
          <p:cNvSpPr/>
          <p:nvPr/>
        </p:nvSpPr>
        <p:spPr>
          <a:xfrm>
            <a:off x="685800" y="4370832"/>
            <a:ext cx="4023360" cy="274320"/>
          </a:xfrm>
          <a:prstGeom prst="rect">
            <a:avLst/>
          </a:prstGeom>
          <a:noFill/>
          <a:ln/>
        </p:spPr>
        <p:txBody>
          <a:bodyPr wrap="square" lIns="0" tIns="0" rIns="0" bIns="0" rtlCol="0" anchor="ctr"/>
          <a:lstStyle/>
          <a:p>
            <a:pPr indent="0" marL="0">
              <a:buNone/>
            </a:pPr>
            <a:r>
              <a:rPr lang="en-US" sz="1200" dirty="0">
                <a:solidFill>
                  <a:srgbClr val="D7E0E8"/>
                </a:solidFill>
                <a:latin typeface="Arial" pitchFamily="34" charset="0"/>
                <a:ea typeface="Arial" pitchFamily="34" charset="-122"/>
                <a:cs typeface="Arial" pitchFamily="34" charset="-120"/>
              </a:rPr>
              <a:t>Instructor: Sattar Hashemi</a:t>
            </a:r>
            <a:endParaRPr lang="en-US" sz="1200" dirty="0"/>
          </a:p>
        </p:txBody>
      </p:sp>
      <p:sp>
        <p:nvSpPr>
          <p:cNvPr id="34" name="Text 32"/>
          <p:cNvSpPr/>
          <p:nvPr/>
        </p:nvSpPr>
        <p:spPr>
          <a:xfrm>
            <a:off x="685800" y="4773168"/>
            <a:ext cx="5394960" cy="256032"/>
          </a:xfrm>
          <a:prstGeom prst="rect">
            <a:avLst/>
          </a:prstGeom>
          <a:noFill/>
          <a:ln/>
        </p:spPr>
        <p:txBody>
          <a:bodyPr wrap="square" lIns="0" tIns="0" rIns="0" bIns="0" rtlCol="0" anchor="ctr"/>
          <a:lstStyle/>
          <a:p>
            <a:pPr indent="0" marL="0">
              <a:buNone/>
            </a:pPr>
            <a:r>
              <a:rPr lang="en-US" sz="950" dirty="0">
                <a:solidFill>
                  <a:srgbClr val="9EACBA"/>
                </a:solidFill>
                <a:latin typeface="Arial" pitchFamily="34" charset="0"/>
                <a:ea typeface="Arial" pitchFamily="34" charset="-122"/>
                <a:cs typeface="Arial" pitchFamily="34" charset="-120"/>
              </a:rPr>
              <a:t>Machine Learning Course · Department of Computer Science</a:t>
            </a:r>
            <a:endParaRPr lang="en-US" sz="950" dirty="0"/>
          </a:p>
        </p:txBody>
      </p:sp>
      <p:sp>
        <p:nvSpPr>
          <p:cNvPr id="35" name="Text 33"/>
          <p:cNvSpPr/>
          <p:nvPr/>
        </p:nvSpPr>
        <p:spPr>
          <a:xfrm>
            <a:off x="685800" y="5943600"/>
            <a:ext cx="2194560" cy="228600"/>
          </a:xfrm>
          <a:prstGeom prst="rect">
            <a:avLst/>
          </a:prstGeom>
          <a:noFill/>
          <a:ln/>
        </p:spPr>
        <p:txBody>
          <a:bodyPr wrap="square" lIns="0" tIns="0" rIns="0" bIns="0" rtlCol="0" anchor="ctr"/>
          <a:lstStyle/>
          <a:p>
            <a:pPr indent="0" marL="0">
              <a:buNone/>
            </a:pPr>
            <a:r>
              <a:rPr lang="en-US" sz="850" b="1" spc="120" kern="0" dirty="0">
                <a:solidFill>
                  <a:srgbClr val="F4B942"/>
                </a:solidFill>
                <a:latin typeface="Arial" pitchFamily="34" charset="0"/>
                <a:ea typeface="Arial" pitchFamily="34" charset="-122"/>
                <a:cs typeface="Arial" pitchFamily="34" charset="-120"/>
              </a:rPr>
              <a:t>DEFENSE-READY DECK</a:t>
            </a:r>
            <a:endParaRPr lang="en-US" sz="850" dirty="0"/>
          </a:p>
        </p:txBody>
      </p:sp>
      <p:sp>
        <p:nvSpPr>
          <p:cNvPr id="36" name="Shape 34"/>
          <p:cNvSpPr/>
          <p:nvPr/>
        </p:nvSpPr>
        <p:spPr>
          <a:xfrm>
            <a:off x="0" y="6400800"/>
            <a:ext cx="12191695" cy="457200"/>
          </a:xfrm>
          <a:prstGeom prst="rect">
            <a:avLst/>
          </a:prstGeom>
          <a:solidFill>
            <a:srgbClr val="0B1220"/>
          </a:solidFill>
          <a:ln w="12700">
            <a:solidFill>
              <a:srgbClr val="0B1220"/>
            </a:solidFill>
            <a:prstDash val="solid"/>
          </a:ln>
        </p:spPr>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01 · OVERVIEW</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Project at a glance</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Three deliverables, one leakage-aware data foundation.</a:t>
            </a:r>
            <a:endParaRPr lang="en-US" sz="1050" dirty="0"/>
          </a:p>
        </p:txBody>
      </p:sp>
      <p:sp>
        <p:nvSpPr>
          <p:cNvPr id="5" name="Shape 3"/>
          <p:cNvSpPr/>
          <p:nvPr/>
        </p:nvSpPr>
        <p:spPr>
          <a:xfrm>
            <a:off x="566928" y="1627632"/>
            <a:ext cx="196596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15240" dist="5080" dir="2700000">
              <a:srgbClr val="000000">
                <a:alpha val="14000"/>
              </a:srgbClr>
            </a:outerShdw>
          </a:effectLst>
        </p:spPr>
      </p:sp>
      <p:sp>
        <p:nvSpPr>
          <p:cNvPr id="6" name="Shape 4"/>
          <p:cNvSpPr/>
          <p:nvPr/>
        </p:nvSpPr>
        <p:spPr>
          <a:xfrm>
            <a:off x="566928" y="1627632"/>
            <a:ext cx="73152" cy="960120"/>
          </a:xfrm>
          <a:prstGeom prst="rect">
            <a:avLst/>
          </a:prstGeom>
          <a:solidFill>
            <a:srgbClr val="0B8F6A"/>
          </a:solidFill>
          <a:ln w="12700">
            <a:solidFill>
              <a:srgbClr val="0B8F6A"/>
            </a:solidFill>
            <a:prstDash val="solid"/>
          </a:ln>
        </p:spPr>
      </p:sp>
      <p:sp>
        <p:nvSpPr>
          <p:cNvPr id="7" name="Text 5"/>
          <p:cNvSpPr/>
          <p:nvPr/>
        </p:nvSpPr>
        <p:spPr>
          <a:xfrm>
            <a:off x="749808" y="1773936"/>
            <a:ext cx="169164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138</a:t>
            </a:r>
            <a:endParaRPr lang="en-US" sz="2300" dirty="0"/>
          </a:p>
        </p:txBody>
      </p:sp>
      <p:sp>
        <p:nvSpPr>
          <p:cNvPr id="8" name="Text 6"/>
          <p:cNvSpPr/>
          <p:nvPr/>
        </p:nvSpPr>
        <p:spPr>
          <a:xfrm>
            <a:off x="713232" y="2212848"/>
            <a:ext cx="174650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raw matches</a:t>
            </a:r>
            <a:endParaRPr lang="en-US" sz="850" dirty="0"/>
          </a:p>
        </p:txBody>
      </p:sp>
      <p:sp>
        <p:nvSpPr>
          <p:cNvPr id="9" name="Shape 7"/>
          <p:cNvSpPr/>
          <p:nvPr/>
        </p:nvSpPr>
        <p:spPr>
          <a:xfrm>
            <a:off x="2724912" y="1627632"/>
            <a:ext cx="196596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193548000" dist="64516000" dir="162000000000">
              <a:srgbClr val="000000">
                <a:alpha val="1400000000"/>
              </a:srgbClr>
            </a:outerShdw>
          </a:effectLst>
        </p:spPr>
      </p:sp>
      <p:sp>
        <p:nvSpPr>
          <p:cNvPr id="10" name="Shape 8"/>
          <p:cNvSpPr/>
          <p:nvPr/>
        </p:nvSpPr>
        <p:spPr>
          <a:xfrm>
            <a:off x="2724912" y="1627632"/>
            <a:ext cx="73152" cy="960120"/>
          </a:xfrm>
          <a:prstGeom prst="rect">
            <a:avLst/>
          </a:prstGeom>
          <a:solidFill>
            <a:srgbClr val="22B8A0"/>
          </a:solidFill>
          <a:ln w="12700">
            <a:solidFill>
              <a:srgbClr val="22B8A0"/>
            </a:solidFill>
            <a:prstDash val="solid"/>
          </a:ln>
        </p:spPr>
      </p:sp>
      <p:sp>
        <p:nvSpPr>
          <p:cNvPr id="11" name="Text 9"/>
          <p:cNvSpPr/>
          <p:nvPr/>
        </p:nvSpPr>
        <p:spPr>
          <a:xfrm>
            <a:off x="2907792" y="1773936"/>
            <a:ext cx="169164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536,328</a:t>
            </a:r>
            <a:endParaRPr lang="en-US" sz="2300" dirty="0"/>
          </a:p>
        </p:txBody>
      </p:sp>
      <p:sp>
        <p:nvSpPr>
          <p:cNvPr id="12" name="Text 10"/>
          <p:cNvSpPr/>
          <p:nvPr/>
        </p:nvSpPr>
        <p:spPr>
          <a:xfrm>
            <a:off x="2871216" y="2212848"/>
            <a:ext cx="174650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events</a:t>
            </a:r>
            <a:endParaRPr lang="en-US" sz="850" dirty="0"/>
          </a:p>
        </p:txBody>
      </p:sp>
      <p:sp>
        <p:nvSpPr>
          <p:cNvPr id="13" name="Shape 11"/>
          <p:cNvSpPr/>
          <p:nvPr/>
        </p:nvSpPr>
        <p:spPr>
          <a:xfrm>
            <a:off x="4882896" y="1627632"/>
            <a:ext cx="196596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2458059600000" dist="819353200000" dir="9720000000000000">
              <a:srgbClr val="000000">
                <a:alpha val="140000000000000"/>
              </a:srgbClr>
            </a:outerShdw>
          </a:effectLst>
        </p:spPr>
      </p:sp>
      <p:sp>
        <p:nvSpPr>
          <p:cNvPr id="14" name="Shape 12"/>
          <p:cNvSpPr/>
          <p:nvPr/>
        </p:nvSpPr>
        <p:spPr>
          <a:xfrm>
            <a:off x="4882896" y="1627632"/>
            <a:ext cx="73152" cy="960120"/>
          </a:xfrm>
          <a:prstGeom prst="rect">
            <a:avLst/>
          </a:prstGeom>
          <a:solidFill>
            <a:srgbClr val="F4B942"/>
          </a:solidFill>
          <a:ln w="12700">
            <a:solidFill>
              <a:srgbClr val="F4B942"/>
            </a:solidFill>
            <a:prstDash val="solid"/>
          </a:ln>
        </p:spPr>
      </p:sp>
      <p:sp>
        <p:nvSpPr>
          <p:cNvPr id="15" name="Text 13"/>
          <p:cNvSpPr/>
          <p:nvPr/>
        </p:nvSpPr>
        <p:spPr>
          <a:xfrm>
            <a:off x="5065776" y="1773936"/>
            <a:ext cx="169164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111</a:t>
            </a:r>
            <a:endParaRPr lang="en-US" sz="2300" dirty="0"/>
          </a:p>
        </p:txBody>
      </p:sp>
      <p:sp>
        <p:nvSpPr>
          <p:cNvPr id="16" name="Text 14"/>
          <p:cNvSpPr/>
          <p:nvPr/>
        </p:nvSpPr>
        <p:spPr>
          <a:xfrm>
            <a:off x="5029200" y="2212848"/>
            <a:ext cx="174650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pre-match examples</a:t>
            </a:r>
            <a:endParaRPr lang="en-US" sz="850" dirty="0"/>
          </a:p>
        </p:txBody>
      </p:sp>
      <p:sp>
        <p:nvSpPr>
          <p:cNvPr id="17" name="Shape 15"/>
          <p:cNvSpPr/>
          <p:nvPr/>
        </p:nvSpPr>
        <p:spPr>
          <a:xfrm>
            <a:off x="7040880" y="1627632"/>
            <a:ext cx="196596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31217356920000000" dist="10405785640000000" dir="583200000000000000000">
              <a:srgbClr val="000000">
                <a:alpha val="14000000000000000000"/>
              </a:srgbClr>
            </a:outerShdw>
          </a:effectLst>
        </p:spPr>
      </p:sp>
      <p:sp>
        <p:nvSpPr>
          <p:cNvPr id="18" name="Shape 16"/>
          <p:cNvSpPr/>
          <p:nvPr/>
        </p:nvSpPr>
        <p:spPr>
          <a:xfrm>
            <a:off x="7040880" y="1627632"/>
            <a:ext cx="73152" cy="960120"/>
          </a:xfrm>
          <a:prstGeom prst="rect">
            <a:avLst/>
          </a:prstGeom>
          <a:solidFill>
            <a:srgbClr val="0B8F6A"/>
          </a:solidFill>
          <a:ln w="12700">
            <a:solidFill>
              <a:srgbClr val="0B8F6A"/>
            </a:solidFill>
            <a:prstDash val="solid"/>
          </a:ln>
        </p:spPr>
      </p:sp>
      <p:sp>
        <p:nvSpPr>
          <p:cNvPr id="19" name="Text 17"/>
          <p:cNvSpPr/>
          <p:nvPr/>
        </p:nvSpPr>
        <p:spPr>
          <a:xfrm>
            <a:off x="7223760" y="1773936"/>
            <a:ext cx="169164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1,998</a:t>
            </a:r>
            <a:endParaRPr lang="en-US" sz="2300" dirty="0"/>
          </a:p>
        </p:txBody>
      </p:sp>
      <p:sp>
        <p:nvSpPr>
          <p:cNvPr id="20" name="Text 18"/>
          <p:cNvSpPr/>
          <p:nvPr/>
        </p:nvSpPr>
        <p:spPr>
          <a:xfrm>
            <a:off x="7187184" y="2212848"/>
            <a:ext cx="174650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in-play snapshots</a:t>
            </a:r>
            <a:endParaRPr lang="en-US" sz="850" dirty="0"/>
          </a:p>
        </p:txBody>
      </p:sp>
      <p:sp>
        <p:nvSpPr>
          <p:cNvPr id="21" name="Shape 19"/>
          <p:cNvSpPr/>
          <p:nvPr/>
        </p:nvSpPr>
        <p:spPr>
          <a:xfrm>
            <a:off x="9198864" y="1627632"/>
            <a:ext cx="196596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396460432884000000000" dist="132153477628000000000" dir="3.4992e+25">
              <a:srgbClr val="000000">
                <a:alpha val="1.4e+24"/>
              </a:srgbClr>
            </a:outerShdw>
          </a:effectLst>
        </p:spPr>
      </p:sp>
      <p:sp>
        <p:nvSpPr>
          <p:cNvPr id="22" name="Shape 20"/>
          <p:cNvSpPr/>
          <p:nvPr/>
        </p:nvSpPr>
        <p:spPr>
          <a:xfrm>
            <a:off x="9198864" y="1627632"/>
            <a:ext cx="73152" cy="960120"/>
          </a:xfrm>
          <a:prstGeom prst="rect">
            <a:avLst/>
          </a:prstGeom>
          <a:solidFill>
            <a:srgbClr val="22B8A0"/>
          </a:solidFill>
          <a:ln w="12700">
            <a:solidFill>
              <a:srgbClr val="22B8A0"/>
            </a:solidFill>
            <a:prstDash val="solid"/>
          </a:ln>
        </p:spPr>
      </p:sp>
      <p:sp>
        <p:nvSpPr>
          <p:cNvPr id="23" name="Text 21"/>
          <p:cNvSpPr/>
          <p:nvPr/>
        </p:nvSpPr>
        <p:spPr>
          <a:xfrm>
            <a:off x="9381744" y="1773936"/>
            <a:ext cx="169164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3</a:t>
            </a:r>
            <a:endParaRPr lang="en-US" sz="2300" dirty="0"/>
          </a:p>
        </p:txBody>
      </p:sp>
      <p:sp>
        <p:nvSpPr>
          <p:cNvPr id="24" name="Text 22"/>
          <p:cNvSpPr/>
          <p:nvPr/>
        </p:nvSpPr>
        <p:spPr>
          <a:xfrm>
            <a:off x="9345168" y="2212848"/>
            <a:ext cx="174650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future-season tests</a:t>
            </a:r>
            <a:endParaRPr lang="en-US" sz="850" dirty="0"/>
          </a:p>
        </p:txBody>
      </p:sp>
      <p:sp>
        <p:nvSpPr>
          <p:cNvPr id="25" name="Shape 23"/>
          <p:cNvSpPr/>
          <p:nvPr/>
        </p:nvSpPr>
        <p:spPr>
          <a:xfrm>
            <a:off x="566928" y="2944368"/>
            <a:ext cx="3529584" cy="2267712"/>
          </a:xfrm>
          <a:prstGeom prst="roundRect">
            <a:avLst>
              <a:gd name="adj" fmla="val 3226"/>
            </a:avLst>
          </a:prstGeom>
          <a:solidFill>
            <a:srgbClr val="FFFFFF"/>
          </a:solidFill>
          <a:ln w="10160">
            <a:solidFill>
              <a:srgbClr val="DDE5EA"/>
            </a:solidFill>
            <a:prstDash val="solid"/>
          </a:ln>
          <a:effectLst>
            <a:outerShdw sx="100000" sy="100000" kx="0" ky="0" algn="bl" rotWithShape="0" blurRad="5.0350474976268e+24" dist="1.6783491658756e+24" dir="2.09952e+30">
              <a:srgbClr val="000000">
                <a:alpha val="1.4000000000000002e+29"/>
              </a:srgbClr>
            </a:outerShdw>
          </a:effectLst>
        </p:spPr>
      </p:sp>
      <p:sp>
        <p:nvSpPr>
          <p:cNvPr id="26" name="Shape 24"/>
          <p:cNvSpPr/>
          <p:nvPr/>
        </p:nvSpPr>
        <p:spPr>
          <a:xfrm>
            <a:off x="566928" y="2944368"/>
            <a:ext cx="73152" cy="2267712"/>
          </a:xfrm>
          <a:prstGeom prst="rect">
            <a:avLst/>
          </a:prstGeom>
          <a:solidFill>
            <a:srgbClr val="0B8F6A"/>
          </a:solidFill>
          <a:ln w="12700">
            <a:solidFill>
              <a:srgbClr val="0B8F6A"/>
            </a:solidFill>
            <a:prstDash val="solid"/>
          </a:ln>
        </p:spPr>
      </p:sp>
      <p:sp>
        <p:nvSpPr>
          <p:cNvPr id="27" name="Text 25"/>
          <p:cNvSpPr/>
          <p:nvPr/>
        </p:nvSpPr>
        <p:spPr>
          <a:xfrm>
            <a:off x="768096" y="3090672"/>
            <a:ext cx="3182112"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Model 1 · Outcome Classification</a:t>
            </a:r>
            <a:endParaRPr lang="en-US" sz="1150" dirty="0"/>
          </a:p>
        </p:txBody>
      </p:sp>
      <p:sp>
        <p:nvSpPr>
          <p:cNvPr id="28" name="Text 26"/>
          <p:cNvSpPr/>
          <p:nvPr/>
        </p:nvSpPr>
        <p:spPr>
          <a:xfrm>
            <a:off x="768096" y="3419856"/>
            <a:ext cx="3163824" cy="1673352"/>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One vector per match → calibrated probabilities for Home / Draw / Away.</a:t>
            </a:r>
            <a:endParaRPr lang="en-US" sz="940" dirty="0"/>
          </a:p>
          <a:p>
            <a:pPr indent="0" marL="0">
              <a:buNone/>
            </a:pPr>
            <a:endParaRPr lang="en-US" sz="940" dirty="0"/>
          </a:p>
          <a:p>
            <a:pPr indent="0" marL="0">
              <a:buNone/>
            </a:pPr>
            <a:r>
              <a:rPr lang="en-US" sz="940" dirty="0">
                <a:solidFill>
                  <a:srgbClr val="273142"/>
                </a:solidFill>
                <a:latin typeface="Arial" pitchFamily="34" charset="0"/>
                <a:ea typeface="Arial" pitchFamily="34" charset="-122"/>
                <a:cs typeface="Arial" pitchFamily="34" charset="-120"/>
              </a:rPr>
              <a:t>Headline scoring: RPS, plus Log Loss, Brier, ECE and balanced accuracy.</a:t>
            </a:r>
            <a:endParaRPr lang="en-US" sz="940" dirty="0"/>
          </a:p>
        </p:txBody>
      </p:sp>
      <p:sp>
        <p:nvSpPr>
          <p:cNvPr id="29" name="Shape 27"/>
          <p:cNvSpPr/>
          <p:nvPr/>
        </p:nvSpPr>
        <p:spPr>
          <a:xfrm>
            <a:off x="4334256" y="2944368"/>
            <a:ext cx="3529584" cy="2267712"/>
          </a:xfrm>
          <a:prstGeom prst="roundRect">
            <a:avLst>
              <a:gd name="adj" fmla="val 3226"/>
            </a:avLst>
          </a:prstGeom>
          <a:solidFill>
            <a:srgbClr val="FFFFFF"/>
          </a:solidFill>
          <a:ln w="10160">
            <a:solidFill>
              <a:srgbClr val="DDE5EA"/>
            </a:solidFill>
            <a:prstDash val="solid"/>
          </a:ln>
          <a:effectLst>
            <a:outerShdw sx="100000" sy="100000" kx="0" ky="0" algn="bl" rotWithShape="0" blurRad="6.3945103219860365e+28" dist="2.1315034406620117e+28" dir="1.259712e+35">
              <a:srgbClr val="000000">
                <a:alpha val="1.4000000000000003e+34"/>
              </a:srgbClr>
            </a:outerShdw>
          </a:effectLst>
        </p:spPr>
      </p:sp>
      <p:sp>
        <p:nvSpPr>
          <p:cNvPr id="30" name="Shape 28"/>
          <p:cNvSpPr/>
          <p:nvPr/>
        </p:nvSpPr>
        <p:spPr>
          <a:xfrm>
            <a:off x="4334256" y="2944368"/>
            <a:ext cx="73152" cy="2267712"/>
          </a:xfrm>
          <a:prstGeom prst="rect">
            <a:avLst/>
          </a:prstGeom>
          <a:solidFill>
            <a:srgbClr val="22B8A0"/>
          </a:solidFill>
          <a:ln w="12700">
            <a:solidFill>
              <a:srgbClr val="22B8A0"/>
            </a:solidFill>
            <a:prstDash val="solid"/>
          </a:ln>
        </p:spPr>
      </p:sp>
      <p:sp>
        <p:nvSpPr>
          <p:cNvPr id="31" name="Text 29"/>
          <p:cNvSpPr/>
          <p:nvPr/>
        </p:nvSpPr>
        <p:spPr>
          <a:xfrm>
            <a:off x="4535424" y="3090672"/>
            <a:ext cx="3182112"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Model 2 · Goal-Margin Regression</a:t>
            </a:r>
            <a:endParaRPr lang="en-US" sz="1150" dirty="0"/>
          </a:p>
        </p:txBody>
      </p:sp>
      <p:sp>
        <p:nvSpPr>
          <p:cNvPr id="32" name="Text 30"/>
          <p:cNvSpPr/>
          <p:nvPr/>
        </p:nvSpPr>
        <p:spPr>
          <a:xfrm>
            <a:off x="4535424" y="3419856"/>
            <a:ext cx="3163824" cy="1673352"/>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Same pre-match history → signed home-minus-away goal margin.</a:t>
            </a:r>
            <a:endParaRPr lang="en-US" sz="940" dirty="0"/>
          </a:p>
          <a:p>
            <a:pPr indent="0" marL="0">
              <a:buNone/>
            </a:pPr>
            <a:endParaRPr lang="en-US" sz="940" dirty="0"/>
          </a:p>
          <a:p>
            <a:pPr indent="0" marL="0">
              <a:buNone/>
            </a:pPr>
            <a:r>
              <a:rPr lang="en-US" sz="940" dirty="0">
                <a:solidFill>
                  <a:srgbClr val="273142"/>
                </a:solidFill>
                <a:latin typeface="Arial" pitchFamily="34" charset="0"/>
                <a:ea typeface="Arial" pitchFamily="34" charset="-122"/>
                <a:cs typeface="Arial" pitchFamily="34" charset="-120"/>
              </a:rPr>
              <a:t>Measured with MAE, RMSE, R² and correlation.</a:t>
            </a:r>
            <a:endParaRPr lang="en-US" sz="940" dirty="0"/>
          </a:p>
        </p:txBody>
      </p:sp>
      <p:sp>
        <p:nvSpPr>
          <p:cNvPr id="33" name="Shape 31"/>
          <p:cNvSpPr/>
          <p:nvPr/>
        </p:nvSpPr>
        <p:spPr>
          <a:xfrm>
            <a:off x="8101584" y="2944368"/>
            <a:ext cx="3529584" cy="2267712"/>
          </a:xfrm>
          <a:prstGeom prst="roundRect">
            <a:avLst>
              <a:gd name="adj" fmla="val 3226"/>
            </a:avLst>
          </a:prstGeom>
          <a:solidFill>
            <a:srgbClr val="FFFFFF"/>
          </a:solidFill>
          <a:ln w="10160">
            <a:solidFill>
              <a:srgbClr val="DDE5EA"/>
            </a:solidFill>
            <a:prstDash val="solid"/>
          </a:ln>
          <a:effectLst>
            <a:outerShdw sx="100000" sy="100000" kx="0" ky="0" algn="bl" rotWithShape="0" blurRad="8.121028108922266e+32" dist="2.7070093696407548e+32" dir="7.558272e+39">
              <a:srgbClr val="000000">
                <a:alpha val="1.4000000000000003e+39"/>
              </a:srgbClr>
            </a:outerShdw>
          </a:effectLst>
        </p:spPr>
      </p:sp>
      <p:sp>
        <p:nvSpPr>
          <p:cNvPr id="34" name="Shape 32"/>
          <p:cNvSpPr/>
          <p:nvPr/>
        </p:nvSpPr>
        <p:spPr>
          <a:xfrm>
            <a:off x="8101584" y="2944368"/>
            <a:ext cx="73152" cy="2267712"/>
          </a:xfrm>
          <a:prstGeom prst="rect">
            <a:avLst/>
          </a:prstGeom>
          <a:solidFill>
            <a:srgbClr val="F4B942"/>
          </a:solidFill>
          <a:ln w="12700">
            <a:solidFill>
              <a:srgbClr val="F4B942"/>
            </a:solidFill>
            <a:prstDash val="solid"/>
          </a:ln>
        </p:spPr>
      </p:sp>
      <p:sp>
        <p:nvSpPr>
          <p:cNvPr id="35" name="Text 33"/>
          <p:cNvSpPr/>
          <p:nvPr/>
        </p:nvSpPr>
        <p:spPr>
          <a:xfrm>
            <a:off x="8302752" y="3090672"/>
            <a:ext cx="3182112"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Model 3 · In-Play Prediction</a:t>
            </a:r>
            <a:endParaRPr lang="en-US" sz="1150" dirty="0"/>
          </a:p>
        </p:txBody>
      </p:sp>
      <p:sp>
        <p:nvSpPr>
          <p:cNvPr id="36" name="Text 34"/>
          <p:cNvSpPr/>
          <p:nvPr/>
        </p:nvSpPr>
        <p:spPr>
          <a:xfrm>
            <a:off x="8302752" y="3419856"/>
            <a:ext cx="3163824" cy="1673352"/>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18 snapshots per match (5, 10, …, 90 minutes) → updated outcome probabilities and expected margin.</a:t>
            </a:r>
            <a:endParaRPr lang="en-US" sz="940" dirty="0"/>
          </a:p>
        </p:txBody>
      </p:sp>
      <p:sp>
        <p:nvSpPr>
          <p:cNvPr id="37" name="Shape 35"/>
          <p:cNvSpPr/>
          <p:nvPr/>
        </p:nvSpPr>
        <p:spPr>
          <a:xfrm>
            <a:off x="566928" y="5532120"/>
            <a:ext cx="11064240" cy="676656"/>
          </a:xfrm>
          <a:prstGeom prst="roundRect">
            <a:avLst>
              <a:gd name="adj" fmla="val 8108"/>
            </a:avLst>
          </a:prstGeom>
          <a:solidFill>
            <a:srgbClr val="E9F8F3"/>
          </a:solidFill>
          <a:ln w="12700">
            <a:solidFill>
              <a:srgbClr val="E9F8F3"/>
            </a:solidFill>
            <a:prstDash val="solid"/>
          </a:ln>
        </p:spPr>
      </p:sp>
      <p:sp>
        <p:nvSpPr>
          <p:cNvPr id="38" name="Shape 36"/>
          <p:cNvSpPr/>
          <p:nvPr/>
        </p:nvSpPr>
        <p:spPr>
          <a:xfrm>
            <a:off x="566928" y="5532120"/>
            <a:ext cx="91440" cy="676656"/>
          </a:xfrm>
          <a:prstGeom prst="rect">
            <a:avLst/>
          </a:prstGeom>
          <a:solidFill>
            <a:srgbClr val="0B8F6A"/>
          </a:solidFill>
          <a:ln w="12700">
            <a:solidFill>
              <a:srgbClr val="0B8F6A"/>
            </a:solidFill>
            <a:prstDash val="solid"/>
          </a:ln>
        </p:spPr>
      </p:sp>
      <p:sp>
        <p:nvSpPr>
          <p:cNvPr id="39" name="Text 37"/>
          <p:cNvSpPr/>
          <p:nvPr/>
        </p:nvSpPr>
        <p:spPr>
          <a:xfrm>
            <a:off x="786384" y="5650992"/>
            <a:ext cx="1069848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Defense principle</a:t>
            </a:r>
            <a:endParaRPr lang="en-US" sz="1050" dirty="0"/>
          </a:p>
        </p:txBody>
      </p:sp>
      <p:sp>
        <p:nvSpPr>
          <p:cNvPr id="40" name="Text 38"/>
          <p:cNvSpPr/>
          <p:nvPr/>
        </p:nvSpPr>
        <p:spPr>
          <a:xfrm>
            <a:off x="786384" y="5925312"/>
            <a:ext cx="10680192" cy="182880"/>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Every number in this presentation is tied to a specific test season and data scope. We do not present accuracy as a universal constant.</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02 · DATA</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What data did we actually evaluate?</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This scope must be stated before quoting any accuracy.</a:t>
            </a:r>
            <a:endParaRPr lang="en-US" sz="1050" dirty="0"/>
          </a:p>
        </p:txBody>
      </p:sp>
      <p:sp>
        <p:nvSpPr>
          <p:cNvPr id="5" name="Shape 3"/>
          <p:cNvSpPr/>
          <p:nvPr/>
        </p:nvSpPr>
        <p:spPr>
          <a:xfrm>
            <a:off x="566928" y="1508760"/>
            <a:ext cx="6720840" cy="4160520"/>
          </a:xfrm>
          <a:prstGeom prst="roundRect">
            <a:avLst>
              <a:gd name="adj" fmla="val 1099"/>
            </a:avLst>
          </a:prstGeom>
          <a:solidFill>
            <a:srgbClr val="FFFFFF"/>
          </a:solidFill>
          <a:ln w="10160">
            <a:solidFill>
              <a:srgbClr val="DDE5EA"/>
            </a:solidFill>
            <a:prstDash val="solid"/>
          </a:ln>
          <a:effectLst>
            <a:outerShdw sx="100000" sy="100000" kx="0" ky="0" algn="bl" rotWithShape="0" blurRad="1.0313705698331278e+37" dist="3.4379018994437585e+36" dir="4.5349632000000006e+44">
              <a:srgbClr val="000000">
                <a:alpha val="1.4000000000000002e+44"/>
              </a:srgbClr>
            </a:outerShdw>
          </a:effectLst>
        </p:spPr>
      </p:sp>
      <p:pic>
        <p:nvPicPr>
          <p:cNvPr id="6" name="Image 0" descr="/mnt/data/final_artifacts/assets/data_scope_by_season.png">    </p:cNvPr>
          <p:cNvPicPr>
            <a:picLocks noChangeAspect="1"/>
          </p:cNvPicPr>
          <p:nvPr/>
        </p:nvPicPr>
        <p:blipFill>
          <a:blip r:embed="rId1"/>
          <a:stretch>
            <a:fillRect/>
          </a:stretch>
        </p:blipFill>
        <p:spPr>
          <a:xfrm>
            <a:off x="739609" y="1600200"/>
            <a:ext cx="6375478" cy="3721608"/>
          </a:xfrm>
          <a:prstGeom prst="rect">
            <a:avLst/>
          </a:prstGeom>
        </p:spPr>
      </p:pic>
      <p:sp>
        <p:nvSpPr>
          <p:cNvPr id="7" name="Text 4"/>
          <p:cNvSpPr/>
          <p:nvPr/>
        </p:nvSpPr>
        <p:spPr>
          <a:xfrm>
            <a:off x="731520" y="5367528"/>
            <a:ext cx="6391656" cy="164592"/>
          </a:xfrm>
          <a:prstGeom prst="rect">
            <a:avLst/>
          </a:prstGeom>
          <a:noFill/>
          <a:ln/>
        </p:spPr>
        <p:txBody>
          <a:bodyPr wrap="square" lIns="0" tIns="0" rIns="0" bIns="0" rtlCol="0" anchor="ctr">
            <a:normAutofit/>
          </a:bodyPr>
          <a:lstStyle/>
          <a:p>
            <a:pPr algn="ctr" indent="0" marL="0">
              <a:buNone/>
            </a:pPr>
            <a:r>
              <a:rPr lang="en-US" sz="780" i="1" dirty="0">
                <a:solidFill>
                  <a:srgbClr val="5B6577"/>
                </a:solidFill>
                <a:latin typeface="Arial" pitchFamily="34" charset="0"/>
                <a:ea typeface="Arial" pitchFamily="34" charset="-122"/>
                <a:cs typeface="Arial" pitchFamily="34" charset="-120"/>
              </a:rPr>
              <a:t>Modeling examples after rolling-history filtering.</a:t>
            </a:r>
            <a:endParaRPr lang="en-US" sz="780" dirty="0"/>
          </a:p>
        </p:txBody>
      </p:sp>
      <p:sp>
        <p:nvSpPr>
          <p:cNvPr id="8" name="Shape 5"/>
          <p:cNvSpPr/>
          <p:nvPr/>
        </p:nvSpPr>
        <p:spPr>
          <a:xfrm>
            <a:off x="7534656" y="1508760"/>
            <a:ext cx="4096512" cy="1024128"/>
          </a:xfrm>
          <a:prstGeom prst="roundRect">
            <a:avLst>
              <a:gd name="adj" fmla="val 7143"/>
            </a:avLst>
          </a:prstGeom>
          <a:solidFill>
            <a:srgbClr val="FFFFFF"/>
          </a:solidFill>
          <a:ln w="10160">
            <a:solidFill>
              <a:srgbClr val="DDE5EA"/>
            </a:solidFill>
            <a:prstDash val="solid"/>
          </a:ln>
          <a:effectLst>
            <a:outerShdw sx="100000" sy="100000" kx="0" ky="0" algn="bl" rotWithShape="0" blurRad="1.3098406236880722e+41" dist="4.366135412293573e+40" dir="2.72097792e+49">
              <a:srgbClr val="000000">
                <a:alpha val="1.4000000000000002e+49"/>
              </a:srgbClr>
            </a:outerShdw>
          </a:effectLst>
        </p:spPr>
      </p:sp>
      <p:sp>
        <p:nvSpPr>
          <p:cNvPr id="9" name="Shape 6"/>
          <p:cNvSpPr/>
          <p:nvPr/>
        </p:nvSpPr>
        <p:spPr>
          <a:xfrm>
            <a:off x="7534656" y="1508760"/>
            <a:ext cx="73152" cy="1024128"/>
          </a:xfrm>
          <a:prstGeom prst="rect">
            <a:avLst/>
          </a:prstGeom>
          <a:solidFill>
            <a:srgbClr val="0B8F6A"/>
          </a:solidFill>
          <a:ln w="12700">
            <a:solidFill>
              <a:srgbClr val="0B8F6A"/>
            </a:solidFill>
            <a:prstDash val="solid"/>
          </a:ln>
        </p:spPr>
      </p:sp>
      <p:sp>
        <p:nvSpPr>
          <p:cNvPr id="10" name="Text 7"/>
          <p:cNvSpPr/>
          <p:nvPr/>
        </p:nvSpPr>
        <p:spPr>
          <a:xfrm>
            <a:off x="7735824" y="1655064"/>
            <a:ext cx="3749040"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Competition &amp; seasons</a:t>
            </a:r>
            <a:endParaRPr lang="en-US" sz="1100" dirty="0"/>
          </a:p>
        </p:txBody>
      </p:sp>
      <p:sp>
        <p:nvSpPr>
          <p:cNvPr id="11" name="Text 8"/>
          <p:cNvSpPr/>
          <p:nvPr/>
        </p:nvSpPr>
        <p:spPr>
          <a:xfrm>
            <a:off x="7735824" y="1984248"/>
            <a:ext cx="3730752" cy="429768"/>
          </a:xfrm>
          <a:prstGeom prst="rect">
            <a:avLst/>
          </a:prstGeom>
          <a:noFill/>
          <a:ln/>
        </p:spPr>
        <p:txBody>
          <a:bodyPr wrap="square" lIns="0" tIns="0" rIns="0" bIns="0" rtlCol="0" anchor="t">
            <a:normAutofit/>
          </a:bodyPr>
          <a:lstStyle/>
          <a:p>
            <a:pPr indent="0" marL="0">
              <a:buNone/>
            </a:pPr>
            <a:r>
              <a:rPr lang="en-US" sz="1000" dirty="0">
                <a:solidFill>
                  <a:srgbClr val="273142"/>
                </a:solidFill>
                <a:latin typeface="Arial" pitchFamily="34" charset="0"/>
                <a:ea typeface="Arial" pitchFamily="34" charset="-122"/>
                <a:cs typeface="Arial" pitchFamily="34" charset="-120"/>
              </a:rPr>
              <a:t>La Liga · 2017/18, 2018/19, 2019/20, 2020/21</a:t>
            </a:r>
            <a:endParaRPr lang="en-US" sz="1000" dirty="0"/>
          </a:p>
        </p:txBody>
      </p:sp>
      <p:sp>
        <p:nvSpPr>
          <p:cNvPr id="12" name="Shape 9"/>
          <p:cNvSpPr/>
          <p:nvPr/>
        </p:nvSpPr>
        <p:spPr>
          <a:xfrm>
            <a:off x="7534656" y="2697480"/>
            <a:ext cx="4096512" cy="1298448"/>
          </a:xfrm>
          <a:prstGeom prst="roundRect">
            <a:avLst>
              <a:gd name="adj" fmla="val 5634"/>
            </a:avLst>
          </a:prstGeom>
          <a:solidFill>
            <a:srgbClr val="FFF5D8"/>
          </a:solidFill>
          <a:ln w="10160">
            <a:solidFill>
              <a:srgbClr val="DDE5EA"/>
            </a:solidFill>
            <a:prstDash val="solid"/>
          </a:ln>
          <a:effectLst>
            <a:outerShdw sx="100000" sy="100000" kx="0" ky="0" algn="bl" rotWithShape="0" blurRad="1.6634975920838518e+45" dist="5.544991973612838e+44" dir="1.6325867520000003e+54">
              <a:srgbClr val="000000">
                <a:alpha val="1.4e+54"/>
              </a:srgbClr>
            </a:outerShdw>
          </a:effectLst>
        </p:spPr>
      </p:sp>
      <p:sp>
        <p:nvSpPr>
          <p:cNvPr id="13" name="Shape 10"/>
          <p:cNvSpPr/>
          <p:nvPr/>
        </p:nvSpPr>
        <p:spPr>
          <a:xfrm>
            <a:off x="7534656" y="2697480"/>
            <a:ext cx="73152" cy="1298448"/>
          </a:xfrm>
          <a:prstGeom prst="rect">
            <a:avLst/>
          </a:prstGeom>
          <a:solidFill>
            <a:srgbClr val="F4B942"/>
          </a:solidFill>
          <a:ln w="12700">
            <a:solidFill>
              <a:srgbClr val="F4B942"/>
            </a:solidFill>
            <a:prstDash val="solid"/>
          </a:ln>
        </p:spPr>
      </p:sp>
      <p:sp>
        <p:nvSpPr>
          <p:cNvPr id="14" name="Text 11"/>
          <p:cNvSpPr/>
          <p:nvPr/>
        </p:nvSpPr>
        <p:spPr>
          <a:xfrm>
            <a:off x="7735824" y="2843784"/>
            <a:ext cx="3749040"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Important sampling fact</a:t>
            </a:r>
            <a:endParaRPr lang="en-US" sz="1100" dirty="0"/>
          </a:p>
        </p:txBody>
      </p:sp>
      <p:sp>
        <p:nvSpPr>
          <p:cNvPr id="15" name="Text 12"/>
          <p:cNvSpPr/>
          <p:nvPr/>
        </p:nvSpPr>
        <p:spPr>
          <a:xfrm>
            <a:off x="7735824" y="3172968"/>
            <a:ext cx="3730752" cy="704088"/>
          </a:xfrm>
          <a:prstGeom prst="rect">
            <a:avLst/>
          </a:prstGeom>
          <a:noFill/>
          <a:ln/>
        </p:spPr>
        <p:txBody>
          <a:bodyPr wrap="square" lIns="0" tIns="0" rIns="0" bIns="0" rtlCol="0" anchor="t">
            <a:normAutofit/>
          </a:bodyPr>
          <a:lstStyle/>
          <a:p>
            <a:pPr indent="0" marL="0">
              <a:buNone/>
            </a:pPr>
            <a:r>
              <a:rPr lang="en-US" sz="950" dirty="0">
                <a:solidFill>
                  <a:srgbClr val="273142"/>
                </a:solidFill>
                <a:latin typeface="Arial" pitchFamily="34" charset="0"/>
                <a:ea typeface="Arial" pitchFamily="34" charset="-122"/>
                <a:cs typeface="Arial" pitchFamily="34" charset="-120"/>
              </a:rPr>
              <a:t>The available StatsBomb matches in these seasons are Barcelona-centered. Every retained modeling match includes Barcelona as home or away.</a:t>
            </a:r>
            <a:endParaRPr lang="en-US" sz="950" dirty="0"/>
          </a:p>
        </p:txBody>
      </p:sp>
      <p:sp>
        <p:nvSpPr>
          <p:cNvPr id="16" name="Shape 13"/>
          <p:cNvSpPr/>
          <p:nvPr/>
        </p:nvSpPr>
        <p:spPr>
          <a:xfrm>
            <a:off x="7534656" y="4178808"/>
            <a:ext cx="4096512" cy="1143000"/>
          </a:xfrm>
          <a:prstGeom prst="roundRect">
            <a:avLst>
              <a:gd name="adj" fmla="val 6400"/>
            </a:avLst>
          </a:prstGeom>
          <a:solidFill>
            <a:srgbClr val="FFFFFF"/>
          </a:solidFill>
          <a:ln w="10160">
            <a:solidFill>
              <a:srgbClr val="DDE5EA"/>
            </a:solidFill>
            <a:prstDash val="solid"/>
          </a:ln>
          <a:effectLst>
            <a:outerShdw sx="100000" sy="100000" kx="0" ky="0" algn="bl" rotWithShape="0" blurRad="2.1126419419464918e+49" dist="7.042139806488304e+48" dir="9.795520512000002e+58">
              <a:srgbClr val="000000">
                <a:alpha val="1.4000000000000001e+59"/>
              </a:srgbClr>
            </a:outerShdw>
          </a:effectLst>
        </p:spPr>
      </p:sp>
      <p:sp>
        <p:nvSpPr>
          <p:cNvPr id="17" name="Shape 14"/>
          <p:cNvSpPr/>
          <p:nvPr/>
        </p:nvSpPr>
        <p:spPr>
          <a:xfrm>
            <a:off x="7534656" y="4178808"/>
            <a:ext cx="73152" cy="1143000"/>
          </a:xfrm>
          <a:prstGeom prst="rect">
            <a:avLst/>
          </a:prstGeom>
          <a:solidFill>
            <a:srgbClr val="22B8A0"/>
          </a:solidFill>
          <a:ln w="12700">
            <a:solidFill>
              <a:srgbClr val="22B8A0"/>
            </a:solidFill>
            <a:prstDash val="solid"/>
          </a:ln>
        </p:spPr>
      </p:sp>
      <p:sp>
        <p:nvSpPr>
          <p:cNvPr id="18" name="Text 15"/>
          <p:cNvSpPr/>
          <p:nvPr/>
        </p:nvSpPr>
        <p:spPr>
          <a:xfrm>
            <a:off x="7735824" y="4325112"/>
            <a:ext cx="3749040"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360 coverage</a:t>
            </a:r>
            <a:endParaRPr lang="en-US" sz="1100" dirty="0"/>
          </a:p>
        </p:txBody>
      </p:sp>
      <p:sp>
        <p:nvSpPr>
          <p:cNvPr id="19" name="Text 16"/>
          <p:cNvSpPr/>
          <p:nvPr/>
        </p:nvSpPr>
        <p:spPr>
          <a:xfrm>
            <a:off x="7735824" y="4654296"/>
            <a:ext cx="3730752" cy="548640"/>
          </a:xfrm>
          <a:prstGeom prst="rect">
            <a:avLst/>
          </a:prstGeom>
          <a:noFill/>
          <a:ln/>
        </p:spPr>
        <p:txBody>
          <a:bodyPr wrap="square" lIns="0" tIns="0" rIns="0" bIns="0" rtlCol="0" anchor="t">
            <a:normAutofit/>
          </a:bodyPr>
          <a:lstStyle/>
          <a:p>
            <a:pPr indent="0" marL="0">
              <a:buNone/>
            </a:pPr>
            <a:r>
              <a:rPr lang="en-US" sz="930" dirty="0">
                <a:solidFill>
                  <a:srgbClr val="273142"/>
                </a:solidFill>
                <a:latin typeface="Arial" pitchFamily="34" charset="0"/>
                <a:ea typeface="Arial" pitchFamily="34" charset="-122"/>
                <a:cs typeface="Arial" pitchFamily="34" charset="-120"/>
              </a:rPr>
              <a:t>35 of 138 raw matches have 360 frames (25.4%). Final engineered features are primarily event-stream features, not full-coverage 360 inputs.</a:t>
            </a:r>
            <a:endParaRPr lang="en-US" sz="930" dirty="0"/>
          </a:p>
        </p:txBody>
      </p:sp>
      <p:sp>
        <p:nvSpPr>
          <p:cNvPr id="20" name="Shape 17"/>
          <p:cNvSpPr/>
          <p:nvPr/>
        </p:nvSpPr>
        <p:spPr>
          <a:xfrm>
            <a:off x="7534656" y="5504688"/>
            <a:ext cx="4096512" cy="658368"/>
          </a:xfrm>
          <a:prstGeom prst="roundRect">
            <a:avLst>
              <a:gd name="adj" fmla="val 8333"/>
            </a:avLst>
          </a:prstGeom>
          <a:solidFill>
            <a:srgbClr val="FDECEC"/>
          </a:solidFill>
          <a:ln w="12700">
            <a:solidFill>
              <a:srgbClr val="FDECEC"/>
            </a:solidFill>
            <a:prstDash val="solid"/>
          </a:ln>
        </p:spPr>
      </p:sp>
      <p:sp>
        <p:nvSpPr>
          <p:cNvPr id="21" name="Shape 18"/>
          <p:cNvSpPr/>
          <p:nvPr/>
        </p:nvSpPr>
        <p:spPr>
          <a:xfrm>
            <a:off x="7534656" y="5504688"/>
            <a:ext cx="91440" cy="658368"/>
          </a:xfrm>
          <a:prstGeom prst="rect">
            <a:avLst/>
          </a:prstGeom>
          <a:solidFill>
            <a:srgbClr val="C94949"/>
          </a:solidFill>
          <a:ln w="12700">
            <a:solidFill>
              <a:srgbClr val="C94949"/>
            </a:solidFill>
            <a:prstDash val="solid"/>
          </a:ln>
        </p:spPr>
      </p:sp>
      <p:sp>
        <p:nvSpPr>
          <p:cNvPr id="22" name="Text 19"/>
          <p:cNvSpPr/>
          <p:nvPr/>
        </p:nvSpPr>
        <p:spPr>
          <a:xfrm>
            <a:off x="7754112" y="5623560"/>
            <a:ext cx="3730752"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Correct claim</a:t>
            </a:r>
            <a:endParaRPr lang="en-US" sz="1050" dirty="0"/>
          </a:p>
        </p:txBody>
      </p:sp>
      <p:sp>
        <p:nvSpPr>
          <p:cNvPr id="23" name="Text 20"/>
          <p:cNvSpPr/>
          <p:nvPr/>
        </p:nvSpPr>
        <p:spPr>
          <a:xfrm>
            <a:off x="7754112" y="5897880"/>
            <a:ext cx="3712464" cy="164592"/>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“La Liga / Barcelona-centered StatsBomb subset” — not “all La Liga” and not “all leagues.”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03 · PIPELINE</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End-to-end pipeline &amp; leakage boundaries</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Two feature pipelines share one chronological match-level split.</a:t>
            </a:r>
            <a:endParaRPr lang="en-US" sz="1050" dirty="0"/>
          </a:p>
        </p:txBody>
      </p:sp>
      <p:sp>
        <p:nvSpPr>
          <p:cNvPr id="5" name="Shape 3"/>
          <p:cNvSpPr/>
          <p:nvPr/>
        </p:nvSpPr>
        <p:spPr>
          <a:xfrm>
            <a:off x="68580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2.6830552662720448e+53" dist="8.943517554240147e+52" dir="5.877312307200001e+63">
              <a:srgbClr val="000000">
                <a:alpha val="1.4e+64"/>
              </a:srgbClr>
            </a:outerShdw>
          </a:effectLst>
        </p:spPr>
      </p:sp>
      <p:sp>
        <p:nvSpPr>
          <p:cNvPr id="6" name="Shape 4"/>
          <p:cNvSpPr/>
          <p:nvPr/>
        </p:nvSpPr>
        <p:spPr>
          <a:xfrm>
            <a:off x="685800" y="1691640"/>
            <a:ext cx="73152" cy="1115568"/>
          </a:xfrm>
          <a:prstGeom prst="rect">
            <a:avLst/>
          </a:prstGeom>
          <a:solidFill>
            <a:srgbClr val="0B8F6A"/>
          </a:solidFill>
          <a:ln w="12700">
            <a:solidFill>
              <a:srgbClr val="0B8F6A"/>
            </a:solidFill>
            <a:prstDash val="solid"/>
          </a:ln>
        </p:spPr>
      </p:sp>
      <p:sp>
        <p:nvSpPr>
          <p:cNvPr id="7" name="Text 5"/>
          <p:cNvSpPr/>
          <p:nvPr/>
        </p:nvSpPr>
        <p:spPr>
          <a:xfrm>
            <a:off x="88696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Raw JSON</a:t>
            </a:r>
            <a:endParaRPr lang="en-US" sz="1050" dirty="0"/>
          </a:p>
        </p:txBody>
      </p:sp>
      <p:sp>
        <p:nvSpPr>
          <p:cNvPr id="8" name="Text 6"/>
          <p:cNvSpPr/>
          <p:nvPr/>
        </p:nvSpPr>
        <p:spPr>
          <a:xfrm>
            <a:off x="88696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matches · events</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lineups · 360</a:t>
            </a:r>
            <a:endParaRPr lang="en-US" sz="820" dirty="0"/>
          </a:p>
        </p:txBody>
      </p:sp>
      <p:sp>
        <p:nvSpPr>
          <p:cNvPr id="9" name="Shape 7"/>
          <p:cNvSpPr/>
          <p:nvPr/>
        </p:nvSpPr>
        <p:spPr>
          <a:xfrm>
            <a:off x="2121408" y="2240280"/>
            <a:ext cx="164592" cy="0"/>
          </a:xfrm>
          <a:prstGeom prst="line">
            <a:avLst/>
          </a:prstGeom>
          <a:noFill/>
          <a:ln w="19050">
            <a:solidFill>
              <a:srgbClr val="5B6577"/>
            </a:solidFill>
            <a:prstDash val="solid"/>
            <a:headEnd type="none"/>
            <a:tailEnd type="triangle"/>
          </a:ln>
        </p:spPr>
      </p:sp>
      <p:sp>
        <p:nvSpPr>
          <p:cNvPr id="10" name="Shape 8"/>
          <p:cNvSpPr/>
          <p:nvPr/>
        </p:nvSpPr>
        <p:spPr>
          <a:xfrm>
            <a:off x="233172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3.407480188165497e+57" dist="1.1358267293884986e+57" dir="3.526387384320001e+68">
              <a:srgbClr val="000000">
                <a:alpha val="1.4000000000000001e+69"/>
              </a:srgbClr>
            </a:outerShdw>
          </a:effectLst>
        </p:spPr>
      </p:sp>
      <p:sp>
        <p:nvSpPr>
          <p:cNvPr id="11" name="Shape 9"/>
          <p:cNvSpPr/>
          <p:nvPr/>
        </p:nvSpPr>
        <p:spPr>
          <a:xfrm>
            <a:off x="2331720" y="1691640"/>
            <a:ext cx="73152" cy="1115568"/>
          </a:xfrm>
          <a:prstGeom prst="rect">
            <a:avLst/>
          </a:prstGeom>
          <a:solidFill>
            <a:srgbClr val="22B8A0"/>
          </a:solidFill>
          <a:ln w="12700">
            <a:solidFill>
              <a:srgbClr val="22B8A0"/>
            </a:solidFill>
            <a:prstDash val="solid"/>
          </a:ln>
        </p:spPr>
      </p:sp>
      <p:sp>
        <p:nvSpPr>
          <p:cNvPr id="12" name="Text 10"/>
          <p:cNvSpPr/>
          <p:nvPr/>
        </p:nvSpPr>
        <p:spPr>
          <a:xfrm>
            <a:off x="253288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Integration</a:t>
            </a:r>
            <a:endParaRPr lang="en-US" sz="1050" dirty="0"/>
          </a:p>
        </p:txBody>
      </p:sp>
      <p:sp>
        <p:nvSpPr>
          <p:cNvPr id="13" name="Text 11"/>
          <p:cNvSpPr/>
          <p:nvPr/>
        </p:nvSpPr>
        <p:spPr>
          <a:xfrm>
            <a:off x="253288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keys · identities</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labels · cleaning</a:t>
            </a:r>
            <a:endParaRPr lang="en-US" sz="820" dirty="0"/>
          </a:p>
        </p:txBody>
      </p:sp>
      <p:sp>
        <p:nvSpPr>
          <p:cNvPr id="14" name="Shape 12"/>
          <p:cNvSpPr/>
          <p:nvPr/>
        </p:nvSpPr>
        <p:spPr>
          <a:xfrm>
            <a:off x="3767328" y="2240280"/>
            <a:ext cx="164592" cy="0"/>
          </a:xfrm>
          <a:prstGeom prst="line">
            <a:avLst/>
          </a:prstGeom>
          <a:noFill/>
          <a:ln w="19050">
            <a:solidFill>
              <a:srgbClr val="5B6577"/>
            </a:solidFill>
            <a:prstDash val="solid"/>
            <a:headEnd type="none"/>
            <a:tailEnd type="triangle"/>
          </a:ln>
        </p:spPr>
      </p:sp>
      <p:sp>
        <p:nvSpPr>
          <p:cNvPr id="15" name="Shape 13"/>
          <p:cNvSpPr/>
          <p:nvPr/>
        </p:nvSpPr>
        <p:spPr>
          <a:xfrm>
            <a:off x="397764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4.327499838970181e+61" dist="1.4424999463233932e+61" dir="2.1158324305920003e+73">
              <a:srgbClr val="000000">
                <a:alpha val="1.4e+74"/>
              </a:srgbClr>
            </a:outerShdw>
          </a:effectLst>
        </p:spPr>
      </p:sp>
      <p:sp>
        <p:nvSpPr>
          <p:cNvPr id="16" name="Shape 14"/>
          <p:cNvSpPr/>
          <p:nvPr/>
        </p:nvSpPr>
        <p:spPr>
          <a:xfrm>
            <a:off x="3977640" y="1691640"/>
            <a:ext cx="73152" cy="1115568"/>
          </a:xfrm>
          <a:prstGeom prst="rect">
            <a:avLst/>
          </a:prstGeom>
          <a:solidFill>
            <a:srgbClr val="0B8F6A"/>
          </a:solidFill>
          <a:ln w="12700">
            <a:solidFill>
              <a:srgbClr val="0B8F6A"/>
            </a:solidFill>
            <a:prstDash val="solid"/>
          </a:ln>
        </p:spPr>
      </p:sp>
      <p:sp>
        <p:nvSpPr>
          <p:cNvPr id="17" name="Text 15"/>
          <p:cNvSpPr/>
          <p:nvPr/>
        </p:nvSpPr>
        <p:spPr>
          <a:xfrm>
            <a:off x="417880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Temporal split</a:t>
            </a:r>
            <a:endParaRPr lang="en-US" sz="1050" dirty="0"/>
          </a:p>
        </p:txBody>
      </p:sp>
      <p:sp>
        <p:nvSpPr>
          <p:cNvPr id="18" name="Text 16"/>
          <p:cNvSpPr/>
          <p:nvPr/>
        </p:nvSpPr>
        <p:spPr>
          <a:xfrm>
            <a:off x="417880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season-ahead</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match-level</a:t>
            </a:r>
            <a:endParaRPr lang="en-US" sz="820" dirty="0"/>
          </a:p>
        </p:txBody>
      </p:sp>
      <p:sp>
        <p:nvSpPr>
          <p:cNvPr id="19" name="Shape 17"/>
          <p:cNvSpPr/>
          <p:nvPr/>
        </p:nvSpPr>
        <p:spPr>
          <a:xfrm>
            <a:off x="5413248" y="2240280"/>
            <a:ext cx="164592" cy="0"/>
          </a:xfrm>
          <a:prstGeom prst="line">
            <a:avLst/>
          </a:prstGeom>
          <a:noFill/>
          <a:ln w="19050">
            <a:solidFill>
              <a:srgbClr val="5B6577"/>
            </a:solidFill>
            <a:prstDash val="solid"/>
            <a:headEnd type="none"/>
            <a:tailEnd type="triangle"/>
          </a:ln>
        </p:spPr>
      </p:sp>
      <p:sp>
        <p:nvSpPr>
          <p:cNvPr id="20" name="Shape 18"/>
          <p:cNvSpPr/>
          <p:nvPr/>
        </p:nvSpPr>
        <p:spPr>
          <a:xfrm>
            <a:off x="562356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5.49592479549213e+65" dist="1.8319749318307093e+65" dir="1.2694994583552002e+78">
              <a:srgbClr val="000000">
                <a:alpha val="1.4e+79"/>
              </a:srgbClr>
            </a:outerShdw>
          </a:effectLst>
        </p:spPr>
      </p:sp>
      <p:sp>
        <p:nvSpPr>
          <p:cNvPr id="21" name="Shape 19"/>
          <p:cNvSpPr/>
          <p:nvPr/>
        </p:nvSpPr>
        <p:spPr>
          <a:xfrm>
            <a:off x="5623560" y="1691640"/>
            <a:ext cx="73152" cy="1115568"/>
          </a:xfrm>
          <a:prstGeom prst="rect">
            <a:avLst/>
          </a:prstGeom>
          <a:solidFill>
            <a:srgbClr val="F4B942"/>
          </a:solidFill>
          <a:ln w="12700">
            <a:solidFill>
              <a:srgbClr val="F4B942"/>
            </a:solidFill>
            <a:prstDash val="solid"/>
          </a:ln>
        </p:spPr>
      </p:sp>
      <p:sp>
        <p:nvSpPr>
          <p:cNvPr id="22" name="Text 20"/>
          <p:cNvSpPr/>
          <p:nvPr/>
        </p:nvSpPr>
        <p:spPr>
          <a:xfrm>
            <a:off x="582472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Features</a:t>
            </a:r>
            <a:endParaRPr lang="en-US" sz="1050" dirty="0"/>
          </a:p>
        </p:txBody>
      </p:sp>
      <p:sp>
        <p:nvSpPr>
          <p:cNvPr id="23" name="Text 21"/>
          <p:cNvSpPr/>
          <p:nvPr/>
        </p:nvSpPr>
        <p:spPr>
          <a:xfrm>
            <a:off x="582472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pre-match</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 in-play</a:t>
            </a:r>
            <a:endParaRPr lang="en-US" sz="820" dirty="0"/>
          </a:p>
        </p:txBody>
      </p:sp>
      <p:sp>
        <p:nvSpPr>
          <p:cNvPr id="24" name="Shape 22"/>
          <p:cNvSpPr/>
          <p:nvPr/>
        </p:nvSpPr>
        <p:spPr>
          <a:xfrm>
            <a:off x="7059168" y="2240280"/>
            <a:ext cx="256032" cy="0"/>
          </a:xfrm>
          <a:prstGeom prst="line">
            <a:avLst/>
          </a:prstGeom>
          <a:noFill/>
          <a:ln w="19050">
            <a:solidFill>
              <a:srgbClr val="5B6577"/>
            </a:solidFill>
            <a:prstDash val="solid"/>
            <a:headEnd type="none"/>
            <a:tailEnd type="triangle"/>
          </a:ln>
        </p:spPr>
      </p:sp>
      <p:sp>
        <p:nvSpPr>
          <p:cNvPr id="25" name="Shape 23"/>
          <p:cNvSpPr/>
          <p:nvPr/>
        </p:nvSpPr>
        <p:spPr>
          <a:xfrm>
            <a:off x="736092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6.979824490275004e+69" dist="2.326608163425001e+69" dir="7.616996750131201e+82">
              <a:srgbClr val="000000">
                <a:alpha val="1.4000000000000001e+84"/>
              </a:srgbClr>
            </a:outerShdw>
          </a:effectLst>
        </p:spPr>
      </p:sp>
      <p:sp>
        <p:nvSpPr>
          <p:cNvPr id="26" name="Shape 24"/>
          <p:cNvSpPr/>
          <p:nvPr/>
        </p:nvSpPr>
        <p:spPr>
          <a:xfrm>
            <a:off x="7360920" y="1691640"/>
            <a:ext cx="73152" cy="1115568"/>
          </a:xfrm>
          <a:prstGeom prst="rect">
            <a:avLst/>
          </a:prstGeom>
          <a:solidFill>
            <a:srgbClr val="0B8F6A"/>
          </a:solidFill>
          <a:ln w="12700">
            <a:solidFill>
              <a:srgbClr val="0B8F6A"/>
            </a:solidFill>
            <a:prstDash val="solid"/>
          </a:ln>
        </p:spPr>
      </p:sp>
      <p:sp>
        <p:nvSpPr>
          <p:cNvPr id="27" name="Text 25"/>
          <p:cNvSpPr/>
          <p:nvPr/>
        </p:nvSpPr>
        <p:spPr>
          <a:xfrm>
            <a:off x="756208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Models</a:t>
            </a:r>
            <a:endParaRPr lang="en-US" sz="1050" dirty="0"/>
          </a:p>
        </p:txBody>
      </p:sp>
      <p:sp>
        <p:nvSpPr>
          <p:cNvPr id="28" name="Text 26"/>
          <p:cNvSpPr/>
          <p:nvPr/>
        </p:nvSpPr>
        <p:spPr>
          <a:xfrm>
            <a:off x="756208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C · R · L</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calibration</a:t>
            </a:r>
            <a:endParaRPr lang="en-US" sz="820" dirty="0"/>
          </a:p>
        </p:txBody>
      </p:sp>
      <p:sp>
        <p:nvSpPr>
          <p:cNvPr id="29" name="Shape 27"/>
          <p:cNvSpPr/>
          <p:nvPr/>
        </p:nvSpPr>
        <p:spPr>
          <a:xfrm>
            <a:off x="8796528" y="2240280"/>
            <a:ext cx="301752" cy="0"/>
          </a:xfrm>
          <a:prstGeom prst="line">
            <a:avLst/>
          </a:prstGeom>
          <a:noFill/>
          <a:ln w="19050">
            <a:solidFill>
              <a:srgbClr val="5B6577"/>
            </a:solidFill>
            <a:prstDash val="solid"/>
            <a:headEnd type="none"/>
            <a:tailEnd type="triangle"/>
          </a:ln>
        </p:spPr>
      </p:sp>
      <p:sp>
        <p:nvSpPr>
          <p:cNvPr id="30" name="Shape 28"/>
          <p:cNvSpPr/>
          <p:nvPr/>
        </p:nvSpPr>
        <p:spPr>
          <a:xfrm>
            <a:off x="9144000" y="1691640"/>
            <a:ext cx="141732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8.864377102649255e+73" dist="2.9547923675497515e+73" dir="4.57019805007872e+87">
              <a:srgbClr val="000000">
                <a:alpha val="1.4000000000000002e+89"/>
              </a:srgbClr>
            </a:outerShdw>
          </a:effectLst>
        </p:spPr>
      </p:sp>
      <p:sp>
        <p:nvSpPr>
          <p:cNvPr id="31" name="Shape 29"/>
          <p:cNvSpPr/>
          <p:nvPr/>
        </p:nvSpPr>
        <p:spPr>
          <a:xfrm>
            <a:off x="9144000" y="1691640"/>
            <a:ext cx="73152" cy="1115568"/>
          </a:xfrm>
          <a:prstGeom prst="rect">
            <a:avLst/>
          </a:prstGeom>
          <a:solidFill>
            <a:srgbClr val="22B8A0"/>
          </a:solidFill>
          <a:ln w="12700">
            <a:solidFill>
              <a:srgbClr val="22B8A0"/>
            </a:solidFill>
            <a:prstDash val="solid"/>
          </a:ln>
        </p:spPr>
      </p:sp>
      <p:sp>
        <p:nvSpPr>
          <p:cNvPr id="32" name="Text 30"/>
          <p:cNvSpPr/>
          <p:nvPr/>
        </p:nvSpPr>
        <p:spPr>
          <a:xfrm>
            <a:off x="9345168" y="1837944"/>
            <a:ext cx="10698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Evaluation</a:t>
            </a:r>
            <a:endParaRPr lang="en-US" sz="1050" dirty="0"/>
          </a:p>
        </p:txBody>
      </p:sp>
      <p:sp>
        <p:nvSpPr>
          <p:cNvPr id="33" name="Text 31"/>
          <p:cNvSpPr/>
          <p:nvPr/>
        </p:nvSpPr>
        <p:spPr>
          <a:xfrm>
            <a:off x="9345168" y="2167128"/>
            <a:ext cx="1051560" cy="521208"/>
          </a:xfrm>
          <a:prstGeom prst="rect">
            <a:avLst/>
          </a:prstGeom>
          <a:noFill/>
          <a:ln/>
        </p:spPr>
        <p:txBody>
          <a:bodyPr wrap="square" lIns="0" tIns="0" rIns="0" bIns="0" rtlCol="0" anchor="t">
            <a:normAutofit/>
          </a:bodyPr>
          <a:lstStyle/>
          <a:p>
            <a:pPr indent="0" marL="0">
              <a:buNone/>
            </a:pPr>
            <a:r>
              <a:rPr lang="en-US" sz="820" dirty="0">
                <a:solidFill>
                  <a:srgbClr val="273142"/>
                </a:solidFill>
                <a:latin typeface="Arial" pitchFamily="34" charset="0"/>
                <a:ea typeface="Arial" pitchFamily="34" charset="-122"/>
                <a:cs typeface="Arial" pitchFamily="34" charset="-120"/>
              </a:rPr>
              <a:t>RPS · Log Loss</a:t>
            </a:r>
            <a:endParaRPr lang="en-US" sz="820" dirty="0"/>
          </a:p>
          <a:p>
            <a:pPr indent="0" marL="0">
              <a:buNone/>
            </a:pPr>
            <a:r>
              <a:rPr lang="en-US" sz="820" dirty="0">
                <a:solidFill>
                  <a:srgbClr val="273142"/>
                </a:solidFill>
                <a:latin typeface="Arial" pitchFamily="34" charset="0"/>
                <a:ea typeface="Arial" pitchFamily="34" charset="-122"/>
                <a:cs typeface="Arial" pitchFamily="34" charset="-120"/>
              </a:rPr>
              <a:t>MAE · ECE · SHAP</a:t>
            </a:r>
            <a:endParaRPr lang="en-US" sz="820" dirty="0"/>
          </a:p>
        </p:txBody>
      </p:sp>
      <p:sp>
        <p:nvSpPr>
          <p:cNvPr id="34" name="Text 32"/>
          <p:cNvSpPr/>
          <p:nvPr/>
        </p:nvSpPr>
        <p:spPr>
          <a:xfrm>
            <a:off x="694944" y="3154680"/>
            <a:ext cx="4572000" cy="274320"/>
          </a:xfrm>
          <a:prstGeom prst="rect">
            <a:avLst/>
          </a:prstGeom>
          <a:noFill/>
          <a:ln/>
        </p:spPr>
        <p:txBody>
          <a:bodyPr wrap="square" lIns="0" tIns="0" rIns="0" bIns="0" rtlCol="0" anchor="ctr"/>
          <a:lstStyle/>
          <a:p>
            <a:pPr indent="0" marL="0">
              <a:buNone/>
            </a:pPr>
            <a:r>
              <a:rPr lang="en-US" sz="1400" b="1" dirty="0">
                <a:solidFill>
                  <a:srgbClr val="0B8F6A"/>
                </a:solidFill>
                <a:latin typeface="Arial" pitchFamily="34" charset="0"/>
                <a:ea typeface="Arial" pitchFamily="34" charset="-122"/>
                <a:cs typeface="Arial" pitchFamily="34" charset="-120"/>
              </a:rPr>
              <a:t>Leakage defenses implemented in code</a:t>
            </a:r>
            <a:endParaRPr lang="en-US" sz="1400" dirty="0"/>
          </a:p>
        </p:txBody>
      </p:sp>
      <p:sp>
        <p:nvSpPr>
          <p:cNvPr id="35" name="Shape 33"/>
          <p:cNvSpPr/>
          <p:nvPr/>
        </p:nvSpPr>
        <p:spPr>
          <a:xfrm>
            <a:off x="694944" y="3566160"/>
            <a:ext cx="3383280" cy="1078992"/>
          </a:xfrm>
          <a:prstGeom prst="roundRect">
            <a:avLst>
              <a:gd name="adj" fmla="val 6780"/>
            </a:avLst>
          </a:prstGeom>
          <a:solidFill>
            <a:srgbClr val="E9F8F3"/>
          </a:solidFill>
          <a:ln w="10160">
            <a:solidFill>
              <a:srgbClr val="DDE5EA"/>
            </a:solidFill>
            <a:prstDash val="solid"/>
          </a:ln>
          <a:effectLst>
            <a:outerShdw sx="100000" sy="100000" kx="0" ky="0" algn="bl" rotWithShape="0" blurRad="1.1257758920364555e+78" dist="3.7525863067881844e+77" dir="2.742118830047232e+92">
              <a:srgbClr val="000000">
                <a:alpha val="1.4000000000000002e+94"/>
              </a:srgbClr>
            </a:outerShdw>
          </a:effectLst>
        </p:spPr>
      </p:sp>
      <p:sp>
        <p:nvSpPr>
          <p:cNvPr id="36" name="Shape 34"/>
          <p:cNvSpPr/>
          <p:nvPr/>
        </p:nvSpPr>
        <p:spPr>
          <a:xfrm>
            <a:off x="694944" y="3566160"/>
            <a:ext cx="73152" cy="1078992"/>
          </a:xfrm>
          <a:prstGeom prst="rect">
            <a:avLst/>
          </a:prstGeom>
          <a:solidFill>
            <a:srgbClr val="0B8F6A"/>
          </a:solidFill>
          <a:ln w="12700">
            <a:solidFill>
              <a:srgbClr val="0B8F6A"/>
            </a:solidFill>
            <a:prstDash val="solid"/>
          </a:ln>
        </p:spPr>
      </p:sp>
      <p:sp>
        <p:nvSpPr>
          <p:cNvPr id="37" name="Text 35"/>
          <p:cNvSpPr/>
          <p:nvPr/>
        </p:nvSpPr>
        <p:spPr>
          <a:xfrm>
            <a:off x="896112" y="3712464"/>
            <a:ext cx="303580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Pre-match boundary</a:t>
            </a:r>
            <a:endParaRPr lang="en-US" sz="1050" dirty="0"/>
          </a:p>
        </p:txBody>
      </p:sp>
      <p:sp>
        <p:nvSpPr>
          <p:cNvPr id="38" name="Text 36"/>
          <p:cNvSpPr/>
          <p:nvPr/>
        </p:nvSpPr>
        <p:spPr>
          <a:xfrm>
            <a:off x="896112" y="4041648"/>
            <a:ext cx="3017520" cy="484632"/>
          </a:xfrm>
          <a:prstGeom prst="rect">
            <a:avLst/>
          </a:prstGeom>
          <a:noFill/>
          <a:ln/>
        </p:spPr>
        <p:txBody>
          <a:bodyPr wrap="square" lIns="0" tIns="0" rIns="0" bIns="0" rtlCol="0" anchor="t">
            <a:normAutofit/>
          </a:bodyPr>
          <a:lstStyle/>
          <a:p>
            <a:pPr indent="0" marL="0">
              <a:buNone/>
            </a:pPr>
            <a:r>
              <a:rPr lang="en-US" sz="920" dirty="0">
                <a:solidFill>
                  <a:srgbClr val="273142"/>
                </a:solidFill>
                <a:latin typeface="Arial" pitchFamily="34" charset="0"/>
                <a:ea typeface="Arial" pitchFamily="34" charset="-122"/>
                <a:cs typeface="Arial" pitchFamily="34" charset="-120"/>
              </a:rPr>
              <a:t>Rolling history uses shift(1): the target match is excluded from its own form features.</a:t>
            </a:r>
            <a:endParaRPr lang="en-US" sz="920" dirty="0"/>
          </a:p>
        </p:txBody>
      </p:sp>
      <p:sp>
        <p:nvSpPr>
          <p:cNvPr id="39" name="Shape 37"/>
          <p:cNvSpPr/>
          <p:nvPr/>
        </p:nvSpPr>
        <p:spPr>
          <a:xfrm>
            <a:off x="4297680" y="3566160"/>
            <a:ext cx="3383280" cy="1078992"/>
          </a:xfrm>
          <a:prstGeom prst="roundRect">
            <a:avLst>
              <a:gd name="adj" fmla="val 6780"/>
            </a:avLst>
          </a:prstGeom>
          <a:solidFill>
            <a:srgbClr val="E9F8F3"/>
          </a:solidFill>
          <a:ln w="10160">
            <a:solidFill>
              <a:srgbClr val="DDE5EA"/>
            </a:solidFill>
            <a:prstDash val="solid"/>
          </a:ln>
          <a:effectLst>
            <a:outerShdw sx="100000" sy="100000" kx="0" ky="0" algn="bl" rotWithShape="0" blurRad="1.4297353828862985e+82" dist="4.765784609620994e+81" dir="1.6452712980283393e+97">
              <a:srgbClr val="000000">
                <a:alpha val="1.4000000000000001e+99"/>
              </a:srgbClr>
            </a:outerShdw>
          </a:effectLst>
        </p:spPr>
      </p:sp>
      <p:sp>
        <p:nvSpPr>
          <p:cNvPr id="40" name="Shape 38"/>
          <p:cNvSpPr/>
          <p:nvPr/>
        </p:nvSpPr>
        <p:spPr>
          <a:xfrm>
            <a:off x="4297680" y="3566160"/>
            <a:ext cx="73152" cy="1078992"/>
          </a:xfrm>
          <a:prstGeom prst="rect">
            <a:avLst/>
          </a:prstGeom>
          <a:solidFill>
            <a:srgbClr val="22B8A0"/>
          </a:solidFill>
          <a:ln w="12700">
            <a:solidFill>
              <a:srgbClr val="22B8A0"/>
            </a:solidFill>
            <a:prstDash val="solid"/>
          </a:ln>
        </p:spPr>
      </p:sp>
      <p:sp>
        <p:nvSpPr>
          <p:cNvPr id="41" name="Text 39"/>
          <p:cNvSpPr/>
          <p:nvPr/>
        </p:nvSpPr>
        <p:spPr>
          <a:xfrm>
            <a:off x="4498848" y="3712464"/>
            <a:ext cx="303580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Live time-t boundary</a:t>
            </a:r>
            <a:endParaRPr lang="en-US" sz="1050" dirty="0"/>
          </a:p>
        </p:txBody>
      </p:sp>
      <p:sp>
        <p:nvSpPr>
          <p:cNvPr id="42" name="Text 40"/>
          <p:cNvSpPr/>
          <p:nvPr/>
        </p:nvSpPr>
        <p:spPr>
          <a:xfrm>
            <a:off x="4498848" y="4041648"/>
            <a:ext cx="3017520" cy="484632"/>
          </a:xfrm>
          <a:prstGeom prst="rect">
            <a:avLst/>
          </a:prstGeom>
          <a:noFill/>
          <a:ln/>
        </p:spPr>
        <p:txBody>
          <a:bodyPr wrap="square" lIns="0" tIns="0" rIns="0" bIns="0" rtlCol="0" anchor="t">
            <a:normAutofit/>
          </a:bodyPr>
          <a:lstStyle/>
          <a:p>
            <a:pPr indent="0" marL="0">
              <a:buNone/>
            </a:pPr>
            <a:r>
              <a:rPr lang="en-US" sz="920" dirty="0">
                <a:solidFill>
                  <a:srgbClr val="273142"/>
                </a:solidFill>
                <a:latin typeface="Arial" pitchFamily="34" charset="0"/>
                <a:ea typeface="Arial" pitchFamily="34" charset="-122"/>
                <a:cs typeface="Arial" pitchFamily="34" charset="-120"/>
              </a:rPr>
              <a:t>assert_time_t_cut(): no event after the snapshot minute can contribute.</a:t>
            </a:r>
            <a:endParaRPr lang="en-US" sz="920" dirty="0"/>
          </a:p>
        </p:txBody>
      </p:sp>
      <p:sp>
        <p:nvSpPr>
          <p:cNvPr id="43" name="Shape 41"/>
          <p:cNvSpPr/>
          <p:nvPr/>
        </p:nvSpPr>
        <p:spPr>
          <a:xfrm>
            <a:off x="7900416" y="3566160"/>
            <a:ext cx="3383280" cy="1078992"/>
          </a:xfrm>
          <a:prstGeom prst="roundRect">
            <a:avLst>
              <a:gd name="adj" fmla="val 6780"/>
            </a:avLst>
          </a:prstGeom>
          <a:solidFill>
            <a:srgbClr val="FFF5D8"/>
          </a:solidFill>
          <a:ln w="10160">
            <a:solidFill>
              <a:srgbClr val="DDE5EA"/>
            </a:solidFill>
            <a:prstDash val="solid"/>
          </a:ln>
          <a:effectLst>
            <a:outerShdw sx="100000" sy="100000" kx="0" ky="0" algn="bl" rotWithShape="0" blurRad="1.815763936265599e+86" dist="6.052546454218663e+85" dir="9.871627788170037e+101">
              <a:srgbClr val="000000">
                <a:alpha val="1.4000000000000002e+104"/>
              </a:srgbClr>
            </a:outerShdw>
          </a:effectLst>
        </p:spPr>
      </p:sp>
      <p:sp>
        <p:nvSpPr>
          <p:cNvPr id="44" name="Shape 42"/>
          <p:cNvSpPr/>
          <p:nvPr/>
        </p:nvSpPr>
        <p:spPr>
          <a:xfrm>
            <a:off x="7900416" y="3566160"/>
            <a:ext cx="73152" cy="1078992"/>
          </a:xfrm>
          <a:prstGeom prst="rect">
            <a:avLst/>
          </a:prstGeom>
          <a:solidFill>
            <a:srgbClr val="F4B942"/>
          </a:solidFill>
          <a:ln w="12700">
            <a:solidFill>
              <a:srgbClr val="F4B942"/>
            </a:solidFill>
            <a:prstDash val="solid"/>
          </a:ln>
        </p:spPr>
      </p:sp>
      <p:sp>
        <p:nvSpPr>
          <p:cNvPr id="45" name="Text 43"/>
          <p:cNvSpPr/>
          <p:nvPr/>
        </p:nvSpPr>
        <p:spPr>
          <a:xfrm>
            <a:off x="8101584" y="3712464"/>
            <a:ext cx="303580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Match-level grouping</a:t>
            </a:r>
            <a:endParaRPr lang="en-US" sz="1050" dirty="0"/>
          </a:p>
        </p:txBody>
      </p:sp>
      <p:sp>
        <p:nvSpPr>
          <p:cNvPr id="46" name="Text 44"/>
          <p:cNvSpPr/>
          <p:nvPr/>
        </p:nvSpPr>
        <p:spPr>
          <a:xfrm>
            <a:off x="8101584" y="4041648"/>
            <a:ext cx="3017520" cy="484632"/>
          </a:xfrm>
          <a:prstGeom prst="rect">
            <a:avLst/>
          </a:prstGeom>
          <a:noFill/>
          <a:ln/>
        </p:spPr>
        <p:txBody>
          <a:bodyPr wrap="square" lIns="0" tIns="0" rIns="0" bIns="0" rtlCol="0" anchor="t">
            <a:normAutofit/>
          </a:bodyPr>
          <a:lstStyle/>
          <a:p>
            <a:pPr indent="0" marL="0">
              <a:buNone/>
            </a:pPr>
            <a:r>
              <a:rPr lang="en-US" sz="920" dirty="0">
                <a:solidFill>
                  <a:srgbClr val="273142"/>
                </a:solidFill>
                <a:latin typeface="Arial" pitchFamily="34" charset="0"/>
                <a:ea typeface="Arial" pitchFamily="34" charset="-122"/>
                <a:cs typeface="Arial" pitchFamily="34" charset="-120"/>
              </a:rPr>
              <a:t>All 18 snapshots from one match inherit the same train/test side.</a:t>
            </a:r>
            <a:endParaRPr lang="en-US" sz="920" dirty="0"/>
          </a:p>
        </p:txBody>
      </p:sp>
      <p:sp>
        <p:nvSpPr>
          <p:cNvPr id="47" name="Shape 45"/>
          <p:cNvSpPr/>
          <p:nvPr/>
        </p:nvSpPr>
        <p:spPr>
          <a:xfrm>
            <a:off x="694944" y="5010912"/>
            <a:ext cx="3310128" cy="310896"/>
          </a:xfrm>
          <a:prstGeom prst="roundRect">
            <a:avLst>
              <a:gd name="adj" fmla="val 23529"/>
            </a:avLst>
          </a:prstGeom>
          <a:solidFill>
            <a:srgbClr val="E9F8F3"/>
          </a:solidFill>
          <a:ln w="12700">
            <a:solidFill>
              <a:srgbClr val="E9F8F3"/>
            </a:solidFill>
            <a:prstDash val="solid"/>
          </a:ln>
        </p:spPr>
      </p:sp>
      <p:sp>
        <p:nvSpPr>
          <p:cNvPr id="48" name="Text 46"/>
          <p:cNvSpPr/>
          <p:nvPr/>
        </p:nvSpPr>
        <p:spPr>
          <a:xfrm>
            <a:off x="768096" y="5065776"/>
            <a:ext cx="3163824" cy="164592"/>
          </a:xfrm>
          <a:prstGeom prst="rect">
            <a:avLst/>
          </a:prstGeom>
          <a:noFill/>
          <a:ln/>
        </p:spPr>
        <p:txBody>
          <a:bodyPr wrap="square" lIns="0" tIns="0" rIns="0" bIns="0" rtlCol="0" anchor="ctr">
            <a:normAutofit/>
          </a:bodyPr>
          <a:lstStyle/>
          <a:p>
            <a:pPr algn="ctr" indent="0" marL="0">
              <a:buNone/>
            </a:pPr>
            <a:r>
              <a:rPr lang="en-US" sz="850" b="1" dirty="0">
                <a:solidFill>
                  <a:srgbClr val="0B8F6A"/>
                </a:solidFill>
                <a:latin typeface="Arial" pitchFamily="34" charset="0"/>
                <a:ea typeface="Arial" pitchFamily="34" charset="-122"/>
                <a:cs typeface="Arial" pitchFamily="34" charset="-120"/>
              </a:rPr>
              <a:t>PASS · pre-match history before kick-off</a:t>
            </a:r>
            <a:endParaRPr lang="en-US" sz="850" dirty="0"/>
          </a:p>
        </p:txBody>
      </p:sp>
      <p:sp>
        <p:nvSpPr>
          <p:cNvPr id="49" name="Shape 47"/>
          <p:cNvSpPr/>
          <p:nvPr/>
        </p:nvSpPr>
        <p:spPr>
          <a:xfrm>
            <a:off x="4297680" y="5010912"/>
            <a:ext cx="3310128" cy="310896"/>
          </a:xfrm>
          <a:prstGeom prst="roundRect">
            <a:avLst>
              <a:gd name="adj" fmla="val 23529"/>
            </a:avLst>
          </a:prstGeom>
          <a:solidFill>
            <a:srgbClr val="E9F8F3"/>
          </a:solidFill>
          <a:ln w="12700">
            <a:solidFill>
              <a:srgbClr val="E9F8F3"/>
            </a:solidFill>
            <a:prstDash val="solid"/>
          </a:ln>
        </p:spPr>
      </p:sp>
      <p:sp>
        <p:nvSpPr>
          <p:cNvPr id="50" name="Text 48"/>
          <p:cNvSpPr/>
          <p:nvPr/>
        </p:nvSpPr>
        <p:spPr>
          <a:xfrm>
            <a:off x="4370832" y="5065776"/>
            <a:ext cx="3163824" cy="164592"/>
          </a:xfrm>
          <a:prstGeom prst="rect">
            <a:avLst/>
          </a:prstGeom>
          <a:noFill/>
          <a:ln/>
        </p:spPr>
        <p:txBody>
          <a:bodyPr wrap="square" lIns="0" tIns="0" rIns="0" bIns="0" rtlCol="0" anchor="ctr">
            <a:normAutofit/>
          </a:bodyPr>
          <a:lstStyle/>
          <a:p>
            <a:pPr algn="ctr" indent="0" marL="0">
              <a:buNone/>
            </a:pPr>
            <a:r>
              <a:rPr lang="en-US" sz="850" b="1" dirty="0">
                <a:solidFill>
                  <a:srgbClr val="0B8F6A"/>
                </a:solidFill>
                <a:latin typeface="Arial" pitchFamily="34" charset="0"/>
                <a:ea typeface="Arial" pitchFamily="34" charset="-122"/>
                <a:cs typeface="Arial" pitchFamily="34" charset="-120"/>
              </a:rPr>
              <a:t>PASS · event timestamp ≤ snapshot time</a:t>
            </a:r>
            <a:endParaRPr lang="en-US" sz="850" dirty="0"/>
          </a:p>
        </p:txBody>
      </p:sp>
      <p:sp>
        <p:nvSpPr>
          <p:cNvPr id="51" name="Shape 49"/>
          <p:cNvSpPr/>
          <p:nvPr/>
        </p:nvSpPr>
        <p:spPr>
          <a:xfrm>
            <a:off x="7900416" y="5010912"/>
            <a:ext cx="3310128" cy="310896"/>
          </a:xfrm>
          <a:prstGeom prst="roundRect">
            <a:avLst>
              <a:gd name="adj" fmla="val 23529"/>
            </a:avLst>
          </a:prstGeom>
          <a:solidFill>
            <a:srgbClr val="E9F8F3"/>
          </a:solidFill>
          <a:ln w="12700">
            <a:solidFill>
              <a:srgbClr val="E9F8F3"/>
            </a:solidFill>
            <a:prstDash val="solid"/>
          </a:ln>
        </p:spPr>
      </p:sp>
      <p:sp>
        <p:nvSpPr>
          <p:cNvPr id="52" name="Text 50"/>
          <p:cNvSpPr/>
          <p:nvPr/>
        </p:nvSpPr>
        <p:spPr>
          <a:xfrm>
            <a:off x="7973568" y="5065776"/>
            <a:ext cx="3163824" cy="164592"/>
          </a:xfrm>
          <a:prstGeom prst="rect">
            <a:avLst/>
          </a:prstGeom>
          <a:noFill/>
          <a:ln/>
        </p:spPr>
        <p:txBody>
          <a:bodyPr wrap="square" lIns="0" tIns="0" rIns="0" bIns="0" rtlCol="0" anchor="ctr">
            <a:normAutofit/>
          </a:bodyPr>
          <a:lstStyle/>
          <a:p>
            <a:pPr algn="ctr" indent="0" marL="0">
              <a:buNone/>
            </a:pPr>
            <a:r>
              <a:rPr lang="en-US" sz="850" b="1" dirty="0">
                <a:solidFill>
                  <a:srgbClr val="0B8F6A"/>
                </a:solidFill>
                <a:latin typeface="Arial" pitchFamily="34" charset="0"/>
                <a:ea typeface="Arial" pitchFamily="34" charset="-122"/>
                <a:cs typeface="Arial" pitchFamily="34" charset="-120"/>
              </a:rPr>
              <a:t>PASS · GMM sampling only on training</a:t>
            </a:r>
            <a:endParaRPr lang="en-US" sz="850" dirty="0"/>
          </a:p>
        </p:txBody>
      </p:sp>
      <p:sp>
        <p:nvSpPr>
          <p:cNvPr id="53" name="Shape 51"/>
          <p:cNvSpPr/>
          <p:nvPr/>
        </p:nvSpPr>
        <p:spPr>
          <a:xfrm>
            <a:off x="694944" y="5577840"/>
            <a:ext cx="10588752" cy="640080"/>
          </a:xfrm>
          <a:prstGeom prst="roundRect">
            <a:avLst>
              <a:gd name="adj" fmla="val 8571"/>
            </a:avLst>
          </a:prstGeom>
          <a:solidFill>
            <a:srgbClr val="E9F8F3"/>
          </a:solidFill>
          <a:ln w="12700">
            <a:solidFill>
              <a:srgbClr val="E9F8F3"/>
            </a:solidFill>
            <a:prstDash val="solid"/>
          </a:ln>
        </p:spPr>
      </p:sp>
      <p:sp>
        <p:nvSpPr>
          <p:cNvPr id="54" name="Shape 52"/>
          <p:cNvSpPr/>
          <p:nvPr/>
        </p:nvSpPr>
        <p:spPr>
          <a:xfrm>
            <a:off x="694944" y="5577840"/>
            <a:ext cx="91440" cy="640080"/>
          </a:xfrm>
          <a:prstGeom prst="rect">
            <a:avLst/>
          </a:prstGeom>
          <a:solidFill>
            <a:srgbClr val="0B8F6A"/>
          </a:solidFill>
          <a:ln w="12700">
            <a:solidFill>
              <a:srgbClr val="0B8F6A"/>
            </a:solidFill>
            <a:prstDash val="solid"/>
          </a:ln>
        </p:spPr>
      </p:sp>
      <p:sp>
        <p:nvSpPr>
          <p:cNvPr id="55" name="Text 53"/>
          <p:cNvSpPr/>
          <p:nvPr/>
        </p:nvSpPr>
        <p:spPr>
          <a:xfrm>
            <a:off x="914400" y="5696712"/>
            <a:ext cx="10222992"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Why it matters</a:t>
            </a:r>
            <a:endParaRPr lang="en-US" sz="1050" dirty="0"/>
          </a:p>
        </p:txBody>
      </p:sp>
      <p:sp>
        <p:nvSpPr>
          <p:cNvPr id="56" name="Text 54"/>
          <p:cNvSpPr/>
          <p:nvPr/>
        </p:nvSpPr>
        <p:spPr>
          <a:xfrm>
            <a:off x="914400" y="5971032"/>
            <a:ext cx="10204704" cy="146304"/>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A high score is scientifically meaningless if future information leaked into the features. Our validation claims begin with these boundaries.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04 · FEATURES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What features did we use?</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119 football/history numeric pre-match features + 4 market-related fields in the saved selector.</a:t>
            </a:r>
            <a:endParaRPr lang="en-US" sz="1050" dirty="0"/>
          </a:p>
        </p:txBody>
      </p:sp>
      <p:sp>
        <p:nvSpPr>
          <p:cNvPr id="5" name="Text 3"/>
          <p:cNvSpPr/>
          <p:nvPr/>
        </p:nvSpPr>
        <p:spPr>
          <a:xfrm>
            <a:off x="640080" y="1444752"/>
            <a:ext cx="1828800" cy="228600"/>
          </a:xfrm>
          <a:prstGeom prst="rect">
            <a:avLst/>
          </a:prstGeom>
          <a:noFill/>
          <a:ln/>
        </p:spPr>
        <p:txBody>
          <a:bodyPr wrap="square" lIns="0" tIns="0" rIns="0" bIns="0" rtlCol="0" anchor="ctr"/>
          <a:lstStyle/>
          <a:p>
            <a:pPr indent="0" marL="0">
              <a:buNone/>
            </a:pPr>
            <a:r>
              <a:rPr lang="en-US" sz="1000" b="1" spc="60" kern="0" dirty="0">
                <a:solidFill>
                  <a:srgbClr val="0B8F6A"/>
                </a:solidFill>
                <a:latin typeface="Arial" pitchFamily="34" charset="0"/>
                <a:ea typeface="Arial" pitchFamily="34" charset="-122"/>
                <a:cs typeface="Arial" pitchFamily="34" charset="-120"/>
              </a:rPr>
              <a:t>PRE-MATCH</a:t>
            </a:r>
            <a:endParaRPr lang="en-US" sz="1000" dirty="0"/>
          </a:p>
        </p:txBody>
      </p:sp>
      <p:sp>
        <p:nvSpPr>
          <p:cNvPr id="6" name="Shape 4"/>
          <p:cNvSpPr/>
          <p:nvPr/>
        </p:nvSpPr>
        <p:spPr>
          <a:xfrm>
            <a:off x="640080" y="1783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2.3060201990573107e+90" dist="7.686733996857701e+89" dir="5.9229766729020215e+106">
              <a:srgbClr val="000000">
                <a:alpha val="1.4e+109"/>
              </a:srgbClr>
            </a:outerShdw>
          </a:effectLst>
        </p:spPr>
      </p:sp>
      <p:sp>
        <p:nvSpPr>
          <p:cNvPr id="7" name="Shape 5"/>
          <p:cNvSpPr/>
          <p:nvPr/>
        </p:nvSpPr>
        <p:spPr>
          <a:xfrm>
            <a:off x="640080" y="1783080"/>
            <a:ext cx="73152" cy="1005840"/>
          </a:xfrm>
          <a:prstGeom prst="rect">
            <a:avLst/>
          </a:prstGeom>
          <a:solidFill>
            <a:srgbClr val="0B8F6A"/>
          </a:solidFill>
          <a:ln w="12700">
            <a:solidFill>
              <a:srgbClr val="0B8F6A"/>
            </a:solidFill>
            <a:prstDash val="solid"/>
          </a:ln>
        </p:spPr>
      </p:sp>
      <p:sp>
        <p:nvSpPr>
          <p:cNvPr id="8" name="Text 6"/>
          <p:cNvSpPr/>
          <p:nvPr/>
        </p:nvSpPr>
        <p:spPr>
          <a:xfrm>
            <a:off x="841248" y="1929384"/>
            <a:ext cx="317296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Form &amp; strength</a:t>
            </a:r>
            <a:endParaRPr lang="en-US" sz="1050" dirty="0"/>
          </a:p>
        </p:txBody>
      </p:sp>
      <p:sp>
        <p:nvSpPr>
          <p:cNvPr id="9" name="Text 7"/>
          <p:cNvSpPr/>
          <p:nvPr/>
        </p:nvSpPr>
        <p:spPr>
          <a:xfrm>
            <a:off x="841248" y="2258568"/>
            <a:ext cx="3154680" cy="411480"/>
          </a:xfrm>
          <a:prstGeom prst="rect">
            <a:avLst/>
          </a:prstGeom>
          <a:noFill/>
          <a:ln/>
        </p:spPr>
        <p:txBody>
          <a:bodyPr wrap="square" lIns="0" tIns="0" rIns="0" bIns="0" rtlCol="0" anchor="t">
            <a:normAutofit/>
          </a:bodyPr>
          <a:lstStyle/>
          <a:p>
            <a:pPr indent="0" marL="0">
              <a:buNone/>
            </a:pPr>
            <a:r>
              <a:rPr lang="en-US" sz="880" dirty="0">
                <a:solidFill>
                  <a:srgbClr val="273142"/>
                </a:solidFill>
                <a:latin typeface="Arial" pitchFamily="34" charset="0"/>
                <a:ea typeface="Arial" pitchFamily="34" charset="-122"/>
                <a:cs typeface="Arial" pitchFamily="34" charset="-120"/>
              </a:rPr>
              <a:t>Rolling 5- and 3-match points, goals for/against, shots, xG, and home-away differences.</a:t>
            </a:r>
            <a:endParaRPr lang="en-US" sz="880" dirty="0"/>
          </a:p>
        </p:txBody>
      </p:sp>
      <p:sp>
        <p:nvSpPr>
          <p:cNvPr id="10" name="Shape 8"/>
          <p:cNvSpPr/>
          <p:nvPr/>
        </p:nvSpPr>
        <p:spPr>
          <a:xfrm>
            <a:off x="640080" y="2926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2.928645652802785e+94" dist="9.76215217600928e+93" dir="3.553786003741213e+111">
              <a:srgbClr val="000000">
                <a:alpha val="1.4e+114"/>
              </a:srgbClr>
            </a:outerShdw>
          </a:effectLst>
        </p:spPr>
      </p:sp>
      <p:sp>
        <p:nvSpPr>
          <p:cNvPr id="11" name="Shape 9"/>
          <p:cNvSpPr/>
          <p:nvPr/>
        </p:nvSpPr>
        <p:spPr>
          <a:xfrm>
            <a:off x="640080" y="2926080"/>
            <a:ext cx="73152" cy="1005840"/>
          </a:xfrm>
          <a:prstGeom prst="rect">
            <a:avLst/>
          </a:prstGeom>
          <a:solidFill>
            <a:srgbClr val="22B8A0"/>
          </a:solidFill>
          <a:ln w="12700">
            <a:solidFill>
              <a:srgbClr val="22B8A0"/>
            </a:solidFill>
            <a:prstDash val="solid"/>
          </a:ln>
        </p:spPr>
      </p:sp>
      <p:sp>
        <p:nvSpPr>
          <p:cNvPr id="12" name="Text 10"/>
          <p:cNvSpPr/>
          <p:nvPr/>
        </p:nvSpPr>
        <p:spPr>
          <a:xfrm>
            <a:off x="841248" y="3072384"/>
            <a:ext cx="317296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Style &amp; territory</a:t>
            </a:r>
            <a:endParaRPr lang="en-US" sz="1050" dirty="0"/>
          </a:p>
        </p:txBody>
      </p:sp>
      <p:sp>
        <p:nvSpPr>
          <p:cNvPr id="13" name="Text 11"/>
          <p:cNvSpPr/>
          <p:nvPr/>
        </p:nvSpPr>
        <p:spPr>
          <a:xfrm>
            <a:off x="841248" y="3401568"/>
            <a:ext cx="3154680" cy="411480"/>
          </a:xfrm>
          <a:prstGeom prst="rect">
            <a:avLst/>
          </a:prstGeom>
          <a:noFill/>
          <a:ln/>
        </p:spPr>
        <p:txBody>
          <a:bodyPr wrap="square" lIns="0" tIns="0" rIns="0" bIns="0" rtlCol="0" anchor="t">
            <a:normAutofit/>
          </a:bodyPr>
          <a:lstStyle/>
          <a:p>
            <a:pPr indent="0" marL="0">
              <a:buNone/>
            </a:pPr>
            <a:r>
              <a:rPr lang="en-US" sz="880" dirty="0">
                <a:solidFill>
                  <a:srgbClr val="273142"/>
                </a:solidFill>
                <a:latin typeface="Arial" pitchFamily="34" charset="0"/>
                <a:ea typeface="Arial" pitchFamily="34" charset="-122"/>
                <a:cs typeface="Arial" pitchFamily="34" charset="-120"/>
              </a:rPr>
              <a:t>Passes/completions, pressures, final-third carries, set pieces, defensive actions, event share.</a:t>
            </a:r>
            <a:endParaRPr lang="en-US" sz="880" dirty="0"/>
          </a:p>
        </p:txBody>
      </p:sp>
      <p:sp>
        <p:nvSpPr>
          <p:cNvPr id="14" name="Shape 12"/>
          <p:cNvSpPr/>
          <p:nvPr/>
        </p:nvSpPr>
        <p:spPr>
          <a:xfrm>
            <a:off x="640080" y="4069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3.7193799790595366e+98" dist="1.2397933263531787e+98" dir="2.1322716022447277e+116">
              <a:srgbClr val="000000">
                <a:alpha val="1.4e+119"/>
              </a:srgbClr>
            </a:outerShdw>
          </a:effectLst>
        </p:spPr>
      </p:sp>
      <p:sp>
        <p:nvSpPr>
          <p:cNvPr id="15" name="Shape 13"/>
          <p:cNvSpPr/>
          <p:nvPr/>
        </p:nvSpPr>
        <p:spPr>
          <a:xfrm>
            <a:off x="640080" y="4069080"/>
            <a:ext cx="73152" cy="1005840"/>
          </a:xfrm>
          <a:prstGeom prst="rect">
            <a:avLst/>
          </a:prstGeom>
          <a:solidFill>
            <a:srgbClr val="F4B942"/>
          </a:solidFill>
          <a:ln w="12700">
            <a:solidFill>
              <a:srgbClr val="F4B942"/>
            </a:solidFill>
            <a:prstDash val="solid"/>
          </a:ln>
        </p:spPr>
      </p:sp>
      <p:sp>
        <p:nvSpPr>
          <p:cNvPr id="16" name="Text 14"/>
          <p:cNvSpPr/>
          <p:nvPr/>
        </p:nvSpPr>
        <p:spPr>
          <a:xfrm>
            <a:off x="841248" y="4215384"/>
            <a:ext cx="317296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Context &amp; efficiency</a:t>
            </a:r>
            <a:endParaRPr lang="en-US" sz="1050" dirty="0"/>
          </a:p>
        </p:txBody>
      </p:sp>
      <p:sp>
        <p:nvSpPr>
          <p:cNvPr id="17" name="Text 15"/>
          <p:cNvSpPr/>
          <p:nvPr/>
        </p:nvSpPr>
        <p:spPr>
          <a:xfrm>
            <a:off x="841248" y="4544568"/>
            <a:ext cx="3154680" cy="411480"/>
          </a:xfrm>
          <a:prstGeom prst="rect">
            <a:avLst/>
          </a:prstGeom>
          <a:noFill/>
          <a:ln/>
        </p:spPr>
        <p:txBody>
          <a:bodyPr wrap="square" lIns="0" tIns="0" rIns="0" bIns="0" rtlCol="0" anchor="t">
            <a:normAutofit/>
          </a:bodyPr>
          <a:lstStyle/>
          <a:p>
            <a:pPr indent="0" marL="0">
              <a:buNone/>
            </a:pPr>
            <a:r>
              <a:rPr lang="en-US" sz="880" dirty="0">
                <a:solidFill>
                  <a:srgbClr val="273142"/>
                </a:solidFill>
                <a:latin typeface="Arial" pitchFamily="34" charset="0"/>
                <a:ea typeface="Arial" pitchFamily="34" charset="-122"/>
                <a:cs typeface="Arial" pitchFamily="34" charset="-120"/>
              </a:rPr>
              <a:t>Rest days, prior matches, home/away win rates, shot conversion, possession proxy, pressure rate.</a:t>
            </a:r>
            <a:endParaRPr lang="en-US" sz="880" dirty="0"/>
          </a:p>
        </p:txBody>
      </p:sp>
      <p:sp>
        <p:nvSpPr>
          <p:cNvPr id="18" name="Shape 16"/>
          <p:cNvSpPr/>
          <p:nvPr/>
        </p:nvSpPr>
        <p:spPr>
          <a:xfrm>
            <a:off x="640080" y="5212080"/>
            <a:ext cx="3520440" cy="822960"/>
          </a:xfrm>
          <a:prstGeom prst="roundRect">
            <a:avLst>
              <a:gd name="adj" fmla="val 8889"/>
            </a:avLst>
          </a:prstGeom>
          <a:solidFill>
            <a:srgbClr val="FFFFFF"/>
          </a:solidFill>
          <a:ln w="10160">
            <a:solidFill>
              <a:srgbClr val="DDE5EA"/>
            </a:solidFill>
            <a:prstDash val="solid"/>
          </a:ln>
          <a:effectLst>
            <a:outerShdw sx="100000" sy="100000" kx="0" ky="0" algn="bl" rotWithShape="0" blurRad="4.723612573405612e+102" dist="1.574537524468537e+102" dir="1.2793629613468366e+121">
              <a:srgbClr val="000000">
                <a:alpha val="1.4e+124"/>
              </a:srgbClr>
            </a:outerShdw>
          </a:effectLst>
        </p:spPr>
      </p:sp>
      <p:sp>
        <p:nvSpPr>
          <p:cNvPr id="19" name="Shape 17"/>
          <p:cNvSpPr/>
          <p:nvPr/>
        </p:nvSpPr>
        <p:spPr>
          <a:xfrm>
            <a:off x="640080" y="5212080"/>
            <a:ext cx="73152" cy="822960"/>
          </a:xfrm>
          <a:prstGeom prst="rect">
            <a:avLst/>
          </a:prstGeom>
          <a:solidFill>
            <a:srgbClr val="0B8F6A"/>
          </a:solidFill>
          <a:ln w="12700">
            <a:solidFill>
              <a:srgbClr val="0B8F6A"/>
            </a:solidFill>
            <a:prstDash val="solid"/>
          </a:ln>
        </p:spPr>
      </p:sp>
      <p:sp>
        <p:nvSpPr>
          <p:cNvPr id="20" name="Text 18"/>
          <p:cNvSpPr/>
          <p:nvPr/>
        </p:nvSpPr>
        <p:spPr>
          <a:xfrm>
            <a:off x="841248" y="5358384"/>
            <a:ext cx="317296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Momentum</a:t>
            </a:r>
            <a:endParaRPr lang="en-US" sz="1050" dirty="0"/>
          </a:p>
        </p:txBody>
      </p:sp>
      <p:sp>
        <p:nvSpPr>
          <p:cNvPr id="21" name="Text 19"/>
          <p:cNvSpPr/>
          <p:nvPr/>
        </p:nvSpPr>
        <p:spPr>
          <a:xfrm>
            <a:off x="841248" y="5687568"/>
            <a:ext cx="3154680" cy="228600"/>
          </a:xfrm>
          <a:prstGeom prst="rect">
            <a:avLst/>
          </a:prstGeom>
          <a:noFill/>
          <a:ln/>
        </p:spPr>
        <p:txBody>
          <a:bodyPr wrap="square" lIns="0" tIns="0" rIns="0" bIns="0" rtlCol="0" anchor="t">
            <a:normAutofit/>
          </a:bodyPr>
          <a:lstStyle/>
          <a:p>
            <a:pPr indent="0" marL="0">
              <a:buNone/>
            </a:pPr>
            <a:r>
              <a:rPr lang="en-US" sz="880" dirty="0">
                <a:solidFill>
                  <a:srgbClr val="273142"/>
                </a:solidFill>
                <a:latin typeface="Arial" pitchFamily="34" charset="0"/>
                <a:ea typeface="Arial" pitchFamily="34" charset="-122"/>
                <a:cs typeface="Arial" pitchFamily="34" charset="-120"/>
              </a:rPr>
              <a:t>Last-5 minus previous-5 trends for points, goals and xG.</a:t>
            </a:r>
            <a:endParaRPr lang="en-US" sz="880" dirty="0"/>
          </a:p>
        </p:txBody>
      </p:sp>
      <p:sp>
        <p:nvSpPr>
          <p:cNvPr id="22" name="Text 20"/>
          <p:cNvSpPr/>
          <p:nvPr/>
        </p:nvSpPr>
        <p:spPr>
          <a:xfrm>
            <a:off x="4443984" y="1444752"/>
            <a:ext cx="1828800" cy="228600"/>
          </a:xfrm>
          <a:prstGeom prst="rect">
            <a:avLst/>
          </a:prstGeom>
          <a:noFill/>
          <a:ln/>
        </p:spPr>
        <p:txBody>
          <a:bodyPr wrap="square" lIns="0" tIns="0" rIns="0" bIns="0" rtlCol="0" anchor="ctr"/>
          <a:lstStyle/>
          <a:p>
            <a:pPr indent="0" marL="0">
              <a:buNone/>
            </a:pPr>
            <a:r>
              <a:rPr lang="en-US" sz="1000" b="1" spc="60" kern="0" dirty="0">
                <a:solidFill>
                  <a:srgbClr val="22B8A0"/>
                </a:solidFill>
                <a:latin typeface="Arial" pitchFamily="34" charset="0"/>
                <a:ea typeface="Arial" pitchFamily="34" charset="-122"/>
                <a:cs typeface="Arial" pitchFamily="34" charset="-120"/>
              </a:rPr>
              <a:t>IN-PLAY</a:t>
            </a:r>
            <a:endParaRPr lang="en-US" sz="1000" dirty="0"/>
          </a:p>
        </p:txBody>
      </p:sp>
      <p:sp>
        <p:nvSpPr>
          <p:cNvPr id="23" name="Shape 21"/>
          <p:cNvSpPr/>
          <p:nvPr/>
        </p:nvSpPr>
        <p:spPr>
          <a:xfrm>
            <a:off x="4443984" y="1783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5.998987968225127e+106" dist="1.999662656075042e+106" dir="7.67617776808102e+125">
              <a:srgbClr val="000000">
                <a:alpha val="1.4e+129"/>
              </a:srgbClr>
            </a:outerShdw>
          </a:effectLst>
        </p:spPr>
      </p:sp>
      <p:sp>
        <p:nvSpPr>
          <p:cNvPr id="24" name="Shape 22"/>
          <p:cNvSpPr/>
          <p:nvPr/>
        </p:nvSpPr>
        <p:spPr>
          <a:xfrm>
            <a:off x="4443984" y="1783080"/>
            <a:ext cx="73152" cy="1005840"/>
          </a:xfrm>
          <a:prstGeom prst="rect">
            <a:avLst/>
          </a:prstGeom>
          <a:solidFill>
            <a:srgbClr val="22B8A0"/>
          </a:solidFill>
          <a:ln w="12700">
            <a:solidFill>
              <a:srgbClr val="22B8A0"/>
            </a:solidFill>
            <a:prstDash val="solid"/>
          </a:ln>
        </p:spPr>
      </p:sp>
      <p:sp>
        <p:nvSpPr>
          <p:cNvPr id="25" name="Text 23"/>
          <p:cNvSpPr/>
          <p:nvPr/>
        </p:nvSpPr>
        <p:spPr>
          <a:xfrm>
            <a:off x="4645152" y="1929384"/>
            <a:ext cx="317296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Game state</a:t>
            </a:r>
            <a:endParaRPr lang="en-US" sz="1050" dirty="0"/>
          </a:p>
        </p:txBody>
      </p:sp>
      <p:sp>
        <p:nvSpPr>
          <p:cNvPr id="26" name="Text 24"/>
          <p:cNvSpPr/>
          <p:nvPr/>
        </p:nvSpPr>
        <p:spPr>
          <a:xfrm>
            <a:off x="4645152" y="2258568"/>
            <a:ext cx="3154680" cy="411480"/>
          </a:xfrm>
          <a:prstGeom prst="rect">
            <a:avLst/>
          </a:prstGeom>
          <a:noFill/>
          <a:ln/>
        </p:spPr>
        <p:txBody>
          <a:bodyPr wrap="square" lIns="0" tIns="0" rIns="0" bIns="0" rtlCol="0" anchor="t">
            <a:normAutofit/>
          </a:bodyPr>
          <a:lstStyle/>
          <a:p>
            <a:pPr indent="0" marL="0">
              <a:buNone/>
            </a:pPr>
            <a:r>
              <a:rPr lang="en-US" sz="880" dirty="0">
                <a:solidFill>
                  <a:srgbClr val="273142"/>
                </a:solidFill>
                <a:latin typeface="Arial" pitchFamily="34" charset="0"/>
                <a:ea typeface="Arial" pitchFamily="34" charset="-122"/>
                <a:cs typeface="Arial" pitchFamily="34" charset="-120"/>
              </a:rPr>
              <a:t>Snapshot minute, home/away goals, score difference and man advantage.</a:t>
            </a:r>
            <a:endParaRPr lang="en-US" sz="880" dirty="0"/>
          </a:p>
        </p:txBody>
      </p:sp>
      <p:sp>
        <p:nvSpPr>
          <p:cNvPr id="27" name="Shape 25"/>
          <p:cNvSpPr/>
          <p:nvPr/>
        </p:nvSpPr>
        <p:spPr>
          <a:xfrm>
            <a:off x="4443984" y="2926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7.618714719645911e+110" dist="2.5395715732153035e+110" dir="4.605706660848612e+130">
              <a:srgbClr val="000000">
                <a:alpha val="1.4e+134"/>
              </a:srgbClr>
            </a:outerShdw>
          </a:effectLst>
        </p:spPr>
      </p:sp>
      <p:sp>
        <p:nvSpPr>
          <p:cNvPr id="28" name="Shape 26"/>
          <p:cNvSpPr/>
          <p:nvPr/>
        </p:nvSpPr>
        <p:spPr>
          <a:xfrm>
            <a:off x="4443984" y="2926080"/>
            <a:ext cx="73152" cy="1005840"/>
          </a:xfrm>
          <a:prstGeom prst="rect">
            <a:avLst/>
          </a:prstGeom>
          <a:solidFill>
            <a:srgbClr val="0B8F6A"/>
          </a:solidFill>
          <a:ln w="12700">
            <a:solidFill>
              <a:srgbClr val="0B8F6A"/>
            </a:solidFill>
            <a:prstDash val="solid"/>
          </a:ln>
        </p:spPr>
      </p:sp>
      <p:sp>
        <p:nvSpPr>
          <p:cNvPr id="29" name="Text 27"/>
          <p:cNvSpPr/>
          <p:nvPr/>
        </p:nvSpPr>
        <p:spPr>
          <a:xfrm>
            <a:off x="4645152" y="3072384"/>
            <a:ext cx="317296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Cumulative live</a:t>
            </a:r>
            <a:endParaRPr lang="en-US" sz="1050" dirty="0"/>
          </a:p>
        </p:txBody>
      </p:sp>
      <p:sp>
        <p:nvSpPr>
          <p:cNvPr id="30" name="Text 28"/>
          <p:cNvSpPr/>
          <p:nvPr/>
        </p:nvSpPr>
        <p:spPr>
          <a:xfrm>
            <a:off x="4645152" y="3401568"/>
            <a:ext cx="3154680" cy="411480"/>
          </a:xfrm>
          <a:prstGeom prst="rect">
            <a:avLst/>
          </a:prstGeom>
          <a:noFill/>
          <a:ln/>
        </p:spPr>
        <p:txBody>
          <a:bodyPr wrap="square" lIns="0" tIns="0" rIns="0" bIns="0" rtlCol="0" anchor="t">
            <a:normAutofit/>
          </a:bodyPr>
          <a:lstStyle/>
          <a:p>
            <a:pPr indent="0" marL="0">
              <a:buNone/>
            </a:pPr>
            <a:r>
              <a:rPr lang="en-US" sz="880" dirty="0">
                <a:solidFill>
                  <a:srgbClr val="273142"/>
                </a:solidFill>
                <a:latin typeface="Arial" pitchFamily="34" charset="0"/>
                <a:ea typeface="Arial" pitchFamily="34" charset="-122"/>
                <a:cs typeface="Arial" pitchFamily="34" charset="-120"/>
              </a:rPr>
              <a:t>Shots, xG, passes, pressures, defensive actions, final-third carries, set pieces, red cards.</a:t>
            </a:r>
            <a:endParaRPr lang="en-US" sz="880" dirty="0"/>
          </a:p>
        </p:txBody>
      </p:sp>
      <p:sp>
        <p:nvSpPr>
          <p:cNvPr id="31" name="Shape 29"/>
          <p:cNvSpPr/>
          <p:nvPr/>
        </p:nvSpPr>
        <p:spPr>
          <a:xfrm>
            <a:off x="4443984" y="4069080"/>
            <a:ext cx="3520440" cy="1005840"/>
          </a:xfrm>
          <a:prstGeom prst="roundRect">
            <a:avLst>
              <a:gd name="adj" fmla="val 7273"/>
            </a:avLst>
          </a:prstGeom>
          <a:solidFill>
            <a:srgbClr val="FFFFFF"/>
          </a:solidFill>
          <a:ln w="10160">
            <a:solidFill>
              <a:srgbClr val="DDE5EA"/>
            </a:solidFill>
            <a:prstDash val="solid"/>
          </a:ln>
          <a:effectLst>
            <a:outerShdw sx="100000" sy="100000" kx="0" ky="0" algn="bl" rotWithShape="0" blurRad="9.675767693950307e+114" dist="3.2252558979834355e+114" dir="2.763423996509167e+135">
              <a:srgbClr val="000000">
                <a:alpha val="1.4e+139"/>
              </a:srgbClr>
            </a:outerShdw>
          </a:effectLst>
        </p:spPr>
      </p:sp>
      <p:sp>
        <p:nvSpPr>
          <p:cNvPr id="32" name="Shape 30"/>
          <p:cNvSpPr/>
          <p:nvPr/>
        </p:nvSpPr>
        <p:spPr>
          <a:xfrm>
            <a:off x="4443984" y="4069080"/>
            <a:ext cx="73152" cy="1005840"/>
          </a:xfrm>
          <a:prstGeom prst="rect">
            <a:avLst/>
          </a:prstGeom>
          <a:solidFill>
            <a:srgbClr val="F4B942"/>
          </a:solidFill>
          <a:ln w="12700">
            <a:solidFill>
              <a:srgbClr val="F4B942"/>
            </a:solidFill>
            <a:prstDash val="solid"/>
          </a:ln>
        </p:spPr>
      </p:sp>
      <p:sp>
        <p:nvSpPr>
          <p:cNvPr id="33" name="Text 31"/>
          <p:cNvSpPr/>
          <p:nvPr/>
        </p:nvSpPr>
        <p:spPr>
          <a:xfrm>
            <a:off x="4645152" y="4215384"/>
            <a:ext cx="317296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Recent 5-minute window</a:t>
            </a:r>
            <a:endParaRPr lang="en-US" sz="1050" dirty="0"/>
          </a:p>
        </p:txBody>
      </p:sp>
      <p:sp>
        <p:nvSpPr>
          <p:cNvPr id="34" name="Text 32"/>
          <p:cNvSpPr/>
          <p:nvPr/>
        </p:nvSpPr>
        <p:spPr>
          <a:xfrm>
            <a:off x="4645152" y="4544568"/>
            <a:ext cx="3154680" cy="411480"/>
          </a:xfrm>
          <a:prstGeom prst="rect">
            <a:avLst/>
          </a:prstGeom>
          <a:noFill/>
          <a:ln/>
        </p:spPr>
        <p:txBody>
          <a:bodyPr wrap="square" lIns="0" tIns="0" rIns="0" bIns="0" rtlCol="0" anchor="t">
            <a:normAutofit/>
          </a:bodyPr>
          <a:lstStyle/>
          <a:p>
            <a:pPr indent="0" marL="0">
              <a:buNone/>
            </a:pPr>
            <a:r>
              <a:rPr lang="en-US" sz="880" dirty="0">
                <a:solidFill>
                  <a:srgbClr val="273142"/>
                </a:solidFill>
                <a:latin typeface="Arial" pitchFamily="34" charset="0"/>
                <a:ea typeface="Arial" pitchFamily="34" charset="-122"/>
                <a:cs typeface="Arial" pitchFamily="34" charset="-120"/>
              </a:rPr>
              <a:t>Recent shots, pressures, events and per-minute rates for shots, pressures and passes.</a:t>
            </a:r>
            <a:endParaRPr lang="en-US" sz="880" dirty="0"/>
          </a:p>
        </p:txBody>
      </p:sp>
      <p:sp>
        <p:nvSpPr>
          <p:cNvPr id="35" name="Shape 33"/>
          <p:cNvSpPr/>
          <p:nvPr/>
        </p:nvSpPr>
        <p:spPr>
          <a:xfrm>
            <a:off x="4443984" y="5212080"/>
            <a:ext cx="3520440" cy="822960"/>
          </a:xfrm>
          <a:prstGeom prst="roundRect">
            <a:avLst>
              <a:gd name="adj" fmla="val 8889"/>
            </a:avLst>
          </a:prstGeom>
          <a:solidFill>
            <a:srgbClr val="FFFFFF"/>
          </a:solidFill>
          <a:ln w="10160">
            <a:solidFill>
              <a:srgbClr val="DDE5EA"/>
            </a:solidFill>
            <a:prstDash val="solid"/>
          </a:ln>
          <a:effectLst>
            <a:outerShdw sx="100000" sy="100000" kx="0" ky="0" algn="bl" rotWithShape="0" blurRad="1.2288224971316889e+119" dist="4.096074990438963e+118" dir="1.6580543979055002e+140">
              <a:srgbClr val="000000">
                <a:alpha val="1.3999999999999999e+144"/>
              </a:srgbClr>
            </a:outerShdw>
          </a:effectLst>
        </p:spPr>
      </p:sp>
      <p:sp>
        <p:nvSpPr>
          <p:cNvPr id="36" name="Shape 34"/>
          <p:cNvSpPr/>
          <p:nvPr/>
        </p:nvSpPr>
        <p:spPr>
          <a:xfrm>
            <a:off x="4443984" y="5212080"/>
            <a:ext cx="73152" cy="822960"/>
          </a:xfrm>
          <a:prstGeom prst="rect">
            <a:avLst/>
          </a:prstGeom>
          <a:solidFill>
            <a:srgbClr val="22B8A0"/>
          </a:solidFill>
          <a:ln w="12700">
            <a:solidFill>
              <a:srgbClr val="22B8A0"/>
            </a:solidFill>
            <a:prstDash val="solid"/>
          </a:ln>
        </p:spPr>
      </p:sp>
      <p:sp>
        <p:nvSpPr>
          <p:cNvPr id="37" name="Text 35"/>
          <p:cNvSpPr/>
          <p:nvPr/>
        </p:nvSpPr>
        <p:spPr>
          <a:xfrm>
            <a:off x="4645152" y="5358384"/>
            <a:ext cx="317296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Relative signal</a:t>
            </a:r>
            <a:endParaRPr lang="en-US" sz="1050" dirty="0"/>
          </a:p>
        </p:txBody>
      </p:sp>
      <p:sp>
        <p:nvSpPr>
          <p:cNvPr id="38" name="Text 36"/>
          <p:cNvSpPr/>
          <p:nvPr/>
        </p:nvSpPr>
        <p:spPr>
          <a:xfrm>
            <a:off x="4645152" y="5687568"/>
            <a:ext cx="3154680" cy="228600"/>
          </a:xfrm>
          <a:prstGeom prst="rect">
            <a:avLst/>
          </a:prstGeom>
          <a:noFill/>
          <a:ln/>
        </p:spPr>
        <p:txBody>
          <a:bodyPr wrap="square" lIns="0" tIns="0" rIns="0" bIns="0" rtlCol="0" anchor="t">
            <a:normAutofit/>
          </a:bodyPr>
          <a:lstStyle/>
          <a:p>
            <a:pPr indent="0" marL="0">
              <a:buNone/>
            </a:pPr>
            <a:r>
              <a:rPr lang="en-US" sz="880" dirty="0">
                <a:solidFill>
                  <a:srgbClr val="273142"/>
                </a:solidFill>
                <a:latin typeface="Arial" pitchFamily="34" charset="0"/>
                <a:ea typeface="Arial" pitchFamily="34" charset="-122"/>
                <a:cs typeface="Arial" pitchFamily="34" charset="-120"/>
              </a:rPr>
              <a:t>Home-away differences + live shot/pressure momentum + pre-match prior.</a:t>
            </a:r>
            <a:endParaRPr lang="en-US" sz="880" dirty="0"/>
          </a:p>
        </p:txBody>
      </p:sp>
      <p:sp>
        <p:nvSpPr>
          <p:cNvPr id="39" name="Shape 37"/>
          <p:cNvSpPr/>
          <p:nvPr/>
        </p:nvSpPr>
        <p:spPr>
          <a:xfrm>
            <a:off x="8275320" y="1874520"/>
            <a:ext cx="306324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1.5606045713572448e+123" dist="5.202015237857483e+122" dir="9.948326387433002e+144">
              <a:srgbClr val="000000">
                <a:alpha val="1.4e+149"/>
              </a:srgbClr>
            </a:outerShdw>
          </a:effectLst>
        </p:spPr>
      </p:sp>
      <p:sp>
        <p:nvSpPr>
          <p:cNvPr id="40" name="Shape 38"/>
          <p:cNvSpPr/>
          <p:nvPr/>
        </p:nvSpPr>
        <p:spPr>
          <a:xfrm>
            <a:off x="8275320" y="1874520"/>
            <a:ext cx="73152" cy="960120"/>
          </a:xfrm>
          <a:prstGeom prst="rect">
            <a:avLst/>
          </a:prstGeom>
          <a:solidFill>
            <a:srgbClr val="0B8F6A"/>
          </a:solidFill>
          <a:ln w="12700">
            <a:solidFill>
              <a:srgbClr val="0B8F6A"/>
            </a:solidFill>
            <a:prstDash val="solid"/>
          </a:ln>
        </p:spPr>
      </p:sp>
      <p:sp>
        <p:nvSpPr>
          <p:cNvPr id="41" name="Text 39"/>
          <p:cNvSpPr/>
          <p:nvPr/>
        </p:nvSpPr>
        <p:spPr>
          <a:xfrm>
            <a:off x="8458200" y="2020824"/>
            <a:ext cx="278892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123</a:t>
            </a:r>
            <a:endParaRPr lang="en-US" sz="2300" dirty="0"/>
          </a:p>
        </p:txBody>
      </p:sp>
      <p:sp>
        <p:nvSpPr>
          <p:cNvPr id="42" name="Text 40"/>
          <p:cNvSpPr/>
          <p:nvPr/>
        </p:nvSpPr>
        <p:spPr>
          <a:xfrm>
            <a:off x="8421624" y="2459736"/>
            <a:ext cx="284378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pre-match numeric columns</a:t>
            </a:r>
            <a:endParaRPr lang="en-US" sz="850" dirty="0"/>
          </a:p>
        </p:txBody>
      </p:sp>
      <p:sp>
        <p:nvSpPr>
          <p:cNvPr id="43" name="Shape 41"/>
          <p:cNvSpPr/>
          <p:nvPr/>
        </p:nvSpPr>
        <p:spPr>
          <a:xfrm>
            <a:off x="8275320" y="3154680"/>
            <a:ext cx="306324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1.9819678056237007e+127" dist="6.606559352079004e+126" dir="5.968995832459801e+149">
              <a:srgbClr val="000000">
                <a:alpha val="1.4e+154"/>
              </a:srgbClr>
            </a:outerShdw>
          </a:effectLst>
        </p:spPr>
      </p:sp>
      <p:sp>
        <p:nvSpPr>
          <p:cNvPr id="44" name="Shape 42"/>
          <p:cNvSpPr/>
          <p:nvPr/>
        </p:nvSpPr>
        <p:spPr>
          <a:xfrm>
            <a:off x="8275320" y="3154680"/>
            <a:ext cx="73152" cy="960120"/>
          </a:xfrm>
          <a:prstGeom prst="rect">
            <a:avLst/>
          </a:prstGeom>
          <a:solidFill>
            <a:srgbClr val="22B8A0"/>
          </a:solidFill>
          <a:ln w="12700">
            <a:solidFill>
              <a:srgbClr val="22B8A0"/>
            </a:solidFill>
            <a:prstDash val="solid"/>
          </a:ln>
        </p:spPr>
      </p:sp>
      <p:sp>
        <p:nvSpPr>
          <p:cNvPr id="45" name="Text 43"/>
          <p:cNvSpPr/>
          <p:nvPr/>
        </p:nvSpPr>
        <p:spPr>
          <a:xfrm>
            <a:off x="8458200" y="3300984"/>
            <a:ext cx="278892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185</a:t>
            </a:r>
            <a:endParaRPr lang="en-US" sz="2300" dirty="0"/>
          </a:p>
        </p:txBody>
      </p:sp>
      <p:sp>
        <p:nvSpPr>
          <p:cNvPr id="46" name="Text 44"/>
          <p:cNvSpPr/>
          <p:nvPr/>
        </p:nvSpPr>
        <p:spPr>
          <a:xfrm>
            <a:off x="8421624" y="3739896"/>
            <a:ext cx="284378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in-play numeric columns</a:t>
            </a:r>
            <a:endParaRPr lang="en-US" sz="850" dirty="0"/>
          </a:p>
        </p:txBody>
      </p:sp>
      <p:sp>
        <p:nvSpPr>
          <p:cNvPr id="47" name="Shape 45"/>
          <p:cNvSpPr/>
          <p:nvPr/>
        </p:nvSpPr>
        <p:spPr>
          <a:xfrm>
            <a:off x="8275320" y="4434840"/>
            <a:ext cx="3063240" cy="1234440"/>
          </a:xfrm>
          <a:prstGeom prst="roundRect">
            <a:avLst>
              <a:gd name="adj" fmla="val 4444"/>
            </a:avLst>
          </a:prstGeom>
          <a:solidFill>
            <a:srgbClr val="FFF5D8"/>
          </a:solidFill>
          <a:ln w="12700">
            <a:solidFill>
              <a:srgbClr val="FFF5D8"/>
            </a:solidFill>
            <a:prstDash val="solid"/>
          </a:ln>
        </p:spPr>
      </p:sp>
      <p:sp>
        <p:nvSpPr>
          <p:cNvPr id="48" name="Shape 46"/>
          <p:cNvSpPr/>
          <p:nvPr/>
        </p:nvSpPr>
        <p:spPr>
          <a:xfrm>
            <a:off x="8275320" y="4434840"/>
            <a:ext cx="91440" cy="1234440"/>
          </a:xfrm>
          <a:prstGeom prst="rect">
            <a:avLst/>
          </a:prstGeom>
          <a:solidFill>
            <a:srgbClr val="F4B942"/>
          </a:solidFill>
          <a:ln w="12700">
            <a:solidFill>
              <a:srgbClr val="F4B942"/>
            </a:solidFill>
            <a:prstDash val="solid"/>
          </a:ln>
        </p:spPr>
      </p:sp>
      <p:sp>
        <p:nvSpPr>
          <p:cNvPr id="49" name="Text 47"/>
          <p:cNvSpPr/>
          <p:nvPr/>
        </p:nvSpPr>
        <p:spPr>
          <a:xfrm>
            <a:off x="8494776" y="4553712"/>
            <a:ext cx="269748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Feature count caveat</a:t>
            </a:r>
            <a:endParaRPr lang="en-US" sz="1050" dirty="0"/>
          </a:p>
        </p:txBody>
      </p:sp>
      <p:sp>
        <p:nvSpPr>
          <p:cNvPr id="50" name="Text 48"/>
          <p:cNvSpPr/>
          <p:nvPr/>
        </p:nvSpPr>
        <p:spPr>
          <a:xfrm>
            <a:off x="8494776" y="4828032"/>
            <a:ext cx="2679192" cy="740664"/>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The 123 pre-match numeric columns include 4 market fields. Because odds tagging failed in the saved run, those four fields contain no usable market signal.</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05 · MARKET</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Market features: implemented — but not validated in the saved run</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This is the most important limitation to state honestly.</a:t>
            </a:r>
            <a:endParaRPr lang="en-US" sz="1050" dirty="0"/>
          </a:p>
        </p:txBody>
      </p:sp>
      <p:sp>
        <p:nvSpPr>
          <p:cNvPr id="5" name="Shape 3"/>
          <p:cNvSpPr/>
          <p:nvPr/>
        </p:nvSpPr>
        <p:spPr>
          <a:xfrm>
            <a:off x="694944" y="1572768"/>
            <a:ext cx="224028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2.5170991131421e+131" dist="8.390330377140335e+130" dir="3.581397499475881e+154">
              <a:srgbClr val="000000">
                <a:alpha val="1.4e+159"/>
              </a:srgbClr>
            </a:outerShdw>
          </a:effectLst>
        </p:spPr>
      </p:sp>
      <p:sp>
        <p:nvSpPr>
          <p:cNvPr id="6" name="Shape 4"/>
          <p:cNvSpPr/>
          <p:nvPr/>
        </p:nvSpPr>
        <p:spPr>
          <a:xfrm>
            <a:off x="694944" y="1572768"/>
            <a:ext cx="73152" cy="960120"/>
          </a:xfrm>
          <a:prstGeom prst="rect">
            <a:avLst/>
          </a:prstGeom>
          <a:solidFill>
            <a:srgbClr val="F4B942"/>
          </a:solidFill>
          <a:ln w="12700">
            <a:solidFill>
              <a:srgbClr val="F4B942"/>
            </a:solidFill>
            <a:prstDash val="solid"/>
          </a:ln>
        </p:spPr>
      </p:sp>
      <p:sp>
        <p:nvSpPr>
          <p:cNvPr id="7" name="Text 5"/>
          <p:cNvSpPr/>
          <p:nvPr/>
        </p:nvSpPr>
        <p:spPr>
          <a:xfrm>
            <a:off x="877824" y="1719072"/>
            <a:ext cx="196596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4</a:t>
            </a:r>
            <a:endParaRPr lang="en-US" sz="2300" dirty="0"/>
          </a:p>
        </p:txBody>
      </p:sp>
      <p:sp>
        <p:nvSpPr>
          <p:cNvPr id="8" name="Text 6"/>
          <p:cNvSpPr/>
          <p:nvPr/>
        </p:nvSpPr>
        <p:spPr>
          <a:xfrm>
            <a:off x="841248" y="2157984"/>
            <a:ext cx="202082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market-related fields</a:t>
            </a:r>
            <a:endParaRPr lang="en-US" sz="850" dirty="0"/>
          </a:p>
        </p:txBody>
      </p:sp>
      <p:sp>
        <p:nvSpPr>
          <p:cNvPr id="9" name="Shape 7"/>
          <p:cNvSpPr/>
          <p:nvPr/>
        </p:nvSpPr>
        <p:spPr>
          <a:xfrm>
            <a:off x="3172968" y="1572768"/>
            <a:ext cx="224028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3.1967158736904665e+135" dist="1.0655719578968225e+135" dir="2.1488384996855287e+159">
              <a:srgbClr val="000000">
                <a:alpha val="1.4e+164"/>
              </a:srgbClr>
            </a:outerShdw>
          </a:effectLst>
        </p:spPr>
      </p:sp>
      <p:sp>
        <p:nvSpPr>
          <p:cNvPr id="10" name="Shape 8"/>
          <p:cNvSpPr/>
          <p:nvPr/>
        </p:nvSpPr>
        <p:spPr>
          <a:xfrm>
            <a:off x="3172968" y="1572768"/>
            <a:ext cx="73152" cy="960120"/>
          </a:xfrm>
          <a:prstGeom prst="rect">
            <a:avLst/>
          </a:prstGeom>
          <a:solidFill>
            <a:srgbClr val="C94949"/>
          </a:solidFill>
          <a:ln w="12700">
            <a:solidFill>
              <a:srgbClr val="C94949"/>
            </a:solidFill>
            <a:prstDash val="solid"/>
          </a:ln>
        </p:spPr>
      </p:sp>
      <p:sp>
        <p:nvSpPr>
          <p:cNvPr id="11" name="Text 9"/>
          <p:cNvSpPr/>
          <p:nvPr/>
        </p:nvSpPr>
        <p:spPr>
          <a:xfrm>
            <a:off x="3355848" y="1719072"/>
            <a:ext cx="196596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0%</a:t>
            </a:r>
            <a:endParaRPr lang="en-US" sz="2300" dirty="0"/>
          </a:p>
        </p:txBody>
      </p:sp>
      <p:sp>
        <p:nvSpPr>
          <p:cNvPr id="12" name="Text 10"/>
          <p:cNvSpPr/>
          <p:nvPr/>
        </p:nvSpPr>
        <p:spPr>
          <a:xfrm>
            <a:off x="3319272" y="2157984"/>
            <a:ext cx="202082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valid odds tagging</a:t>
            </a:r>
            <a:endParaRPr lang="en-US" sz="850" dirty="0"/>
          </a:p>
        </p:txBody>
      </p:sp>
      <p:sp>
        <p:nvSpPr>
          <p:cNvPr id="13" name="Shape 11"/>
          <p:cNvSpPr/>
          <p:nvPr/>
        </p:nvSpPr>
        <p:spPr>
          <a:xfrm>
            <a:off x="5650992" y="1572768"/>
            <a:ext cx="224028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4.0598291595868927e+139" dist="1.3532763865289646e+139" dir="1.2893030998113172e+164">
              <a:srgbClr val="000000">
                <a:alpha val="1.4e+169"/>
              </a:srgbClr>
            </a:outerShdw>
          </a:effectLst>
        </p:spPr>
      </p:sp>
      <p:sp>
        <p:nvSpPr>
          <p:cNvPr id="14" name="Shape 12"/>
          <p:cNvSpPr/>
          <p:nvPr/>
        </p:nvSpPr>
        <p:spPr>
          <a:xfrm>
            <a:off x="5650992" y="1572768"/>
            <a:ext cx="73152" cy="960120"/>
          </a:xfrm>
          <a:prstGeom prst="rect">
            <a:avLst/>
          </a:prstGeom>
          <a:solidFill>
            <a:srgbClr val="C94949"/>
          </a:solidFill>
          <a:ln w="12700">
            <a:solidFill>
              <a:srgbClr val="C94949"/>
            </a:solidFill>
            <a:prstDash val="solid"/>
          </a:ln>
        </p:spPr>
      </p:sp>
      <p:sp>
        <p:nvSpPr>
          <p:cNvPr id="15" name="Text 13"/>
          <p:cNvSpPr/>
          <p:nvPr/>
        </p:nvSpPr>
        <p:spPr>
          <a:xfrm>
            <a:off x="5833872" y="1719072"/>
            <a:ext cx="196596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0</a:t>
            </a:r>
            <a:endParaRPr lang="en-US" sz="2300" dirty="0"/>
          </a:p>
        </p:txBody>
      </p:sp>
      <p:sp>
        <p:nvSpPr>
          <p:cNvPr id="16" name="Text 14"/>
          <p:cNvSpPr/>
          <p:nvPr/>
        </p:nvSpPr>
        <p:spPr>
          <a:xfrm>
            <a:off x="5797296" y="2157984"/>
            <a:ext cx="202082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MarketOdds result rows</a:t>
            </a:r>
            <a:endParaRPr lang="en-US" sz="850" dirty="0"/>
          </a:p>
        </p:txBody>
      </p:sp>
      <p:sp>
        <p:nvSpPr>
          <p:cNvPr id="17" name="Shape 15"/>
          <p:cNvSpPr/>
          <p:nvPr/>
        </p:nvSpPr>
        <p:spPr>
          <a:xfrm>
            <a:off x="8129016" y="1572768"/>
            <a:ext cx="3154680"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5.1559830326753536e+143" dist="1.718661010891785e+143" dir="7.735818598867904e+168">
              <a:srgbClr val="000000">
                <a:alpha val="1.4000000000000002e+174"/>
              </a:srgbClr>
            </a:outerShdw>
          </a:effectLst>
        </p:spPr>
      </p:sp>
      <p:sp>
        <p:nvSpPr>
          <p:cNvPr id="18" name="Shape 16"/>
          <p:cNvSpPr/>
          <p:nvPr/>
        </p:nvSpPr>
        <p:spPr>
          <a:xfrm>
            <a:off x="8129016" y="1572768"/>
            <a:ext cx="73152" cy="960120"/>
          </a:xfrm>
          <a:prstGeom prst="rect">
            <a:avLst/>
          </a:prstGeom>
          <a:solidFill>
            <a:srgbClr val="C94949"/>
          </a:solidFill>
          <a:ln w="12700">
            <a:solidFill>
              <a:srgbClr val="C94949"/>
            </a:solidFill>
            <a:prstDash val="solid"/>
          </a:ln>
        </p:spPr>
      </p:sp>
      <p:sp>
        <p:nvSpPr>
          <p:cNvPr id="19" name="Text 17"/>
          <p:cNvSpPr/>
          <p:nvPr/>
        </p:nvSpPr>
        <p:spPr>
          <a:xfrm>
            <a:off x="8311896" y="1719072"/>
            <a:ext cx="288036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NO</a:t>
            </a:r>
            <a:endParaRPr lang="en-US" sz="2300" dirty="0"/>
          </a:p>
        </p:txBody>
      </p:sp>
      <p:sp>
        <p:nvSpPr>
          <p:cNvPr id="20" name="Text 18"/>
          <p:cNvSpPr/>
          <p:nvPr/>
        </p:nvSpPr>
        <p:spPr>
          <a:xfrm>
            <a:off x="8275320" y="2157984"/>
            <a:ext cx="293522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market-beating claim</a:t>
            </a:r>
            <a:endParaRPr lang="en-US" sz="850" dirty="0"/>
          </a:p>
        </p:txBody>
      </p:sp>
      <p:sp>
        <p:nvSpPr>
          <p:cNvPr id="21" name="Shape 19"/>
          <p:cNvSpPr/>
          <p:nvPr/>
        </p:nvSpPr>
        <p:spPr>
          <a:xfrm>
            <a:off x="694944" y="2852928"/>
            <a:ext cx="5029200" cy="1874520"/>
          </a:xfrm>
          <a:prstGeom prst="roundRect">
            <a:avLst>
              <a:gd name="adj" fmla="val 3902"/>
            </a:avLst>
          </a:prstGeom>
          <a:solidFill>
            <a:srgbClr val="FFFFFF"/>
          </a:solidFill>
          <a:ln w="10160">
            <a:solidFill>
              <a:srgbClr val="DDE5EA"/>
            </a:solidFill>
            <a:prstDash val="solid"/>
          </a:ln>
          <a:effectLst>
            <a:outerShdw sx="100000" sy="100000" kx="0" ky="0" algn="bl" rotWithShape="0" blurRad="6.548098451497699e+147" dist="2.182699483832567e+147" dir="4.6414911593207425e+173">
              <a:srgbClr val="000000">
                <a:alpha val="1.4000000000000003e+179"/>
              </a:srgbClr>
            </a:outerShdw>
          </a:effectLst>
        </p:spPr>
      </p:sp>
      <p:sp>
        <p:nvSpPr>
          <p:cNvPr id="22" name="Shape 20"/>
          <p:cNvSpPr/>
          <p:nvPr/>
        </p:nvSpPr>
        <p:spPr>
          <a:xfrm>
            <a:off x="694944" y="2852928"/>
            <a:ext cx="73152" cy="1874520"/>
          </a:xfrm>
          <a:prstGeom prst="rect">
            <a:avLst/>
          </a:prstGeom>
          <a:solidFill>
            <a:srgbClr val="F4B942"/>
          </a:solidFill>
          <a:ln w="12700">
            <a:solidFill>
              <a:srgbClr val="F4B942"/>
            </a:solidFill>
            <a:prstDash val="solid"/>
          </a:ln>
        </p:spPr>
      </p:sp>
      <p:sp>
        <p:nvSpPr>
          <p:cNvPr id="23" name="Text 21"/>
          <p:cNvSpPr/>
          <p:nvPr/>
        </p:nvSpPr>
        <p:spPr>
          <a:xfrm>
            <a:off x="896112" y="2999232"/>
            <a:ext cx="4681728"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What the pipeline adds</a:t>
            </a:r>
            <a:endParaRPr lang="en-US" sz="1150" dirty="0"/>
          </a:p>
        </p:txBody>
      </p:sp>
      <p:sp>
        <p:nvSpPr>
          <p:cNvPr id="24" name="Text 22"/>
          <p:cNvSpPr/>
          <p:nvPr/>
        </p:nvSpPr>
        <p:spPr>
          <a:xfrm>
            <a:off x="896112" y="3328416"/>
            <a:ext cx="4663440" cy="1280160"/>
          </a:xfrm>
          <a:prstGeom prst="rect">
            <a:avLst/>
          </a:prstGeom>
          <a:noFill/>
          <a:ln/>
        </p:spPr>
        <p:txBody>
          <a:bodyPr wrap="square" lIns="0" tIns="0" rIns="0" bIns="0" rtlCol="0" anchor="t">
            <a:normAutofit/>
          </a:bodyPr>
          <a:lstStyle/>
          <a:p>
            <a:pPr indent="0" marL="0">
              <a:buNone/>
            </a:pPr>
            <a:r>
              <a:rPr lang="en-US" sz="1000" dirty="0">
                <a:solidFill>
                  <a:srgbClr val="273142"/>
                </a:solidFill>
                <a:latin typeface="Arial" pitchFamily="34" charset="0"/>
                <a:ea typeface="Arial" pitchFamily="34" charset="-122"/>
                <a:cs typeface="Arial" pitchFamily="34" charset="-120"/>
              </a:rPr>
              <a:t>odds_tagged</a:t>
            </a:r>
            <a:endParaRPr lang="en-US" sz="1000" dirty="0"/>
          </a:p>
          <a:p>
            <a:pPr indent="0" marL="0">
              <a:buNone/>
            </a:pPr>
            <a:r>
              <a:rPr lang="en-US" sz="1000" dirty="0">
                <a:solidFill>
                  <a:srgbClr val="273142"/>
                </a:solidFill>
                <a:latin typeface="Arial" pitchFamily="34" charset="0"/>
                <a:ea typeface="Arial" pitchFamily="34" charset="-122"/>
                <a:cs typeface="Arial" pitchFamily="34" charset="-120"/>
              </a:rPr>
              <a:t>market_p_H · market_p_D · market_p_A</a:t>
            </a:r>
            <a:endParaRPr lang="en-US" sz="1000" dirty="0"/>
          </a:p>
          <a:p>
            <a:pPr indent="0" marL="0">
              <a:buNone/>
            </a:pPr>
            <a:endParaRPr lang="en-US" sz="1000" dirty="0"/>
          </a:p>
          <a:p>
            <a:pPr indent="0" marL="0">
              <a:buNone/>
            </a:pPr>
            <a:r>
              <a:rPr lang="en-US" sz="1000" dirty="0">
                <a:solidFill>
                  <a:srgbClr val="273142"/>
                </a:solidFill>
                <a:latin typeface="Arial" pitchFamily="34" charset="0"/>
                <a:ea typeface="Arial" pitchFamily="34" charset="-122"/>
                <a:cs typeface="Arial" pitchFamily="34" charset="-120"/>
              </a:rPr>
              <a:t>The intended market probabilities are de-vigged 1X2 bookmaker probabilities from Football-Data.co.uk.</a:t>
            </a:r>
            <a:endParaRPr lang="en-US" sz="1000" dirty="0"/>
          </a:p>
        </p:txBody>
      </p:sp>
      <p:sp>
        <p:nvSpPr>
          <p:cNvPr id="25" name="Shape 23"/>
          <p:cNvSpPr/>
          <p:nvPr/>
        </p:nvSpPr>
        <p:spPr>
          <a:xfrm>
            <a:off x="5971032" y="2852928"/>
            <a:ext cx="5312664" cy="1874520"/>
          </a:xfrm>
          <a:prstGeom prst="roundRect">
            <a:avLst>
              <a:gd name="adj" fmla="val 3902"/>
            </a:avLst>
          </a:prstGeom>
          <a:solidFill>
            <a:srgbClr val="FDECEC"/>
          </a:solidFill>
          <a:ln w="10160">
            <a:solidFill>
              <a:srgbClr val="DDE5EA"/>
            </a:solidFill>
            <a:prstDash val="solid"/>
          </a:ln>
          <a:effectLst>
            <a:outerShdw sx="100000" sy="100000" kx="0" ky="0" algn="bl" rotWithShape="0" blurRad="8.316085033402077e+151" dist="2.7720283444673597e+151" dir="2.7848946955924455e+178">
              <a:srgbClr val="000000">
                <a:alpha val="1.4000000000000003e+184"/>
              </a:srgbClr>
            </a:outerShdw>
          </a:effectLst>
        </p:spPr>
      </p:sp>
      <p:sp>
        <p:nvSpPr>
          <p:cNvPr id="26" name="Shape 24"/>
          <p:cNvSpPr/>
          <p:nvPr/>
        </p:nvSpPr>
        <p:spPr>
          <a:xfrm>
            <a:off x="5971032" y="2852928"/>
            <a:ext cx="73152" cy="1874520"/>
          </a:xfrm>
          <a:prstGeom prst="rect">
            <a:avLst/>
          </a:prstGeom>
          <a:solidFill>
            <a:srgbClr val="C94949"/>
          </a:solidFill>
          <a:ln w="12700">
            <a:solidFill>
              <a:srgbClr val="C94949"/>
            </a:solidFill>
            <a:prstDash val="solid"/>
          </a:ln>
        </p:spPr>
      </p:sp>
      <p:sp>
        <p:nvSpPr>
          <p:cNvPr id="27" name="Text 25"/>
          <p:cNvSpPr/>
          <p:nvPr/>
        </p:nvSpPr>
        <p:spPr>
          <a:xfrm>
            <a:off x="6172200" y="2999232"/>
            <a:ext cx="4965192"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What happened in this saved run</a:t>
            </a:r>
            <a:endParaRPr lang="en-US" sz="1150" dirty="0"/>
          </a:p>
        </p:txBody>
      </p:sp>
      <p:sp>
        <p:nvSpPr>
          <p:cNvPr id="28" name="Text 26"/>
          <p:cNvSpPr/>
          <p:nvPr/>
        </p:nvSpPr>
        <p:spPr>
          <a:xfrm>
            <a:off x="6172200" y="3328416"/>
            <a:ext cx="4946904" cy="1280160"/>
          </a:xfrm>
          <a:prstGeom prst="rect">
            <a:avLst/>
          </a:prstGeom>
          <a:noFill/>
          <a:ln/>
        </p:spPr>
        <p:txBody>
          <a:bodyPr wrap="square" lIns="0" tIns="0" rIns="0" bIns="0" rtlCol="0" anchor="t">
            <a:normAutofit/>
          </a:bodyPr>
          <a:lstStyle/>
          <a:p>
            <a:pPr indent="0" marL="0">
              <a:buNone/>
            </a:pPr>
            <a:r>
              <a:rPr lang="en-US" sz="1000" dirty="0">
                <a:solidFill>
                  <a:srgbClr val="273142"/>
                </a:solidFill>
                <a:latin typeface="Arial" pitchFamily="34" charset="0"/>
                <a:ea typeface="Arial" pitchFamily="34" charset="-122"/>
                <a:cs typeface="Arial" pitchFamily="34" charset="-120"/>
              </a:rPr>
              <a:t>All 111 modeling rows have odds_tagged = false. The saved odds coverage report is 0%, and no MarketOdds baseline appears in Phase 2 results.</a:t>
            </a:r>
            <a:endParaRPr lang="en-US" sz="1000" dirty="0"/>
          </a:p>
        </p:txBody>
      </p:sp>
      <p:sp>
        <p:nvSpPr>
          <p:cNvPr id="29" name="Shape 27"/>
          <p:cNvSpPr/>
          <p:nvPr/>
        </p:nvSpPr>
        <p:spPr>
          <a:xfrm>
            <a:off x="694944" y="5047488"/>
            <a:ext cx="10588752" cy="1024128"/>
          </a:xfrm>
          <a:prstGeom prst="roundRect">
            <a:avLst>
              <a:gd name="adj" fmla="val 5357"/>
            </a:avLst>
          </a:prstGeom>
          <a:solidFill>
            <a:srgbClr val="FDECEC"/>
          </a:solidFill>
          <a:ln w="12700">
            <a:solidFill>
              <a:srgbClr val="FDECEC"/>
            </a:solidFill>
            <a:prstDash val="solid"/>
          </a:ln>
        </p:spPr>
      </p:sp>
      <p:sp>
        <p:nvSpPr>
          <p:cNvPr id="30" name="Shape 28"/>
          <p:cNvSpPr/>
          <p:nvPr/>
        </p:nvSpPr>
        <p:spPr>
          <a:xfrm>
            <a:off x="694944" y="5047488"/>
            <a:ext cx="91440" cy="1024128"/>
          </a:xfrm>
          <a:prstGeom prst="rect">
            <a:avLst/>
          </a:prstGeom>
          <a:solidFill>
            <a:srgbClr val="C94949"/>
          </a:solidFill>
          <a:ln w="12700">
            <a:solidFill>
              <a:srgbClr val="C94949"/>
            </a:solidFill>
            <a:prstDash val="solid"/>
          </a:ln>
        </p:spPr>
      </p:sp>
      <p:sp>
        <p:nvSpPr>
          <p:cNvPr id="31" name="Text 29"/>
          <p:cNvSpPr/>
          <p:nvPr/>
        </p:nvSpPr>
        <p:spPr>
          <a:xfrm>
            <a:off x="914400" y="5166360"/>
            <a:ext cx="10222992"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Defense-safe wording</a:t>
            </a:r>
            <a:endParaRPr lang="en-US" sz="1050" dirty="0"/>
          </a:p>
        </p:txBody>
      </p:sp>
      <p:sp>
        <p:nvSpPr>
          <p:cNvPr id="32" name="Text 30"/>
          <p:cNvSpPr/>
          <p:nvPr/>
        </p:nvSpPr>
        <p:spPr>
          <a:xfrm>
            <a:off x="914400" y="5440680"/>
            <a:ext cx="10204704" cy="530352"/>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“Market integration exists at pipeline level, but this run has zero valid odds tags. I therefore do not claim a market comparison. The correct next step is to fix date/team alias matching and rerun every classifier on the identical tagged test matches.”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06 · VALIDATION</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How did we validate?</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Outer future-season holdouts + training-only tuning/calibration.</a:t>
            </a:r>
            <a:endParaRPr lang="en-US" sz="1050" dirty="0"/>
          </a:p>
        </p:txBody>
      </p:sp>
      <p:sp>
        <p:nvSpPr>
          <p:cNvPr id="5" name="Shape 3"/>
          <p:cNvSpPr/>
          <p:nvPr/>
        </p:nvSpPr>
        <p:spPr>
          <a:xfrm>
            <a:off x="713232" y="1691640"/>
            <a:ext cx="2907792" cy="841248"/>
          </a:xfrm>
          <a:prstGeom prst="roundRect">
            <a:avLst>
              <a:gd name="adj" fmla="val 8696"/>
            </a:avLst>
          </a:prstGeom>
          <a:solidFill>
            <a:srgbClr val="FFFFFF"/>
          </a:solidFill>
          <a:ln w="10160">
            <a:solidFill>
              <a:srgbClr val="DDE5EA"/>
            </a:solidFill>
            <a:prstDash val="solid"/>
          </a:ln>
          <a:effectLst>
            <a:outerShdw sx="100000" sy="100000" kx="0" ky="0" algn="bl" rotWithShape="0" blurRad="1.0561427992420638e+156" dist="3.5204759974735466e+155" dir="1.6709368173554673e+183">
              <a:srgbClr val="000000">
                <a:alpha val="1.4000000000000003e+189"/>
              </a:srgbClr>
            </a:outerShdw>
          </a:effectLst>
        </p:spPr>
      </p:sp>
      <p:sp>
        <p:nvSpPr>
          <p:cNvPr id="6" name="Shape 4"/>
          <p:cNvSpPr/>
          <p:nvPr/>
        </p:nvSpPr>
        <p:spPr>
          <a:xfrm>
            <a:off x="713232" y="1691640"/>
            <a:ext cx="73152" cy="841248"/>
          </a:xfrm>
          <a:prstGeom prst="rect">
            <a:avLst/>
          </a:prstGeom>
          <a:solidFill>
            <a:srgbClr val="0B8F6A"/>
          </a:solidFill>
          <a:ln w="12700">
            <a:solidFill>
              <a:srgbClr val="0B8F6A"/>
            </a:solidFill>
            <a:prstDash val="solid"/>
          </a:ln>
        </p:spPr>
      </p:sp>
      <p:sp>
        <p:nvSpPr>
          <p:cNvPr id="7" name="Text 5"/>
          <p:cNvSpPr/>
          <p:nvPr/>
        </p:nvSpPr>
        <p:spPr>
          <a:xfrm>
            <a:off x="914400" y="1837944"/>
            <a:ext cx="2560320" cy="256032"/>
          </a:xfrm>
          <a:prstGeom prst="rect">
            <a:avLst/>
          </a:prstGeom>
          <a:noFill/>
          <a:ln/>
        </p:spPr>
        <p:txBody>
          <a:bodyPr wrap="square" lIns="0" tIns="0" rIns="0" bIns="0" rtlCol="0" anchor="ctr">
            <a:normAutofit/>
          </a:bodyPr>
          <a:lstStyle/>
          <a:p>
            <a:pPr indent="0" marL="0">
              <a:buNone/>
            </a:pPr>
            <a:r>
              <a:rPr lang="en-US" sz="1000" b="1" dirty="0">
                <a:solidFill>
                  <a:srgbClr val="0B1220"/>
                </a:solidFill>
                <a:latin typeface="Arial" pitchFamily="34" charset="0"/>
                <a:ea typeface="Arial" pitchFamily="34" charset="-122"/>
                <a:cs typeface="Arial" pitchFamily="34" charset="-120"/>
              </a:rPr>
              <a:t>Split 1 · TRAIN</a:t>
            </a:r>
            <a:endParaRPr lang="en-US" sz="1000" dirty="0"/>
          </a:p>
        </p:txBody>
      </p:sp>
      <p:sp>
        <p:nvSpPr>
          <p:cNvPr id="8" name="Text 6"/>
          <p:cNvSpPr/>
          <p:nvPr/>
        </p:nvSpPr>
        <p:spPr>
          <a:xfrm>
            <a:off x="914400" y="2167128"/>
            <a:ext cx="2542032" cy="246888"/>
          </a:xfrm>
          <a:prstGeom prst="rect">
            <a:avLst/>
          </a:prstGeom>
          <a:noFill/>
          <a:ln/>
        </p:spPr>
        <p:txBody>
          <a:bodyPr wrap="square" lIns="0" tIns="0" rIns="0" bIns="0" rtlCol="0" anchor="t">
            <a:normAutofit/>
          </a:bodyPr>
          <a:lstStyle/>
          <a:p>
            <a:pPr indent="0" marL="0">
              <a:buNone/>
            </a:pPr>
            <a:r>
              <a:rPr lang="en-US" sz="900" dirty="0">
                <a:solidFill>
                  <a:srgbClr val="273142"/>
                </a:solidFill>
                <a:latin typeface="Arial" pitchFamily="34" charset="0"/>
                <a:ea typeface="Arial" pitchFamily="34" charset="-122"/>
                <a:cs typeface="Arial" pitchFamily="34" charset="-120"/>
              </a:rPr>
              <a:t>2017/2018</a:t>
            </a:r>
            <a:endParaRPr lang="en-US" sz="900" dirty="0"/>
          </a:p>
          <a:p>
            <a:pPr indent="0" marL="0">
              <a:buNone/>
            </a:pPr>
            <a:r>
              <a:rPr lang="en-US" sz="900" dirty="0">
                <a:solidFill>
                  <a:srgbClr val="273142"/>
                </a:solidFill>
                <a:latin typeface="Arial" pitchFamily="34" charset="0"/>
                <a:ea typeface="Arial" pitchFamily="34" charset="-122"/>
                <a:cs typeface="Arial" pitchFamily="34" charset="-120"/>
              </a:rPr>
              <a:t>17 matches · 306 snapshots</a:t>
            </a:r>
            <a:endParaRPr lang="en-US" sz="900" dirty="0"/>
          </a:p>
        </p:txBody>
      </p:sp>
      <p:sp>
        <p:nvSpPr>
          <p:cNvPr id="9" name="Shape 7"/>
          <p:cNvSpPr/>
          <p:nvPr/>
        </p:nvSpPr>
        <p:spPr>
          <a:xfrm>
            <a:off x="3730752" y="2103120"/>
            <a:ext cx="886968" cy="0"/>
          </a:xfrm>
          <a:prstGeom prst="line">
            <a:avLst/>
          </a:prstGeom>
          <a:noFill/>
          <a:ln w="19050">
            <a:solidFill>
              <a:srgbClr val="5B6577"/>
            </a:solidFill>
            <a:prstDash val="solid"/>
            <a:headEnd type="none"/>
            <a:tailEnd type="triangle"/>
          </a:ln>
        </p:spPr>
      </p:sp>
      <p:sp>
        <p:nvSpPr>
          <p:cNvPr id="10" name="Shape 8"/>
          <p:cNvSpPr/>
          <p:nvPr/>
        </p:nvSpPr>
        <p:spPr>
          <a:xfrm>
            <a:off x="4754880" y="1691640"/>
            <a:ext cx="2907792" cy="841248"/>
          </a:xfrm>
          <a:prstGeom prst="roundRect">
            <a:avLst>
              <a:gd name="adj" fmla="val 8696"/>
            </a:avLst>
          </a:prstGeom>
          <a:solidFill>
            <a:srgbClr val="FFF5D8"/>
          </a:solidFill>
          <a:ln w="10160">
            <a:solidFill>
              <a:srgbClr val="DDE5EA"/>
            </a:solidFill>
            <a:prstDash val="solid"/>
          </a:ln>
          <a:effectLst>
            <a:outerShdw sx="100000" sy="100000" kx="0" ky="0" algn="bl" rotWithShape="0" blurRad="1.341301355037421e+160" dist="4.471004516791404e+159" dir="1.0025620904132804e+188">
              <a:srgbClr val="000000">
                <a:alpha val="1.4000000000000002e+194"/>
              </a:srgbClr>
            </a:outerShdw>
          </a:effectLst>
        </p:spPr>
      </p:sp>
      <p:sp>
        <p:nvSpPr>
          <p:cNvPr id="11" name="Shape 9"/>
          <p:cNvSpPr/>
          <p:nvPr/>
        </p:nvSpPr>
        <p:spPr>
          <a:xfrm>
            <a:off x="4754880" y="1691640"/>
            <a:ext cx="73152" cy="841248"/>
          </a:xfrm>
          <a:prstGeom prst="rect">
            <a:avLst/>
          </a:prstGeom>
          <a:solidFill>
            <a:srgbClr val="F4B942"/>
          </a:solidFill>
          <a:ln w="12700">
            <a:solidFill>
              <a:srgbClr val="F4B942"/>
            </a:solidFill>
            <a:prstDash val="solid"/>
          </a:ln>
        </p:spPr>
      </p:sp>
      <p:sp>
        <p:nvSpPr>
          <p:cNvPr id="12" name="Text 10"/>
          <p:cNvSpPr/>
          <p:nvPr/>
        </p:nvSpPr>
        <p:spPr>
          <a:xfrm>
            <a:off x="4956048" y="1837944"/>
            <a:ext cx="2560320" cy="256032"/>
          </a:xfrm>
          <a:prstGeom prst="rect">
            <a:avLst/>
          </a:prstGeom>
          <a:noFill/>
          <a:ln/>
        </p:spPr>
        <p:txBody>
          <a:bodyPr wrap="square" lIns="0" tIns="0" rIns="0" bIns="0" rtlCol="0" anchor="ctr">
            <a:normAutofit/>
          </a:bodyPr>
          <a:lstStyle/>
          <a:p>
            <a:pPr indent="0" marL="0">
              <a:buNone/>
            </a:pPr>
            <a:r>
              <a:rPr lang="en-US" sz="1000" b="1" dirty="0">
                <a:solidFill>
                  <a:srgbClr val="0B1220"/>
                </a:solidFill>
                <a:latin typeface="Arial" pitchFamily="34" charset="0"/>
                <a:ea typeface="Arial" pitchFamily="34" charset="-122"/>
                <a:cs typeface="Arial" pitchFamily="34" charset="-120"/>
              </a:rPr>
              <a:t>TEST · FUTURE</a:t>
            </a:r>
            <a:endParaRPr lang="en-US" sz="1000" dirty="0"/>
          </a:p>
        </p:txBody>
      </p:sp>
      <p:sp>
        <p:nvSpPr>
          <p:cNvPr id="13" name="Text 11"/>
          <p:cNvSpPr/>
          <p:nvPr/>
        </p:nvSpPr>
        <p:spPr>
          <a:xfrm>
            <a:off x="4956048" y="2167128"/>
            <a:ext cx="2542032" cy="246888"/>
          </a:xfrm>
          <a:prstGeom prst="rect">
            <a:avLst/>
          </a:prstGeom>
          <a:noFill/>
          <a:ln/>
        </p:spPr>
        <p:txBody>
          <a:bodyPr wrap="square" lIns="0" tIns="0" rIns="0" bIns="0" rtlCol="0" anchor="t">
            <a:normAutofit/>
          </a:bodyPr>
          <a:lstStyle/>
          <a:p>
            <a:pPr indent="0" marL="0">
              <a:buNone/>
            </a:pPr>
            <a:r>
              <a:rPr lang="en-US" sz="900" dirty="0">
                <a:solidFill>
                  <a:srgbClr val="273142"/>
                </a:solidFill>
                <a:latin typeface="Arial" pitchFamily="34" charset="0"/>
                <a:ea typeface="Arial" pitchFamily="34" charset="-122"/>
                <a:cs typeface="Arial" pitchFamily="34" charset="-120"/>
              </a:rPr>
              <a:t>2018/2019</a:t>
            </a:r>
            <a:endParaRPr lang="en-US" sz="900" dirty="0"/>
          </a:p>
          <a:p>
            <a:pPr indent="0" marL="0">
              <a:buNone/>
            </a:pPr>
            <a:r>
              <a:rPr lang="en-US" sz="900" dirty="0">
                <a:solidFill>
                  <a:srgbClr val="273142"/>
                </a:solidFill>
                <a:latin typeface="Arial" pitchFamily="34" charset="0"/>
                <a:ea typeface="Arial" pitchFamily="34" charset="-122"/>
                <a:cs typeface="Arial" pitchFamily="34" charset="-120"/>
              </a:rPr>
              <a:t>31 matches · 558 snapshots</a:t>
            </a:r>
            <a:endParaRPr lang="en-US" sz="900" dirty="0"/>
          </a:p>
        </p:txBody>
      </p:sp>
      <p:sp>
        <p:nvSpPr>
          <p:cNvPr id="14" name="Shape 12"/>
          <p:cNvSpPr/>
          <p:nvPr/>
        </p:nvSpPr>
        <p:spPr>
          <a:xfrm>
            <a:off x="713232" y="2880360"/>
            <a:ext cx="2907792" cy="841248"/>
          </a:xfrm>
          <a:prstGeom prst="roundRect">
            <a:avLst>
              <a:gd name="adj" fmla="val 8696"/>
            </a:avLst>
          </a:prstGeom>
          <a:solidFill>
            <a:srgbClr val="FFFFFF"/>
          </a:solidFill>
          <a:ln w="10160">
            <a:solidFill>
              <a:srgbClr val="DDE5EA"/>
            </a:solidFill>
            <a:prstDash val="solid"/>
          </a:ln>
          <a:effectLst>
            <a:outerShdw sx="100000" sy="100000" kx="0" ky="0" algn="bl" rotWithShape="0" blurRad="1.7034527208975248e+164" dist="5.6781757363250835e+163" dir="6.015372542479682e+192">
              <a:srgbClr val="000000">
                <a:alpha val="1.4000000000000003e+199"/>
              </a:srgbClr>
            </a:outerShdw>
          </a:effectLst>
        </p:spPr>
      </p:sp>
      <p:sp>
        <p:nvSpPr>
          <p:cNvPr id="15" name="Shape 13"/>
          <p:cNvSpPr/>
          <p:nvPr/>
        </p:nvSpPr>
        <p:spPr>
          <a:xfrm>
            <a:off x="713232" y="2880360"/>
            <a:ext cx="73152" cy="841248"/>
          </a:xfrm>
          <a:prstGeom prst="rect">
            <a:avLst/>
          </a:prstGeom>
          <a:solidFill>
            <a:srgbClr val="0B8F6A"/>
          </a:solidFill>
          <a:ln w="12700">
            <a:solidFill>
              <a:srgbClr val="0B8F6A"/>
            </a:solidFill>
            <a:prstDash val="solid"/>
          </a:ln>
        </p:spPr>
      </p:sp>
      <p:sp>
        <p:nvSpPr>
          <p:cNvPr id="16" name="Text 14"/>
          <p:cNvSpPr/>
          <p:nvPr/>
        </p:nvSpPr>
        <p:spPr>
          <a:xfrm>
            <a:off x="914400" y="3026664"/>
            <a:ext cx="2560320" cy="256032"/>
          </a:xfrm>
          <a:prstGeom prst="rect">
            <a:avLst/>
          </a:prstGeom>
          <a:noFill/>
          <a:ln/>
        </p:spPr>
        <p:txBody>
          <a:bodyPr wrap="square" lIns="0" tIns="0" rIns="0" bIns="0" rtlCol="0" anchor="ctr">
            <a:normAutofit/>
          </a:bodyPr>
          <a:lstStyle/>
          <a:p>
            <a:pPr indent="0" marL="0">
              <a:buNone/>
            </a:pPr>
            <a:r>
              <a:rPr lang="en-US" sz="1000" b="1" dirty="0">
                <a:solidFill>
                  <a:srgbClr val="0B1220"/>
                </a:solidFill>
                <a:latin typeface="Arial" pitchFamily="34" charset="0"/>
                <a:ea typeface="Arial" pitchFamily="34" charset="-122"/>
                <a:cs typeface="Arial" pitchFamily="34" charset="-120"/>
              </a:rPr>
              <a:t>Split 2 · TRAIN</a:t>
            </a:r>
            <a:endParaRPr lang="en-US" sz="1000" dirty="0"/>
          </a:p>
        </p:txBody>
      </p:sp>
      <p:sp>
        <p:nvSpPr>
          <p:cNvPr id="17" name="Text 15"/>
          <p:cNvSpPr/>
          <p:nvPr/>
        </p:nvSpPr>
        <p:spPr>
          <a:xfrm>
            <a:off x="914400" y="3355848"/>
            <a:ext cx="2542032" cy="246888"/>
          </a:xfrm>
          <a:prstGeom prst="rect">
            <a:avLst/>
          </a:prstGeom>
          <a:noFill/>
          <a:ln/>
        </p:spPr>
        <p:txBody>
          <a:bodyPr wrap="square" lIns="0" tIns="0" rIns="0" bIns="0" rtlCol="0" anchor="t">
            <a:normAutofit/>
          </a:bodyPr>
          <a:lstStyle/>
          <a:p>
            <a:pPr indent="0" marL="0">
              <a:buNone/>
            </a:pPr>
            <a:r>
              <a:rPr lang="en-US" sz="900" dirty="0">
                <a:solidFill>
                  <a:srgbClr val="273142"/>
                </a:solidFill>
                <a:latin typeface="Arial" pitchFamily="34" charset="0"/>
                <a:ea typeface="Arial" pitchFamily="34" charset="-122"/>
                <a:cs typeface="Arial" pitchFamily="34" charset="-120"/>
              </a:rPr>
              <a:t>2018/2019</a:t>
            </a:r>
            <a:endParaRPr lang="en-US" sz="900" dirty="0"/>
          </a:p>
          <a:p>
            <a:pPr indent="0" marL="0">
              <a:buNone/>
            </a:pPr>
            <a:r>
              <a:rPr lang="en-US" sz="900" dirty="0">
                <a:solidFill>
                  <a:srgbClr val="273142"/>
                </a:solidFill>
                <a:latin typeface="Arial" pitchFamily="34" charset="0"/>
                <a:ea typeface="Arial" pitchFamily="34" charset="-122"/>
                <a:cs typeface="Arial" pitchFamily="34" charset="-120"/>
              </a:rPr>
              <a:t>31 matches · 558 snapshots</a:t>
            </a:r>
            <a:endParaRPr lang="en-US" sz="900" dirty="0"/>
          </a:p>
        </p:txBody>
      </p:sp>
      <p:sp>
        <p:nvSpPr>
          <p:cNvPr id="18" name="Shape 16"/>
          <p:cNvSpPr/>
          <p:nvPr/>
        </p:nvSpPr>
        <p:spPr>
          <a:xfrm>
            <a:off x="3730752" y="3291840"/>
            <a:ext cx="886968" cy="0"/>
          </a:xfrm>
          <a:prstGeom prst="line">
            <a:avLst/>
          </a:prstGeom>
          <a:noFill/>
          <a:ln w="19050">
            <a:solidFill>
              <a:srgbClr val="5B6577"/>
            </a:solidFill>
            <a:prstDash val="solid"/>
            <a:headEnd type="none"/>
            <a:tailEnd type="triangle"/>
          </a:ln>
        </p:spPr>
      </p:sp>
      <p:sp>
        <p:nvSpPr>
          <p:cNvPr id="19" name="Shape 17"/>
          <p:cNvSpPr/>
          <p:nvPr/>
        </p:nvSpPr>
        <p:spPr>
          <a:xfrm>
            <a:off x="4754880" y="2880360"/>
            <a:ext cx="2907792" cy="841248"/>
          </a:xfrm>
          <a:prstGeom prst="roundRect">
            <a:avLst>
              <a:gd name="adj" fmla="val 8696"/>
            </a:avLst>
          </a:prstGeom>
          <a:solidFill>
            <a:srgbClr val="FFF5D8"/>
          </a:solidFill>
          <a:ln w="10160">
            <a:solidFill>
              <a:srgbClr val="DDE5EA"/>
            </a:solidFill>
            <a:prstDash val="solid"/>
          </a:ln>
          <a:effectLst>
            <a:outerShdw sx="100000" sy="100000" kx="0" ky="0" algn="bl" rotWithShape="0" blurRad="2.1633849555398564e+168" dist="7.211283185132856e+167" dir="3.6092235254878095e+197">
              <a:srgbClr val="000000">
                <a:alpha val="1.4000000000000004e+204"/>
              </a:srgbClr>
            </a:outerShdw>
          </a:effectLst>
        </p:spPr>
      </p:sp>
      <p:sp>
        <p:nvSpPr>
          <p:cNvPr id="20" name="Shape 18"/>
          <p:cNvSpPr/>
          <p:nvPr/>
        </p:nvSpPr>
        <p:spPr>
          <a:xfrm>
            <a:off x="4754880" y="2880360"/>
            <a:ext cx="73152" cy="841248"/>
          </a:xfrm>
          <a:prstGeom prst="rect">
            <a:avLst/>
          </a:prstGeom>
          <a:solidFill>
            <a:srgbClr val="F4B942"/>
          </a:solidFill>
          <a:ln w="12700">
            <a:solidFill>
              <a:srgbClr val="F4B942"/>
            </a:solidFill>
            <a:prstDash val="solid"/>
          </a:ln>
        </p:spPr>
      </p:sp>
      <p:sp>
        <p:nvSpPr>
          <p:cNvPr id="21" name="Text 19"/>
          <p:cNvSpPr/>
          <p:nvPr/>
        </p:nvSpPr>
        <p:spPr>
          <a:xfrm>
            <a:off x="4956048" y="3026664"/>
            <a:ext cx="2560320" cy="256032"/>
          </a:xfrm>
          <a:prstGeom prst="rect">
            <a:avLst/>
          </a:prstGeom>
          <a:noFill/>
          <a:ln/>
        </p:spPr>
        <p:txBody>
          <a:bodyPr wrap="square" lIns="0" tIns="0" rIns="0" bIns="0" rtlCol="0" anchor="ctr">
            <a:normAutofit/>
          </a:bodyPr>
          <a:lstStyle/>
          <a:p>
            <a:pPr indent="0" marL="0">
              <a:buNone/>
            </a:pPr>
            <a:r>
              <a:rPr lang="en-US" sz="1000" b="1" dirty="0">
                <a:solidFill>
                  <a:srgbClr val="0B1220"/>
                </a:solidFill>
                <a:latin typeface="Arial" pitchFamily="34" charset="0"/>
                <a:ea typeface="Arial" pitchFamily="34" charset="-122"/>
                <a:cs typeface="Arial" pitchFamily="34" charset="-120"/>
              </a:rPr>
              <a:t>TEST · FUTURE</a:t>
            </a:r>
            <a:endParaRPr lang="en-US" sz="1000" dirty="0"/>
          </a:p>
        </p:txBody>
      </p:sp>
      <p:sp>
        <p:nvSpPr>
          <p:cNvPr id="22" name="Text 20"/>
          <p:cNvSpPr/>
          <p:nvPr/>
        </p:nvSpPr>
        <p:spPr>
          <a:xfrm>
            <a:off x="4956048" y="3355848"/>
            <a:ext cx="2542032" cy="246888"/>
          </a:xfrm>
          <a:prstGeom prst="rect">
            <a:avLst/>
          </a:prstGeom>
          <a:noFill/>
          <a:ln/>
        </p:spPr>
        <p:txBody>
          <a:bodyPr wrap="square" lIns="0" tIns="0" rIns="0" bIns="0" rtlCol="0" anchor="t">
            <a:normAutofit/>
          </a:bodyPr>
          <a:lstStyle/>
          <a:p>
            <a:pPr indent="0" marL="0">
              <a:buNone/>
            </a:pPr>
            <a:r>
              <a:rPr lang="en-US" sz="900" dirty="0">
                <a:solidFill>
                  <a:srgbClr val="273142"/>
                </a:solidFill>
                <a:latin typeface="Arial" pitchFamily="34" charset="0"/>
                <a:ea typeface="Arial" pitchFamily="34" charset="-122"/>
                <a:cs typeface="Arial" pitchFamily="34" charset="-120"/>
              </a:rPr>
              <a:t>2019/2020</a:t>
            </a:r>
            <a:endParaRPr lang="en-US" sz="900" dirty="0"/>
          </a:p>
          <a:p>
            <a:pPr indent="0" marL="0">
              <a:buNone/>
            </a:pPr>
            <a:r>
              <a:rPr lang="en-US" sz="900" dirty="0">
                <a:solidFill>
                  <a:srgbClr val="273142"/>
                </a:solidFill>
                <a:latin typeface="Arial" pitchFamily="34" charset="0"/>
                <a:ea typeface="Arial" pitchFamily="34" charset="-122"/>
                <a:cs typeface="Arial" pitchFamily="34" charset="-120"/>
              </a:rPr>
              <a:t>30 matches · 540 snapshots</a:t>
            </a:r>
            <a:endParaRPr lang="en-US" sz="900" dirty="0"/>
          </a:p>
        </p:txBody>
      </p:sp>
      <p:sp>
        <p:nvSpPr>
          <p:cNvPr id="23" name="Shape 21"/>
          <p:cNvSpPr/>
          <p:nvPr/>
        </p:nvSpPr>
        <p:spPr>
          <a:xfrm>
            <a:off x="713232" y="4069080"/>
            <a:ext cx="2907792" cy="841248"/>
          </a:xfrm>
          <a:prstGeom prst="roundRect">
            <a:avLst>
              <a:gd name="adj" fmla="val 8696"/>
            </a:avLst>
          </a:prstGeom>
          <a:solidFill>
            <a:srgbClr val="FFFFFF"/>
          </a:solidFill>
          <a:ln w="10160">
            <a:solidFill>
              <a:srgbClr val="DDE5EA"/>
            </a:solidFill>
            <a:prstDash val="solid"/>
          </a:ln>
          <a:effectLst>
            <a:outerShdw sx="100000" sy="100000" kx="0" ky="0" algn="bl" rotWithShape="0" blurRad="2.7474988935356176e+172" dist="9.158329645118728e+171" dir="2.1655341152926858e+202">
              <a:srgbClr val="000000">
                <a:alpha val="1.4000000000000004e+209"/>
              </a:srgbClr>
            </a:outerShdw>
          </a:effectLst>
        </p:spPr>
      </p:sp>
      <p:sp>
        <p:nvSpPr>
          <p:cNvPr id="24" name="Shape 22"/>
          <p:cNvSpPr/>
          <p:nvPr/>
        </p:nvSpPr>
        <p:spPr>
          <a:xfrm>
            <a:off x="713232" y="4069080"/>
            <a:ext cx="73152" cy="841248"/>
          </a:xfrm>
          <a:prstGeom prst="rect">
            <a:avLst/>
          </a:prstGeom>
          <a:solidFill>
            <a:srgbClr val="0B8F6A"/>
          </a:solidFill>
          <a:ln w="12700">
            <a:solidFill>
              <a:srgbClr val="0B8F6A"/>
            </a:solidFill>
            <a:prstDash val="solid"/>
          </a:ln>
        </p:spPr>
      </p:sp>
      <p:sp>
        <p:nvSpPr>
          <p:cNvPr id="25" name="Text 23"/>
          <p:cNvSpPr/>
          <p:nvPr/>
        </p:nvSpPr>
        <p:spPr>
          <a:xfrm>
            <a:off x="914400" y="4215384"/>
            <a:ext cx="2560320" cy="256032"/>
          </a:xfrm>
          <a:prstGeom prst="rect">
            <a:avLst/>
          </a:prstGeom>
          <a:noFill/>
          <a:ln/>
        </p:spPr>
        <p:txBody>
          <a:bodyPr wrap="square" lIns="0" tIns="0" rIns="0" bIns="0" rtlCol="0" anchor="ctr">
            <a:normAutofit/>
          </a:bodyPr>
          <a:lstStyle/>
          <a:p>
            <a:pPr indent="0" marL="0">
              <a:buNone/>
            </a:pPr>
            <a:r>
              <a:rPr lang="en-US" sz="1000" b="1" dirty="0">
                <a:solidFill>
                  <a:srgbClr val="0B1220"/>
                </a:solidFill>
                <a:latin typeface="Arial" pitchFamily="34" charset="0"/>
                <a:ea typeface="Arial" pitchFamily="34" charset="-122"/>
                <a:cs typeface="Arial" pitchFamily="34" charset="-120"/>
              </a:rPr>
              <a:t>Split 3 · TRAIN</a:t>
            </a:r>
            <a:endParaRPr lang="en-US" sz="1000" dirty="0"/>
          </a:p>
        </p:txBody>
      </p:sp>
      <p:sp>
        <p:nvSpPr>
          <p:cNvPr id="26" name="Text 24"/>
          <p:cNvSpPr/>
          <p:nvPr/>
        </p:nvSpPr>
        <p:spPr>
          <a:xfrm>
            <a:off x="914400" y="4544568"/>
            <a:ext cx="2542032" cy="246888"/>
          </a:xfrm>
          <a:prstGeom prst="rect">
            <a:avLst/>
          </a:prstGeom>
          <a:noFill/>
          <a:ln/>
        </p:spPr>
        <p:txBody>
          <a:bodyPr wrap="square" lIns="0" tIns="0" rIns="0" bIns="0" rtlCol="0" anchor="t">
            <a:normAutofit/>
          </a:bodyPr>
          <a:lstStyle/>
          <a:p>
            <a:pPr indent="0" marL="0">
              <a:buNone/>
            </a:pPr>
            <a:r>
              <a:rPr lang="en-US" sz="900" dirty="0">
                <a:solidFill>
                  <a:srgbClr val="273142"/>
                </a:solidFill>
                <a:latin typeface="Arial" pitchFamily="34" charset="0"/>
                <a:ea typeface="Arial" pitchFamily="34" charset="-122"/>
                <a:cs typeface="Arial" pitchFamily="34" charset="-120"/>
              </a:rPr>
              <a:t>2019/2020</a:t>
            </a:r>
            <a:endParaRPr lang="en-US" sz="900" dirty="0"/>
          </a:p>
          <a:p>
            <a:pPr indent="0" marL="0">
              <a:buNone/>
            </a:pPr>
            <a:r>
              <a:rPr lang="en-US" sz="900" dirty="0">
                <a:solidFill>
                  <a:srgbClr val="273142"/>
                </a:solidFill>
                <a:latin typeface="Arial" pitchFamily="34" charset="0"/>
                <a:ea typeface="Arial" pitchFamily="34" charset="-122"/>
                <a:cs typeface="Arial" pitchFamily="34" charset="-120"/>
              </a:rPr>
              <a:t>30 matches · 540 snapshots</a:t>
            </a:r>
            <a:endParaRPr lang="en-US" sz="900" dirty="0"/>
          </a:p>
        </p:txBody>
      </p:sp>
      <p:sp>
        <p:nvSpPr>
          <p:cNvPr id="27" name="Shape 25"/>
          <p:cNvSpPr/>
          <p:nvPr/>
        </p:nvSpPr>
        <p:spPr>
          <a:xfrm>
            <a:off x="3730752" y="4480560"/>
            <a:ext cx="886968" cy="0"/>
          </a:xfrm>
          <a:prstGeom prst="line">
            <a:avLst/>
          </a:prstGeom>
          <a:noFill/>
          <a:ln w="19050">
            <a:solidFill>
              <a:srgbClr val="5B6577"/>
            </a:solidFill>
            <a:prstDash val="solid"/>
            <a:headEnd type="none"/>
            <a:tailEnd type="triangle"/>
          </a:ln>
        </p:spPr>
      </p:sp>
      <p:sp>
        <p:nvSpPr>
          <p:cNvPr id="28" name="Shape 26"/>
          <p:cNvSpPr/>
          <p:nvPr/>
        </p:nvSpPr>
        <p:spPr>
          <a:xfrm>
            <a:off x="4754880" y="4069080"/>
            <a:ext cx="2907792" cy="841248"/>
          </a:xfrm>
          <a:prstGeom prst="roundRect">
            <a:avLst>
              <a:gd name="adj" fmla="val 8696"/>
            </a:avLst>
          </a:prstGeom>
          <a:solidFill>
            <a:srgbClr val="FFF5D8"/>
          </a:solidFill>
          <a:ln w="10160">
            <a:solidFill>
              <a:srgbClr val="DDE5EA"/>
            </a:solidFill>
            <a:prstDash val="solid"/>
          </a:ln>
          <a:effectLst>
            <a:outerShdw sx="100000" sy="100000" kx="0" ky="0" algn="bl" rotWithShape="0" blurRad="3.489323594790234e+176" dist="1.1631078649300784e+176" dir="1.2993204691756116e+207">
              <a:srgbClr val="000000">
                <a:alpha val="1.4000000000000004e+214"/>
              </a:srgbClr>
            </a:outerShdw>
          </a:effectLst>
        </p:spPr>
      </p:sp>
      <p:sp>
        <p:nvSpPr>
          <p:cNvPr id="29" name="Shape 27"/>
          <p:cNvSpPr/>
          <p:nvPr/>
        </p:nvSpPr>
        <p:spPr>
          <a:xfrm>
            <a:off x="4754880" y="4069080"/>
            <a:ext cx="73152" cy="841248"/>
          </a:xfrm>
          <a:prstGeom prst="rect">
            <a:avLst/>
          </a:prstGeom>
          <a:solidFill>
            <a:srgbClr val="F4B942"/>
          </a:solidFill>
          <a:ln w="12700">
            <a:solidFill>
              <a:srgbClr val="F4B942"/>
            </a:solidFill>
            <a:prstDash val="solid"/>
          </a:ln>
        </p:spPr>
      </p:sp>
      <p:sp>
        <p:nvSpPr>
          <p:cNvPr id="30" name="Text 28"/>
          <p:cNvSpPr/>
          <p:nvPr/>
        </p:nvSpPr>
        <p:spPr>
          <a:xfrm>
            <a:off x="4956048" y="4215384"/>
            <a:ext cx="2560320" cy="256032"/>
          </a:xfrm>
          <a:prstGeom prst="rect">
            <a:avLst/>
          </a:prstGeom>
          <a:noFill/>
          <a:ln/>
        </p:spPr>
        <p:txBody>
          <a:bodyPr wrap="square" lIns="0" tIns="0" rIns="0" bIns="0" rtlCol="0" anchor="ctr">
            <a:normAutofit/>
          </a:bodyPr>
          <a:lstStyle/>
          <a:p>
            <a:pPr indent="0" marL="0">
              <a:buNone/>
            </a:pPr>
            <a:r>
              <a:rPr lang="en-US" sz="1000" b="1" dirty="0">
                <a:solidFill>
                  <a:srgbClr val="0B1220"/>
                </a:solidFill>
                <a:latin typeface="Arial" pitchFamily="34" charset="0"/>
                <a:ea typeface="Arial" pitchFamily="34" charset="-122"/>
                <a:cs typeface="Arial" pitchFamily="34" charset="-120"/>
              </a:rPr>
              <a:t>TEST · FUTURE</a:t>
            </a:r>
            <a:endParaRPr lang="en-US" sz="1000" dirty="0"/>
          </a:p>
        </p:txBody>
      </p:sp>
      <p:sp>
        <p:nvSpPr>
          <p:cNvPr id="31" name="Text 29"/>
          <p:cNvSpPr/>
          <p:nvPr/>
        </p:nvSpPr>
        <p:spPr>
          <a:xfrm>
            <a:off x="4956048" y="4544568"/>
            <a:ext cx="2542032" cy="246888"/>
          </a:xfrm>
          <a:prstGeom prst="rect">
            <a:avLst/>
          </a:prstGeom>
          <a:noFill/>
          <a:ln/>
        </p:spPr>
        <p:txBody>
          <a:bodyPr wrap="square" lIns="0" tIns="0" rIns="0" bIns="0" rtlCol="0" anchor="t">
            <a:normAutofit/>
          </a:bodyPr>
          <a:lstStyle/>
          <a:p>
            <a:pPr indent="0" marL="0">
              <a:buNone/>
            </a:pPr>
            <a:r>
              <a:rPr lang="en-US" sz="900" dirty="0">
                <a:solidFill>
                  <a:srgbClr val="273142"/>
                </a:solidFill>
                <a:latin typeface="Arial" pitchFamily="34" charset="0"/>
                <a:ea typeface="Arial" pitchFamily="34" charset="-122"/>
                <a:cs typeface="Arial" pitchFamily="34" charset="-120"/>
              </a:rPr>
              <a:t>2020/2021</a:t>
            </a:r>
            <a:endParaRPr lang="en-US" sz="900" dirty="0"/>
          </a:p>
          <a:p>
            <a:pPr indent="0" marL="0">
              <a:buNone/>
            </a:pPr>
            <a:r>
              <a:rPr lang="en-US" sz="900" dirty="0">
                <a:solidFill>
                  <a:srgbClr val="273142"/>
                </a:solidFill>
                <a:latin typeface="Arial" pitchFamily="34" charset="0"/>
                <a:ea typeface="Arial" pitchFamily="34" charset="-122"/>
                <a:cs typeface="Arial" pitchFamily="34" charset="-120"/>
              </a:rPr>
              <a:t>33 matches · 594 snapshots</a:t>
            </a:r>
            <a:endParaRPr lang="en-US" sz="900" dirty="0"/>
          </a:p>
        </p:txBody>
      </p:sp>
      <p:sp>
        <p:nvSpPr>
          <p:cNvPr id="32" name="Shape 30"/>
          <p:cNvSpPr/>
          <p:nvPr/>
        </p:nvSpPr>
        <p:spPr>
          <a:xfrm>
            <a:off x="8046720" y="1691640"/>
            <a:ext cx="3246120" cy="1097280"/>
          </a:xfrm>
          <a:prstGeom prst="roundRect">
            <a:avLst>
              <a:gd name="adj" fmla="val 6667"/>
            </a:avLst>
          </a:prstGeom>
          <a:solidFill>
            <a:srgbClr val="FFFFFF"/>
          </a:solidFill>
          <a:ln w="10160">
            <a:solidFill>
              <a:srgbClr val="DDE5EA"/>
            </a:solidFill>
            <a:prstDash val="solid"/>
          </a:ln>
          <a:effectLst>
            <a:outerShdw sx="100000" sy="100000" kx="0" ky="0" algn="bl" rotWithShape="0" blurRad="4.431440965383597e+180" dist="1.4771469884611996e+180" dir="7.795922815053669e+211">
              <a:srgbClr val="000000">
                <a:alpha val="1.4000000000000004e+219"/>
              </a:srgbClr>
            </a:outerShdw>
          </a:effectLst>
        </p:spPr>
      </p:sp>
      <p:sp>
        <p:nvSpPr>
          <p:cNvPr id="33" name="Shape 31"/>
          <p:cNvSpPr/>
          <p:nvPr/>
        </p:nvSpPr>
        <p:spPr>
          <a:xfrm>
            <a:off x="8046720" y="1691640"/>
            <a:ext cx="73152" cy="1097280"/>
          </a:xfrm>
          <a:prstGeom prst="rect">
            <a:avLst/>
          </a:prstGeom>
          <a:solidFill>
            <a:srgbClr val="22B8A0"/>
          </a:solidFill>
          <a:ln w="12700">
            <a:solidFill>
              <a:srgbClr val="22B8A0"/>
            </a:solidFill>
            <a:prstDash val="solid"/>
          </a:ln>
        </p:spPr>
      </p:sp>
      <p:sp>
        <p:nvSpPr>
          <p:cNvPr id="34" name="Text 32"/>
          <p:cNvSpPr/>
          <p:nvPr/>
        </p:nvSpPr>
        <p:spPr>
          <a:xfrm>
            <a:off x="8247888" y="1837944"/>
            <a:ext cx="289864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Inside training only</a:t>
            </a:r>
            <a:endParaRPr lang="en-US" sz="1100" dirty="0"/>
          </a:p>
        </p:txBody>
      </p:sp>
      <p:sp>
        <p:nvSpPr>
          <p:cNvPr id="35" name="Text 33"/>
          <p:cNvSpPr/>
          <p:nvPr/>
        </p:nvSpPr>
        <p:spPr>
          <a:xfrm>
            <a:off x="8247888" y="2167128"/>
            <a:ext cx="2880360" cy="502920"/>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RandomizedSearchCV with 3-fold CV. Calibration also uses 3-fold training-only CV.</a:t>
            </a:r>
            <a:endParaRPr lang="en-US" sz="940" dirty="0"/>
          </a:p>
        </p:txBody>
      </p:sp>
      <p:sp>
        <p:nvSpPr>
          <p:cNvPr id="36" name="Shape 34"/>
          <p:cNvSpPr/>
          <p:nvPr/>
        </p:nvSpPr>
        <p:spPr>
          <a:xfrm>
            <a:off x="8046720" y="2971800"/>
            <a:ext cx="3246120" cy="1097280"/>
          </a:xfrm>
          <a:prstGeom prst="roundRect">
            <a:avLst>
              <a:gd name="adj" fmla="val 6667"/>
            </a:avLst>
          </a:prstGeom>
          <a:solidFill>
            <a:srgbClr val="FFFFFF"/>
          </a:solidFill>
          <a:ln w="10160">
            <a:solidFill>
              <a:srgbClr val="DDE5EA"/>
            </a:solidFill>
            <a:prstDash val="solid"/>
          </a:ln>
          <a:effectLst>
            <a:outerShdw sx="100000" sy="100000" kx="0" ky="0" algn="bl" rotWithShape="0" blurRad="5.627930026037168e+184" dist="1.8759766753457235e+184" dir="4.677553689032201e+216">
              <a:srgbClr val="000000">
                <a:alpha val="1.4000000000000005e+224"/>
              </a:srgbClr>
            </a:outerShdw>
          </a:effectLst>
        </p:spPr>
      </p:sp>
      <p:sp>
        <p:nvSpPr>
          <p:cNvPr id="37" name="Shape 35"/>
          <p:cNvSpPr/>
          <p:nvPr/>
        </p:nvSpPr>
        <p:spPr>
          <a:xfrm>
            <a:off x="8046720" y="2971800"/>
            <a:ext cx="73152" cy="1097280"/>
          </a:xfrm>
          <a:prstGeom prst="rect">
            <a:avLst/>
          </a:prstGeom>
          <a:solidFill>
            <a:srgbClr val="0B8F6A"/>
          </a:solidFill>
          <a:ln w="12700">
            <a:solidFill>
              <a:srgbClr val="0B8F6A"/>
            </a:solidFill>
            <a:prstDash val="solid"/>
          </a:ln>
        </p:spPr>
      </p:sp>
      <p:sp>
        <p:nvSpPr>
          <p:cNvPr id="38" name="Text 36"/>
          <p:cNvSpPr/>
          <p:nvPr/>
        </p:nvSpPr>
        <p:spPr>
          <a:xfrm>
            <a:off x="8247888" y="3118104"/>
            <a:ext cx="289864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Snapshot grouping</a:t>
            </a:r>
            <a:endParaRPr lang="en-US" sz="1100" dirty="0"/>
          </a:p>
        </p:txBody>
      </p:sp>
      <p:sp>
        <p:nvSpPr>
          <p:cNvPr id="39" name="Text 37"/>
          <p:cNvSpPr/>
          <p:nvPr/>
        </p:nvSpPr>
        <p:spPr>
          <a:xfrm>
            <a:off x="8247888" y="3447288"/>
            <a:ext cx="2880360" cy="502920"/>
          </a:xfrm>
          <a:prstGeom prst="rect">
            <a:avLst/>
          </a:prstGeom>
          <a:noFill/>
          <a:ln/>
        </p:spPr>
        <p:txBody>
          <a:bodyPr wrap="square" lIns="0" tIns="0" rIns="0" bIns="0" rtlCol="0" anchor="t">
            <a:normAutofit/>
          </a:bodyPr>
          <a:lstStyle/>
          <a:p>
            <a:pPr indent="0" marL="0">
              <a:buNone/>
            </a:pPr>
            <a:r>
              <a:rPr lang="en-US" sz="920" dirty="0">
                <a:solidFill>
                  <a:srgbClr val="273142"/>
                </a:solidFill>
                <a:latin typeface="Arial" pitchFamily="34" charset="0"/>
                <a:ea typeface="Arial" pitchFamily="34" charset="-122"/>
                <a:cs typeface="Arial" pitchFamily="34" charset="-120"/>
              </a:rPr>
              <a:t>Parent match sets the split → no minute-30 snapshot in train and minute-60 of same match in test.</a:t>
            </a:r>
            <a:endParaRPr lang="en-US" sz="920" dirty="0"/>
          </a:p>
        </p:txBody>
      </p:sp>
      <p:sp>
        <p:nvSpPr>
          <p:cNvPr id="40" name="Shape 38"/>
          <p:cNvSpPr/>
          <p:nvPr/>
        </p:nvSpPr>
        <p:spPr>
          <a:xfrm>
            <a:off x="8046720" y="4251960"/>
            <a:ext cx="3246120" cy="1097280"/>
          </a:xfrm>
          <a:prstGeom prst="roundRect">
            <a:avLst>
              <a:gd name="adj" fmla="val 6667"/>
            </a:avLst>
          </a:prstGeom>
          <a:solidFill>
            <a:srgbClr val="FFFFFF"/>
          </a:solidFill>
          <a:ln w="10160">
            <a:solidFill>
              <a:srgbClr val="DDE5EA"/>
            </a:solidFill>
            <a:prstDash val="solid"/>
          </a:ln>
          <a:effectLst>
            <a:outerShdw sx="100000" sy="100000" kx="0" ky="0" algn="bl" rotWithShape="0" blurRad="7.147471133067203e+188" dist="2.3824903776890687e+188" dir="2.806532213419321e+221">
              <a:srgbClr val="000000">
                <a:alpha val="1.4000000000000004e+229"/>
              </a:srgbClr>
            </a:outerShdw>
          </a:effectLst>
        </p:spPr>
      </p:sp>
      <p:sp>
        <p:nvSpPr>
          <p:cNvPr id="41" name="Shape 39"/>
          <p:cNvSpPr/>
          <p:nvPr/>
        </p:nvSpPr>
        <p:spPr>
          <a:xfrm>
            <a:off x="8046720" y="4251960"/>
            <a:ext cx="73152" cy="1097280"/>
          </a:xfrm>
          <a:prstGeom prst="rect">
            <a:avLst/>
          </a:prstGeom>
          <a:solidFill>
            <a:srgbClr val="F4B942"/>
          </a:solidFill>
          <a:ln w="12700">
            <a:solidFill>
              <a:srgbClr val="F4B942"/>
            </a:solidFill>
            <a:prstDash val="solid"/>
          </a:ln>
        </p:spPr>
      </p:sp>
      <p:sp>
        <p:nvSpPr>
          <p:cNvPr id="42" name="Text 40"/>
          <p:cNvSpPr/>
          <p:nvPr/>
        </p:nvSpPr>
        <p:spPr>
          <a:xfrm>
            <a:off x="8247888" y="4398264"/>
            <a:ext cx="289864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Resampling boundary</a:t>
            </a:r>
            <a:endParaRPr lang="en-US" sz="1100" dirty="0"/>
          </a:p>
        </p:txBody>
      </p:sp>
      <p:sp>
        <p:nvSpPr>
          <p:cNvPr id="43" name="Text 41"/>
          <p:cNvSpPr/>
          <p:nvPr/>
        </p:nvSpPr>
        <p:spPr>
          <a:xfrm>
            <a:off x="8247888" y="4727448"/>
            <a:ext cx="2880360" cy="502920"/>
          </a:xfrm>
          <a:prstGeom prst="rect">
            <a:avLst/>
          </a:prstGeom>
          <a:noFill/>
          <a:ln/>
        </p:spPr>
        <p:txBody>
          <a:bodyPr wrap="square" lIns="0" tIns="0" rIns="0" bIns="0" rtlCol="0" anchor="t">
            <a:normAutofit/>
          </a:bodyPr>
          <a:lstStyle/>
          <a:p>
            <a:pPr indent="0" marL="0">
              <a:buNone/>
            </a:pPr>
            <a:r>
              <a:rPr lang="en-US" sz="930" dirty="0">
                <a:solidFill>
                  <a:srgbClr val="273142"/>
                </a:solidFill>
                <a:latin typeface="Arial" pitchFamily="34" charset="0"/>
                <a:ea typeface="Arial" pitchFamily="34" charset="-122"/>
                <a:cs typeface="Arial" pitchFamily="34" charset="-120"/>
              </a:rPr>
              <a:t>SMOTE-family and GMM resampling are restricted to training data / folds.</a:t>
            </a:r>
            <a:endParaRPr lang="en-US" sz="930" dirty="0"/>
          </a:p>
        </p:txBody>
      </p:sp>
      <p:sp>
        <p:nvSpPr>
          <p:cNvPr id="44" name="Shape 42"/>
          <p:cNvSpPr/>
          <p:nvPr/>
        </p:nvSpPr>
        <p:spPr>
          <a:xfrm>
            <a:off x="713232" y="5532120"/>
            <a:ext cx="10579608" cy="640080"/>
          </a:xfrm>
          <a:prstGeom prst="roundRect">
            <a:avLst>
              <a:gd name="adj" fmla="val 8571"/>
            </a:avLst>
          </a:prstGeom>
          <a:solidFill>
            <a:srgbClr val="E9F8F3"/>
          </a:solidFill>
          <a:ln w="12700">
            <a:solidFill>
              <a:srgbClr val="E9F8F3"/>
            </a:solidFill>
            <a:prstDash val="solid"/>
          </a:ln>
        </p:spPr>
      </p:sp>
      <p:sp>
        <p:nvSpPr>
          <p:cNvPr id="45" name="Shape 43"/>
          <p:cNvSpPr/>
          <p:nvPr/>
        </p:nvSpPr>
        <p:spPr>
          <a:xfrm>
            <a:off x="713232" y="5532120"/>
            <a:ext cx="91440" cy="640080"/>
          </a:xfrm>
          <a:prstGeom prst="rect">
            <a:avLst/>
          </a:prstGeom>
          <a:solidFill>
            <a:srgbClr val="0B8F6A"/>
          </a:solidFill>
          <a:ln w="12700">
            <a:solidFill>
              <a:srgbClr val="0B8F6A"/>
            </a:solidFill>
            <a:prstDash val="solid"/>
          </a:ln>
        </p:spPr>
      </p:sp>
      <p:sp>
        <p:nvSpPr>
          <p:cNvPr id="46" name="Text 44"/>
          <p:cNvSpPr/>
          <p:nvPr/>
        </p:nvSpPr>
        <p:spPr>
          <a:xfrm>
            <a:off x="932688" y="5650992"/>
            <a:ext cx="10213848"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One nuance</a:t>
            </a:r>
            <a:endParaRPr lang="en-US" sz="1050" dirty="0"/>
          </a:p>
        </p:txBody>
      </p:sp>
      <p:sp>
        <p:nvSpPr>
          <p:cNvPr id="47" name="Text 45"/>
          <p:cNvSpPr/>
          <p:nvPr/>
        </p:nvSpPr>
        <p:spPr>
          <a:xfrm>
            <a:off x="932688" y="5925312"/>
            <a:ext cx="10195560" cy="146304"/>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Within a held-out season, a later match may use earlier matches from that same season as historical features because those earlier results are genuinely known at its kick-off. The model is not refit on the test season.</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07 · EVALUATION</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How do we know the model is “good”?</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No single metric is enough for probabilistic forecasting.</a:t>
            </a:r>
            <a:endParaRPr lang="en-US" sz="1050" dirty="0"/>
          </a:p>
        </p:txBody>
      </p:sp>
      <p:sp>
        <p:nvSpPr>
          <p:cNvPr id="5" name="Shape 3"/>
          <p:cNvSpPr/>
          <p:nvPr/>
        </p:nvSpPr>
        <p:spPr>
          <a:xfrm>
            <a:off x="694944" y="16002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9.077288338995348e+192" dist="3.025762779665117e+192" dir="1.6839193280515925e+226">
              <a:srgbClr val="000000">
                <a:alpha val="1.4000000000000004e+234"/>
              </a:srgbClr>
            </a:outerShdw>
          </a:effectLst>
        </p:spPr>
      </p:sp>
      <p:sp>
        <p:nvSpPr>
          <p:cNvPr id="6" name="Shape 4"/>
          <p:cNvSpPr/>
          <p:nvPr/>
        </p:nvSpPr>
        <p:spPr>
          <a:xfrm>
            <a:off x="694944" y="1600200"/>
            <a:ext cx="73152" cy="1115568"/>
          </a:xfrm>
          <a:prstGeom prst="rect">
            <a:avLst/>
          </a:prstGeom>
          <a:solidFill>
            <a:srgbClr val="0B8F6A"/>
          </a:solidFill>
          <a:ln w="12700">
            <a:solidFill>
              <a:srgbClr val="0B8F6A"/>
            </a:solidFill>
            <a:prstDash val="solid"/>
          </a:ln>
        </p:spPr>
      </p:sp>
      <p:sp>
        <p:nvSpPr>
          <p:cNvPr id="7" name="Text 5"/>
          <p:cNvSpPr/>
          <p:nvPr/>
        </p:nvSpPr>
        <p:spPr>
          <a:xfrm>
            <a:off x="896112" y="17465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1 · Future-season performance</a:t>
            </a:r>
            <a:endParaRPr lang="en-US" sz="1100" dirty="0"/>
          </a:p>
        </p:txBody>
      </p:sp>
      <p:sp>
        <p:nvSpPr>
          <p:cNvPr id="8" name="Text 6"/>
          <p:cNvSpPr/>
          <p:nvPr/>
        </p:nvSpPr>
        <p:spPr>
          <a:xfrm>
            <a:off x="896112" y="2075688"/>
            <a:ext cx="3017520" cy="521208"/>
          </a:xfrm>
          <a:prstGeom prst="rect">
            <a:avLst/>
          </a:prstGeom>
          <a:noFill/>
          <a:ln/>
        </p:spPr>
        <p:txBody>
          <a:bodyPr wrap="square" lIns="0" tIns="0" rIns="0" bIns="0" rtlCol="0" anchor="t">
            <a:normAutofit/>
          </a:bodyPr>
          <a:lstStyle/>
          <a:p>
            <a:pPr indent="0" marL="0">
              <a:buNone/>
            </a:pPr>
            <a:r>
              <a:rPr lang="en-US" sz="960" dirty="0">
                <a:solidFill>
                  <a:srgbClr val="273142"/>
                </a:solidFill>
                <a:latin typeface="Arial" pitchFamily="34" charset="0"/>
                <a:ea typeface="Arial" pitchFamily="34" charset="-122"/>
                <a:cs typeface="Arial" pitchFamily="34" charset="-120"/>
              </a:rPr>
              <a:t>Evaluate on unseen future seasons, not a random row split.</a:t>
            </a:r>
            <a:endParaRPr lang="en-US" sz="960" dirty="0"/>
          </a:p>
        </p:txBody>
      </p:sp>
      <p:sp>
        <p:nvSpPr>
          <p:cNvPr id="9" name="Shape 7"/>
          <p:cNvSpPr/>
          <p:nvPr/>
        </p:nvSpPr>
        <p:spPr>
          <a:xfrm>
            <a:off x="4370832" y="16002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1.1528156190524093e+197" dist="3.842718730174699e+196" dir="1.0103515968309554e+231">
              <a:srgbClr val="000000">
                <a:alpha val="1.4000000000000005e+239"/>
              </a:srgbClr>
            </a:outerShdw>
          </a:effectLst>
        </p:spPr>
      </p:sp>
      <p:sp>
        <p:nvSpPr>
          <p:cNvPr id="10" name="Shape 8"/>
          <p:cNvSpPr/>
          <p:nvPr/>
        </p:nvSpPr>
        <p:spPr>
          <a:xfrm>
            <a:off x="4370832" y="1600200"/>
            <a:ext cx="73152" cy="1115568"/>
          </a:xfrm>
          <a:prstGeom prst="rect">
            <a:avLst/>
          </a:prstGeom>
          <a:solidFill>
            <a:srgbClr val="22B8A0"/>
          </a:solidFill>
          <a:ln w="12700">
            <a:solidFill>
              <a:srgbClr val="22B8A0"/>
            </a:solidFill>
            <a:prstDash val="solid"/>
          </a:ln>
        </p:spPr>
      </p:sp>
      <p:sp>
        <p:nvSpPr>
          <p:cNvPr id="11" name="Text 9"/>
          <p:cNvSpPr/>
          <p:nvPr/>
        </p:nvSpPr>
        <p:spPr>
          <a:xfrm>
            <a:off x="4572000" y="17465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2 · Proper probability scores</a:t>
            </a:r>
            <a:endParaRPr lang="en-US" sz="1100" dirty="0"/>
          </a:p>
        </p:txBody>
      </p:sp>
      <p:sp>
        <p:nvSpPr>
          <p:cNvPr id="12" name="Text 10"/>
          <p:cNvSpPr/>
          <p:nvPr/>
        </p:nvSpPr>
        <p:spPr>
          <a:xfrm>
            <a:off x="4572000" y="2075688"/>
            <a:ext cx="3017520" cy="521208"/>
          </a:xfrm>
          <a:prstGeom prst="rect">
            <a:avLst/>
          </a:prstGeom>
          <a:noFill/>
          <a:ln/>
        </p:spPr>
        <p:txBody>
          <a:bodyPr wrap="square" lIns="0" tIns="0" rIns="0" bIns="0" rtlCol="0" anchor="t">
            <a:normAutofit/>
          </a:bodyPr>
          <a:lstStyle/>
          <a:p>
            <a:pPr indent="0" marL="0">
              <a:buNone/>
            </a:pPr>
            <a:r>
              <a:rPr lang="en-US" sz="960" dirty="0">
                <a:solidFill>
                  <a:srgbClr val="273142"/>
                </a:solidFill>
                <a:latin typeface="Arial" pitchFamily="34" charset="0"/>
                <a:ea typeface="Arial" pitchFamily="34" charset="-122"/>
                <a:cs typeface="Arial" pitchFamily="34" charset="-120"/>
              </a:rPr>
              <a:t>RPS, Log Loss and Brier penalize overconfident wrong probabilities.</a:t>
            </a:r>
            <a:endParaRPr lang="en-US" sz="960" dirty="0"/>
          </a:p>
        </p:txBody>
      </p:sp>
      <p:sp>
        <p:nvSpPr>
          <p:cNvPr id="13" name="Shape 11"/>
          <p:cNvSpPr/>
          <p:nvPr/>
        </p:nvSpPr>
        <p:spPr>
          <a:xfrm>
            <a:off x="8046720" y="16002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1.4640758361965598e+201" dist="4.8802527873218674e+200" dir="6.062109580985733e+235">
              <a:srgbClr val="000000">
                <a:alpha val="1.4000000000000006e+244"/>
              </a:srgbClr>
            </a:outerShdw>
          </a:effectLst>
        </p:spPr>
      </p:sp>
      <p:sp>
        <p:nvSpPr>
          <p:cNvPr id="14" name="Shape 12"/>
          <p:cNvSpPr/>
          <p:nvPr/>
        </p:nvSpPr>
        <p:spPr>
          <a:xfrm>
            <a:off x="8046720" y="1600200"/>
            <a:ext cx="73152" cy="1115568"/>
          </a:xfrm>
          <a:prstGeom prst="rect">
            <a:avLst/>
          </a:prstGeom>
          <a:solidFill>
            <a:srgbClr val="F4B942"/>
          </a:solidFill>
          <a:ln w="12700">
            <a:solidFill>
              <a:srgbClr val="F4B942"/>
            </a:solidFill>
            <a:prstDash val="solid"/>
          </a:ln>
        </p:spPr>
      </p:sp>
      <p:sp>
        <p:nvSpPr>
          <p:cNvPr id="15" name="Text 13"/>
          <p:cNvSpPr/>
          <p:nvPr/>
        </p:nvSpPr>
        <p:spPr>
          <a:xfrm>
            <a:off x="8247888" y="17465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3 · Calibration</a:t>
            </a:r>
            <a:endParaRPr lang="en-US" sz="1100" dirty="0"/>
          </a:p>
        </p:txBody>
      </p:sp>
      <p:sp>
        <p:nvSpPr>
          <p:cNvPr id="16" name="Text 14"/>
          <p:cNvSpPr/>
          <p:nvPr/>
        </p:nvSpPr>
        <p:spPr>
          <a:xfrm>
            <a:off x="8247888" y="2075688"/>
            <a:ext cx="3017520" cy="521208"/>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ECE + reliability diagrams check whether 70% predictions occur about 70% of the time.</a:t>
            </a:r>
            <a:endParaRPr lang="en-US" sz="940" dirty="0"/>
          </a:p>
        </p:txBody>
      </p:sp>
      <p:sp>
        <p:nvSpPr>
          <p:cNvPr id="17" name="Shape 15"/>
          <p:cNvSpPr/>
          <p:nvPr/>
        </p:nvSpPr>
        <p:spPr>
          <a:xfrm>
            <a:off x="694944" y="29718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1.859376311969631e+205" dist="6.197921039898771e+204" dir="3.63726574859144e+240">
              <a:srgbClr val="000000">
                <a:alpha val="1.4000000000000005e+249"/>
              </a:srgbClr>
            </a:outerShdw>
          </a:effectLst>
        </p:spPr>
      </p:sp>
      <p:sp>
        <p:nvSpPr>
          <p:cNvPr id="18" name="Shape 16"/>
          <p:cNvSpPr/>
          <p:nvPr/>
        </p:nvSpPr>
        <p:spPr>
          <a:xfrm>
            <a:off x="694944" y="2971800"/>
            <a:ext cx="73152" cy="1115568"/>
          </a:xfrm>
          <a:prstGeom prst="rect">
            <a:avLst/>
          </a:prstGeom>
          <a:solidFill>
            <a:srgbClr val="22B8A0"/>
          </a:solidFill>
          <a:ln w="12700">
            <a:solidFill>
              <a:srgbClr val="22B8A0"/>
            </a:solidFill>
            <a:prstDash val="solid"/>
          </a:ln>
        </p:spPr>
      </p:sp>
      <p:sp>
        <p:nvSpPr>
          <p:cNvPr id="19" name="Text 17"/>
          <p:cNvSpPr/>
          <p:nvPr/>
        </p:nvSpPr>
        <p:spPr>
          <a:xfrm>
            <a:off x="896112" y="31181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4 · Class-aware metrics</a:t>
            </a:r>
            <a:endParaRPr lang="en-US" sz="1100" dirty="0"/>
          </a:p>
        </p:txBody>
      </p:sp>
      <p:sp>
        <p:nvSpPr>
          <p:cNvPr id="20" name="Text 18"/>
          <p:cNvSpPr/>
          <p:nvPr/>
        </p:nvSpPr>
        <p:spPr>
          <a:xfrm>
            <a:off x="896112" y="3447288"/>
            <a:ext cx="3017520" cy="521208"/>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Balanced accuracy, per-class precision/recall/F1 reduce majority-class illusion.</a:t>
            </a:r>
            <a:endParaRPr lang="en-US" sz="940" dirty="0"/>
          </a:p>
        </p:txBody>
      </p:sp>
      <p:sp>
        <p:nvSpPr>
          <p:cNvPr id="21" name="Shape 19"/>
          <p:cNvSpPr/>
          <p:nvPr/>
        </p:nvSpPr>
        <p:spPr>
          <a:xfrm>
            <a:off x="4370832" y="29718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2.3614079162014313e+209" dist="7.87135972067144e+208" dir="2.182359449154864e+245">
              <a:srgbClr val="000000">
                <a:alpha val="1.4000000000000004e+254"/>
              </a:srgbClr>
            </a:outerShdw>
          </a:effectLst>
        </p:spPr>
      </p:sp>
      <p:sp>
        <p:nvSpPr>
          <p:cNvPr id="22" name="Shape 20"/>
          <p:cNvSpPr/>
          <p:nvPr/>
        </p:nvSpPr>
        <p:spPr>
          <a:xfrm>
            <a:off x="4370832" y="2971800"/>
            <a:ext cx="73152" cy="1115568"/>
          </a:xfrm>
          <a:prstGeom prst="rect">
            <a:avLst/>
          </a:prstGeom>
          <a:solidFill>
            <a:srgbClr val="F4B942"/>
          </a:solidFill>
          <a:ln w="12700">
            <a:solidFill>
              <a:srgbClr val="F4B942"/>
            </a:solidFill>
            <a:prstDash val="solid"/>
          </a:ln>
        </p:spPr>
      </p:sp>
      <p:sp>
        <p:nvSpPr>
          <p:cNvPr id="23" name="Text 21"/>
          <p:cNvSpPr/>
          <p:nvPr/>
        </p:nvSpPr>
        <p:spPr>
          <a:xfrm>
            <a:off x="4572000" y="31181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5 · Baselines</a:t>
            </a:r>
            <a:endParaRPr lang="en-US" sz="1100" dirty="0"/>
          </a:p>
        </p:txBody>
      </p:sp>
      <p:sp>
        <p:nvSpPr>
          <p:cNvPr id="24" name="Text 22"/>
          <p:cNvSpPr/>
          <p:nvPr/>
        </p:nvSpPr>
        <p:spPr>
          <a:xfrm>
            <a:off x="4572000" y="3447288"/>
            <a:ext cx="3017520" cy="521208"/>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Dummy prior is the sanity floor. A valid market baseline is required once odds tagging works.</a:t>
            </a:r>
            <a:endParaRPr lang="en-US" sz="940" dirty="0"/>
          </a:p>
        </p:txBody>
      </p:sp>
      <p:sp>
        <p:nvSpPr>
          <p:cNvPr id="25" name="Shape 23"/>
          <p:cNvSpPr/>
          <p:nvPr/>
        </p:nvSpPr>
        <p:spPr>
          <a:xfrm>
            <a:off x="8046720" y="2971800"/>
            <a:ext cx="3383280" cy="1115568"/>
          </a:xfrm>
          <a:prstGeom prst="roundRect">
            <a:avLst>
              <a:gd name="adj" fmla="val 6557"/>
            </a:avLst>
          </a:prstGeom>
          <a:solidFill>
            <a:srgbClr val="FFFFFF"/>
          </a:solidFill>
          <a:ln w="10160">
            <a:solidFill>
              <a:srgbClr val="DDE5EA"/>
            </a:solidFill>
            <a:prstDash val="solid"/>
          </a:ln>
          <a:effectLst>
            <a:outerShdw sx="100000" sy="100000" kx="0" ky="0" algn="bl" rotWithShape="0" blurRad="2.998988053575818e+213" dist="9.996626845252729e+212" dir="1.3094156694929184e+250">
              <a:srgbClr val="000000">
                <a:alpha val="1.4000000000000004e+259"/>
              </a:srgbClr>
            </a:outerShdw>
          </a:effectLst>
        </p:spPr>
      </p:sp>
      <p:sp>
        <p:nvSpPr>
          <p:cNvPr id="26" name="Shape 24"/>
          <p:cNvSpPr/>
          <p:nvPr/>
        </p:nvSpPr>
        <p:spPr>
          <a:xfrm>
            <a:off x="8046720" y="2971800"/>
            <a:ext cx="73152" cy="1115568"/>
          </a:xfrm>
          <a:prstGeom prst="rect">
            <a:avLst/>
          </a:prstGeom>
          <a:solidFill>
            <a:srgbClr val="0B8F6A"/>
          </a:solidFill>
          <a:ln w="12700">
            <a:solidFill>
              <a:srgbClr val="0B8F6A"/>
            </a:solidFill>
            <a:prstDash val="solid"/>
          </a:ln>
        </p:spPr>
      </p:sp>
      <p:sp>
        <p:nvSpPr>
          <p:cNvPr id="27" name="Text 25"/>
          <p:cNvSpPr/>
          <p:nvPr/>
        </p:nvSpPr>
        <p:spPr>
          <a:xfrm>
            <a:off x="8247888" y="3118104"/>
            <a:ext cx="30358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6 · Failure analysis</a:t>
            </a:r>
            <a:endParaRPr lang="en-US" sz="1100" dirty="0"/>
          </a:p>
        </p:txBody>
      </p:sp>
      <p:sp>
        <p:nvSpPr>
          <p:cNvPr id="28" name="Text 26"/>
          <p:cNvSpPr/>
          <p:nvPr/>
        </p:nvSpPr>
        <p:spPr>
          <a:xfrm>
            <a:off x="8247888" y="3447288"/>
            <a:ext cx="3017520" cy="521208"/>
          </a:xfrm>
          <a:prstGeom prst="rect">
            <a:avLst/>
          </a:prstGeom>
          <a:noFill/>
          <a:ln/>
        </p:spPr>
        <p:txBody>
          <a:bodyPr wrap="square" lIns="0" tIns="0" rIns="0" bIns="0" rtlCol="0" anchor="t">
            <a:normAutofit/>
          </a:bodyPr>
          <a:lstStyle/>
          <a:p>
            <a:pPr indent="0" marL="0">
              <a:buNone/>
            </a:pPr>
            <a:r>
              <a:rPr lang="en-US" sz="950" dirty="0">
                <a:solidFill>
                  <a:srgbClr val="273142"/>
                </a:solidFill>
                <a:latin typeface="Arial" pitchFamily="34" charset="0"/>
                <a:ea typeface="Arial" pitchFamily="34" charset="-122"/>
                <a:cs typeface="Arial" pitchFamily="34" charset="-120"/>
              </a:rPr>
              <a:t>SHAP + worst predictions explain how the model fails, not just how often.</a:t>
            </a:r>
            <a:endParaRPr lang="en-US" sz="950" dirty="0"/>
          </a:p>
        </p:txBody>
      </p:sp>
      <p:sp>
        <p:nvSpPr>
          <p:cNvPr id="29" name="Shape 27"/>
          <p:cNvSpPr/>
          <p:nvPr/>
        </p:nvSpPr>
        <p:spPr>
          <a:xfrm>
            <a:off x="694944" y="4681728"/>
            <a:ext cx="10735056" cy="1024128"/>
          </a:xfrm>
          <a:prstGeom prst="roundRect">
            <a:avLst>
              <a:gd name="adj" fmla="val 5357"/>
            </a:avLst>
          </a:prstGeom>
          <a:solidFill>
            <a:srgbClr val="FFF5D8"/>
          </a:solidFill>
          <a:ln w="12700">
            <a:solidFill>
              <a:srgbClr val="FFF5D8"/>
            </a:solidFill>
            <a:prstDash val="solid"/>
          </a:ln>
        </p:spPr>
      </p:sp>
      <p:sp>
        <p:nvSpPr>
          <p:cNvPr id="30" name="Shape 28"/>
          <p:cNvSpPr/>
          <p:nvPr/>
        </p:nvSpPr>
        <p:spPr>
          <a:xfrm>
            <a:off x="694944" y="4681728"/>
            <a:ext cx="91440" cy="1024128"/>
          </a:xfrm>
          <a:prstGeom prst="rect">
            <a:avLst/>
          </a:prstGeom>
          <a:solidFill>
            <a:srgbClr val="F4B942"/>
          </a:solidFill>
          <a:ln w="12700">
            <a:solidFill>
              <a:srgbClr val="F4B942"/>
            </a:solidFill>
            <a:prstDash val="solid"/>
          </a:ln>
        </p:spPr>
      </p:sp>
      <p:sp>
        <p:nvSpPr>
          <p:cNvPr id="31" name="Text 29"/>
          <p:cNvSpPr/>
          <p:nvPr/>
        </p:nvSpPr>
        <p:spPr>
          <a:xfrm>
            <a:off x="914400" y="4800600"/>
            <a:ext cx="10369296"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A model can have higher accuracy and worse probabilities</a:t>
            </a:r>
            <a:endParaRPr lang="en-US" sz="1050" dirty="0"/>
          </a:p>
        </p:txBody>
      </p:sp>
      <p:sp>
        <p:nvSpPr>
          <p:cNvPr id="32" name="Text 30"/>
          <p:cNvSpPr/>
          <p:nvPr/>
        </p:nvSpPr>
        <p:spPr>
          <a:xfrm>
            <a:off x="914400" y="5074920"/>
            <a:ext cx="10351008" cy="530352"/>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For a forecasting product, calibration and proper scoring rules matter because the output is a probability distribution, not only an arg-max class label.</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08 · GENERALIZATION</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A 64% season does not guarantee 64% later</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The same SVC changed substantially across three future seasons.</a:t>
            </a:r>
            <a:endParaRPr lang="en-US" sz="1050" dirty="0"/>
          </a:p>
        </p:txBody>
      </p:sp>
      <p:sp>
        <p:nvSpPr>
          <p:cNvPr id="5" name="Shape 3"/>
          <p:cNvSpPr/>
          <p:nvPr/>
        </p:nvSpPr>
        <p:spPr>
          <a:xfrm>
            <a:off x="594360" y="1444752"/>
            <a:ext cx="7452360" cy="4526280"/>
          </a:xfrm>
          <a:prstGeom prst="roundRect">
            <a:avLst>
              <a:gd name="adj" fmla="val 1010"/>
            </a:avLst>
          </a:prstGeom>
          <a:solidFill>
            <a:srgbClr val="FFFFFF"/>
          </a:solidFill>
          <a:ln w="10160">
            <a:solidFill>
              <a:srgbClr val="DDE5EA"/>
            </a:solidFill>
            <a:prstDash val="solid"/>
          </a:ln>
          <a:effectLst>
            <a:outerShdw sx="100000" sy="100000" kx="0" ky="0" algn="bl" rotWithShape="0" blurRad="3.808714828041289e+217" dist="1.2695716093470965e+217" dir="7.85649401695751e+254">
              <a:srgbClr val="000000">
                <a:alpha val="1.4000000000000004e+264"/>
              </a:srgbClr>
            </a:outerShdw>
          </a:effectLst>
        </p:spPr>
      </p:sp>
      <p:pic>
        <p:nvPicPr>
          <p:cNvPr id="6" name="Image 0" descr="/mnt/data/final_artifacts/assets/temporal_generalization_svc.png">    </p:cNvPr>
          <p:cNvPicPr>
            <a:picLocks noChangeAspect="1"/>
          </p:cNvPicPr>
          <p:nvPr/>
        </p:nvPicPr>
        <p:blipFill>
          <a:blip r:embed="rId1"/>
          <a:stretch>
            <a:fillRect/>
          </a:stretch>
        </p:blipFill>
        <p:spPr>
          <a:xfrm>
            <a:off x="685800" y="1542824"/>
            <a:ext cx="7269480" cy="4074104"/>
          </a:xfrm>
          <a:prstGeom prst="rect">
            <a:avLst/>
          </a:prstGeom>
        </p:spPr>
      </p:pic>
      <p:sp>
        <p:nvSpPr>
          <p:cNvPr id="7" name="Text 4"/>
          <p:cNvSpPr/>
          <p:nvPr/>
        </p:nvSpPr>
        <p:spPr>
          <a:xfrm>
            <a:off x="758952" y="5669280"/>
            <a:ext cx="7123176" cy="164592"/>
          </a:xfrm>
          <a:prstGeom prst="rect">
            <a:avLst/>
          </a:prstGeom>
          <a:noFill/>
          <a:ln/>
        </p:spPr>
        <p:txBody>
          <a:bodyPr wrap="square" lIns="0" tIns="0" rIns="0" bIns="0" rtlCol="0" anchor="ctr">
            <a:normAutofit/>
          </a:bodyPr>
          <a:lstStyle/>
          <a:p>
            <a:pPr algn="ctr" indent="0" marL="0">
              <a:buNone/>
            </a:pPr>
            <a:r>
              <a:rPr lang="en-US" sz="780" i="1" dirty="0">
                <a:solidFill>
                  <a:srgbClr val="5B6577"/>
                </a:solidFill>
                <a:latin typeface="Arial" pitchFamily="34" charset="0"/>
                <a:ea typeface="Arial" pitchFamily="34" charset="-122"/>
                <a:cs typeface="Arial" pitchFamily="34" charset="-120"/>
              </a:rPr>
              <a:t>Uncalibrated SVC across the three outer chronological splits.</a:t>
            </a:r>
            <a:endParaRPr lang="en-US" sz="780" dirty="0"/>
          </a:p>
        </p:txBody>
      </p:sp>
      <p:sp>
        <p:nvSpPr>
          <p:cNvPr id="8" name="Shape 5"/>
          <p:cNvSpPr/>
          <p:nvPr/>
        </p:nvSpPr>
        <p:spPr>
          <a:xfrm>
            <a:off x="8339328" y="1572768"/>
            <a:ext cx="2907792"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4.8370678316124365e+221" dist="1.6123559438708126e+221" dir="4.713896410174506e+259">
              <a:srgbClr val="000000">
                <a:alpha val="1.4000000000000005e+269"/>
              </a:srgbClr>
            </a:outerShdw>
          </a:effectLst>
        </p:spPr>
      </p:sp>
      <p:sp>
        <p:nvSpPr>
          <p:cNvPr id="9" name="Shape 6"/>
          <p:cNvSpPr/>
          <p:nvPr/>
        </p:nvSpPr>
        <p:spPr>
          <a:xfrm>
            <a:off x="8339328" y="1572768"/>
            <a:ext cx="73152" cy="960120"/>
          </a:xfrm>
          <a:prstGeom prst="rect">
            <a:avLst/>
          </a:prstGeom>
          <a:solidFill>
            <a:srgbClr val="F4B942"/>
          </a:solidFill>
          <a:ln w="12700">
            <a:solidFill>
              <a:srgbClr val="F4B942"/>
            </a:solidFill>
            <a:prstDash val="solid"/>
          </a:ln>
        </p:spPr>
      </p:sp>
      <p:sp>
        <p:nvSpPr>
          <p:cNvPr id="10" name="Text 7"/>
          <p:cNvSpPr/>
          <p:nvPr/>
        </p:nvSpPr>
        <p:spPr>
          <a:xfrm>
            <a:off x="8522208" y="1719072"/>
            <a:ext cx="2633472"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51.6%</a:t>
            </a:r>
            <a:endParaRPr lang="en-US" sz="2300" dirty="0"/>
          </a:p>
        </p:txBody>
      </p:sp>
      <p:sp>
        <p:nvSpPr>
          <p:cNvPr id="11" name="Text 8"/>
          <p:cNvSpPr/>
          <p:nvPr/>
        </p:nvSpPr>
        <p:spPr>
          <a:xfrm>
            <a:off x="8485632" y="2157984"/>
            <a:ext cx="2688336"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2018/19 test accuracy</a:t>
            </a:r>
            <a:endParaRPr lang="en-US" sz="850" dirty="0"/>
          </a:p>
        </p:txBody>
      </p:sp>
      <p:sp>
        <p:nvSpPr>
          <p:cNvPr id="12" name="Shape 9"/>
          <p:cNvSpPr/>
          <p:nvPr/>
        </p:nvSpPr>
        <p:spPr>
          <a:xfrm>
            <a:off x="8339328" y="2788920"/>
            <a:ext cx="2907792"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6.143076146147795e+225" dist="2.047692048715932e+225" dir="2.8283378461047036e+264">
              <a:srgbClr val="000000">
                <a:alpha val="1.4000000000000004e+274"/>
              </a:srgbClr>
            </a:outerShdw>
          </a:effectLst>
        </p:spPr>
      </p:sp>
      <p:sp>
        <p:nvSpPr>
          <p:cNvPr id="13" name="Shape 10"/>
          <p:cNvSpPr/>
          <p:nvPr/>
        </p:nvSpPr>
        <p:spPr>
          <a:xfrm>
            <a:off x="8339328" y="2788920"/>
            <a:ext cx="73152" cy="960120"/>
          </a:xfrm>
          <a:prstGeom prst="rect">
            <a:avLst/>
          </a:prstGeom>
          <a:solidFill>
            <a:srgbClr val="0B8F6A"/>
          </a:solidFill>
          <a:ln w="12700">
            <a:solidFill>
              <a:srgbClr val="0B8F6A"/>
            </a:solidFill>
            <a:prstDash val="solid"/>
          </a:ln>
        </p:spPr>
      </p:sp>
      <p:sp>
        <p:nvSpPr>
          <p:cNvPr id="14" name="Text 11"/>
          <p:cNvSpPr/>
          <p:nvPr/>
        </p:nvSpPr>
        <p:spPr>
          <a:xfrm>
            <a:off x="8522208" y="2935224"/>
            <a:ext cx="2633472"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70.0%</a:t>
            </a:r>
            <a:endParaRPr lang="en-US" sz="2300" dirty="0"/>
          </a:p>
        </p:txBody>
      </p:sp>
      <p:sp>
        <p:nvSpPr>
          <p:cNvPr id="15" name="Text 12"/>
          <p:cNvSpPr/>
          <p:nvPr/>
        </p:nvSpPr>
        <p:spPr>
          <a:xfrm>
            <a:off x="8485632" y="3374136"/>
            <a:ext cx="2688336"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2019/20 test accuracy</a:t>
            </a:r>
            <a:endParaRPr lang="en-US" sz="850" dirty="0"/>
          </a:p>
        </p:txBody>
      </p:sp>
      <p:sp>
        <p:nvSpPr>
          <p:cNvPr id="16" name="Shape 13"/>
          <p:cNvSpPr/>
          <p:nvPr/>
        </p:nvSpPr>
        <p:spPr>
          <a:xfrm>
            <a:off x="8339328" y="4005072"/>
            <a:ext cx="2907792" cy="960120"/>
          </a:xfrm>
          <a:prstGeom prst="roundRect">
            <a:avLst>
              <a:gd name="adj" fmla="val 7619"/>
            </a:avLst>
          </a:prstGeom>
          <a:solidFill>
            <a:srgbClr val="FFFFFF"/>
          </a:solidFill>
          <a:ln w="10160">
            <a:solidFill>
              <a:srgbClr val="DDE5EA"/>
            </a:solidFill>
            <a:prstDash val="solid"/>
          </a:ln>
          <a:effectLst>
            <a:outerShdw sx="100000" sy="100000" kx="0" ky="0" algn="bl" rotWithShape="0" blurRad="7.8017067056077e+229" dist="2.6005689018692335e+229" dir="1.6970027076628222e+269">
              <a:srgbClr val="000000">
                <a:alpha val="1.4000000000000004e+279"/>
              </a:srgbClr>
            </a:outerShdw>
          </a:effectLst>
        </p:spPr>
      </p:sp>
      <p:sp>
        <p:nvSpPr>
          <p:cNvPr id="17" name="Shape 14"/>
          <p:cNvSpPr/>
          <p:nvPr/>
        </p:nvSpPr>
        <p:spPr>
          <a:xfrm>
            <a:off x="8339328" y="4005072"/>
            <a:ext cx="73152" cy="960120"/>
          </a:xfrm>
          <a:prstGeom prst="rect">
            <a:avLst/>
          </a:prstGeom>
          <a:solidFill>
            <a:srgbClr val="22B8A0"/>
          </a:solidFill>
          <a:ln w="12700">
            <a:solidFill>
              <a:srgbClr val="22B8A0"/>
            </a:solidFill>
            <a:prstDash val="solid"/>
          </a:ln>
        </p:spPr>
      </p:sp>
      <p:sp>
        <p:nvSpPr>
          <p:cNvPr id="18" name="Text 15"/>
          <p:cNvSpPr/>
          <p:nvPr/>
        </p:nvSpPr>
        <p:spPr>
          <a:xfrm>
            <a:off x="8522208" y="4151376"/>
            <a:ext cx="2633472"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60.6%</a:t>
            </a:r>
            <a:endParaRPr lang="en-US" sz="2300" dirty="0"/>
          </a:p>
        </p:txBody>
      </p:sp>
      <p:sp>
        <p:nvSpPr>
          <p:cNvPr id="19" name="Text 16"/>
          <p:cNvSpPr/>
          <p:nvPr/>
        </p:nvSpPr>
        <p:spPr>
          <a:xfrm>
            <a:off x="8485632" y="4590288"/>
            <a:ext cx="2688336"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2020/21 test accuracy</a:t>
            </a:r>
            <a:endParaRPr lang="en-US" sz="850" dirty="0"/>
          </a:p>
        </p:txBody>
      </p:sp>
      <p:sp>
        <p:nvSpPr>
          <p:cNvPr id="20" name="Shape 17"/>
          <p:cNvSpPr/>
          <p:nvPr/>
        </p:nvSpPr>
        <p:spPr>
          <a:xfrm>
            <a:off x="8339328" y="5239512"/>
            <a:ext cx="2907792" cy="749808"/>
          </a:xfrm>
          <a:prstGeom prst="roundRect">
            <a:avLst>
              <a:gd name="adj" fmla="val 7317"/>
            </a:avLst>
          </a:prstGeom>
          <a:solidFill>
            <a:srgbClr val="E9F8F3"/>
          </a:solidFill>
          <a:ln w="12700">
            <a:solidFill>
              <a:srgbClr val="E9F8F3"/>
            </a:solidFill>
            <a:prstDash val="solid"/>
          </a:ln>
        </p:spPr>
      </p:sp>
      <p:sp>
        <p:nvSpPr>
          <p:cNvPr id="21" name="Shape 18"/>
          <p:cNvSpPr/>
          <p:nvPr/>
        </p:nvSpPr>
        <p:spPr>
          <a:xfrm>
            <a:off x="8339328" y="5239512"/>
            <a:ext cx="91440" cy="749808"/>
          </a:xfrm>
          <a:prstGeom prst="rect">
            <a:avLst/>
          </a:prstGeom>
          <a:solidFill>
            <a:srgbClr val="0B8F6A"/>
          </a:solidFill>
          <a:ln w="12700">
            <a:solidFill>
              <a:srgbClr val="0B8F6A"/>
            </a:solidFill>
            <a:prstDash val="solid"/>
          </a:ln>
        </p:spPr>
      </p:sp>
      <p:sp>
        <p:nvSpPr>
          <p:cNvPr id="22" name="Text 19"/>
          <p:cNvSpPr/>
          <p:nvPr/>
        </p:nvSpPr>
        <p:spPr>
          <a:xfrm>
            <a:off x="8558784" y="5358384"/>
            <a:ext cx="2542032"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Answer to the examiner</a:t>
            </a:r>
            <a:endParaRPr lang="en-US" sz="1050" dirty="0"/>
          </a:p>
        </p:txBody>
      </p:sp>
      <p:sp>
        <p:nvSpPr>
          <p:cNvPr id="23" name="Text 20"/>
          <p:cNvSpPr/>
          <p:nvPr/>
        </p:nvSpPr>
        <p:spPr>
          <a:xfrm>
            <a:off x="8558784" y="5632704"/>
            <a:ext cx="2523744" cy="256032"/>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Performance is season-dependent. Cross-season range/average is the credible claim — not one universal percentage.</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09 · RESULTS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Pre-match classification results</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Cross-season stability first; final-season headline second.</a:t>
            </a:r>
            <a:endParaRPr lang="en-US" sz="1050" dirty="0"/>
          </a:p>
        </p:txBody>
      </p:sp>
      <p:sp>
        <p:nvSpPr>
          <p:cNvPr id="5" name="Shape 3"/>
          <p:cNvSpPr/>
          <p:nvPr/>
        </p:nvSpPr>
        <p:spPr>
          <a:xfrm>
            <a:off x="594360" y="1444752"/>
            <a:ext cx="6583680" cy="4251960"/>
          </a:xfrm>
          <a:prstGeom prst="roundRect">
            <a:avLst>
              <a:gd name="adj" fmla="val 1075"/>
            </a:avLst>
          </a:prstGeom>
          <a:solidFill>
            <a:srgbClr val="FFFFFF"/>
          </a:solidFill>
          <a:ln w="10160">
            <a:solidFill>
              <a:srgbClr val="DDE5EA"/>
            </a:solidFill>
            <a:prstDash val="solid"/>
          </a:ln>
          <a:effectLst>
            <a:outerShdw sx="100000" sy="100000" kx="0" ky="0" algn="bl" rotWithShape="0" blurRad="9.908167516121778e+233" dist="3.3027225053739265e+233" dir="1.0182016245976934e+274">
              <a:srgbClr val="000000">
                <a:alpha val="1.4000000000000003e+284"/>
              </a:srgbClr>
            </a:outerShdw>
          </a:effectLst>
        </p:spPr>
      </p:sp>
      <p:pic>
        <p:nvPicPr>
          <p:cNvPr id="6" name="Image 0" descr="/mnt/data/final_artifacts/assets/taskC_average_balanced_accuracy.png">    </p:cNvPr>
          <p:cNvPicPr>
            <a:picLocks noChangeAspect="1"/>
          </p:cNvPicPr>
          <p:nvPr/>
        </p:nvPicPr>
        <p:blipFill>
          <a:blip r:embed="rId1"/>
          <a:stretch>
            <a:fillRect/>
          </a:stretch>
        </p:blipFill>
        <p:spPr>
          <a:xfrm>
            <a:off x="685800" y="1548639"/>
            <a:ext cx="6400800" cy="3788153"/>
          </a:xfrm>
          <a:prstGeom prst="rect">
            <a:avLst/>
          </a:prstGeom>
        </p:spPr>
      </p:pic>
      <p:sp>
        <p:nvSpPr>
          <p:cNvPr id="7" name="Text 4"/>
          <p:cNvSpPr/>
          <p:nvPr/>
        </p:nvSpPr>
        <p:spPr>
          <a:xfrm>
            <a:off x="758952" y="5394960"/>
            <a:ext cx="6254496" cy="164592"/>
          </a:xfrm>
          <a:prstGeom prst="rect">
            <a:avLst/>
          </a:prstGeom>
          <a:noFill/>
          <a:ln/>
        </p:spPr>
        <p:txBody>
          <a:bodyPr wrap="square" lIns="0" tIns="0" rIns="0" bIns="0" rtlCol="0" anchor="ctr">
            <a:normAutofit/>
          </a:bodyPr>
          <a:lstStyle/>
          <a:p>
            <a:pPr algn="ctr" indent="0" marL="0">
              <a:buNone/>
            </a:pPr>
            <a:r>
              <a:rPr lang="en-US" sz="780" i="1" dirty="0">
                <a:solidFill>
                  <a:srgbClr val="5B6577"/>
                </a:solidFill>
                <a:latin typeface="Arial" pitchFamily="34" charset="0"/>
                <a:ea typeface="Arial" pitchFamily="34" charset="-122"/>
                <a:cs typeface="Arial" pitchFamily="34" charset="-120"/>
              </a:rPr>
              <a:t>Mean balanced accuracy across three future-season tests; uncalibrated variants.</a:t>
            </a:r>
            <a:endParaRPr lang="en-US" sz="780" dirty="0"/>
          </a:p>
        </p:txBody>
      </p:sp>
      <p:sp>
        <p:nvSpPr>
          <p:cNvPr id="8" name="Shape 5"/>
          <p:cNvSpPr/>
          <p:nvPr/>
        </p:nvSpPr>
        <p:spPr>
          <a:xfrm>
            <a:off x="7424928" y="1444752"/>
            <a:ext cx="4160520" cy="1097280"/>
          </a:xfrm>
          <a:prstGeom prst="roundRect">
            <a:avLst>
              <a:gd name="adj" fmla="val 6667"/>
            </a:avLst>
          </a:prstGeom>
          <a:solidFill>
            <a:srgbClr val="FFFFFF"/>
          </a:solidFill>
          <a:ln w="10160">
            <a:solidFill>
              <a:srgbClr val="DDE5EA"/>
            </a:solidFill>
            <a:prstDash val="solid"/>
          </a:ln>
          <a:effectLst>
            <a:outerShdw sx="100000" sy="100000" kx="0" ky="0" algn="bl" rotWithShape="0" blurRad="1.2583372745474658e+238" dist="4.194457581824887e+237" dir="6.10920974758616e+278">
              <a:srgbClr val="000000">
                <a:alpha val="1.4000000000000004e+289"/>
              </a:srgbClr>
            </a:outerShdw>
          </a:effectLst>
        </p:spPr>
      </p:sp>
      <p:sp>
        <p:nvSpPr>
          <p:cNvPr id="9" name="Shape 6"/>
          <p:cNvSpPr/>
          <p:nvPr/>
        </p:nvSpPr>
        <p:spPr>
          <a:xfrm>
            <a:off x="7424928" y="1444752"/>
            <a:ext cx="73152" cy="1097280"/>
          </a:xfrm>
          <a:prstGeom prst="rect">
            <a:avLst/>
          </a:prstGeom>
          <a:solidFill>
            <a:srgbClr val="0B8F6A"/>
          </a:solidFill>
          <a:ln w="12700">
            <a:solidFill>
              <a:srgbClr val="0B8F6A"/>
            </a:solidFill>
            <a:prstDash val="solid"/>
          </a:ln>
        </p:spPr>
      </p:sp>
      <p:sp>
        <p:nvSpPr>
          <p:cNvPr id="10" name="Text 7"/>
          <p:cNvSpPr/>
          <p:nvPr/>
        </p:nvSpPr>
        <p:spPr>
          <a:xfrm>
            <a:off x="7626096" y="1591056"/>
            <a:ext cx="381304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Cross-season view</a:t>
            </a:r>
            <a:endParaRPr lang="en-US" sz="1100" dirty="0"/>
          </a:p>
        </p:txBody>
      </p:sp>
      <p:sp>
        <p:nvSpPr>
          <p:cNvPr id="11" name="Text 8"/>
          <p:cNvSpPr/>
          <p:nvPr/>
        </p:nvSpPr>
        <p:spPr>
          <a:xfrm>
            <a:off x="7626096" y="1920240"/>
            <a:ext cx="3794760" cy="502920"/>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SVC: 55.2% mean balanced accuracy</a:t>
            </a:r>
            <a:endParaRPr lang="en-US" sz="940" dirty="0"/>
          </a:p>
          <a:p>
            <a:pPr indent="0" marL="0">
              <a:buNone/>
            </a:pPr>
            <a:r>
              <a:rPr lang="en-US" sz="940" dirty="0">
                <a:solidFill>
                  <a:srgbClr val="273142"/>
                </a:solidFill>
                <a:latin typeface="Arial" pitchFamily="34" charset="0"/>
                <a:ea typeface="Arial" pitchFamily="34" charset="-122"/>
                <a:cs typeface="Arial" pitchFamily="34" charset="-120"/>
              </a:rPr>
              <a:t>Random Forest: 52.8%</a:t>
            </a:r>
            <a:endParaRPr lang="en-US" sz="940" dirty="0"/>
          </a:p>
          <a:p>
            <a:pPr indent="0" marL="0">
              <a:buNone/>
            </a:pPr>
            <a:r>
              <a:rPr lang="en-US" sz="940" dirty="0">
                <a:solidFill>
                  <a:srgbClr val="273142"/>
                </a:solidFill>
                <a:latin typeface="Arial" pitchFamily="34" charset="0"/>
                <a:ea typeface="Arial" pitchFamily="34" charset="-122"/>
                <a:cs typeface="Arial" pitchFamily="34" charset="-120"/>
              </a:rPr>
              <a:t>XGBoost: 52.3%</a:t>
            </a:r>
            <a:endParaRPr lang="en-US" sz="940" dirty="0"/>
          </a:p>
          <a:p>
            <a:pPr indent="0" marL="0">
              <a:buNone/>
            </a:pPr>
            <a:r>
              <a:rPr lang="en-US" sz="940" dirty="0">
                <a:solidFill>
                  <a:srgbClr val="273142"/>
                </a:solidFill>
                <a:latin typeface="Arial" pitchFamily="34" charset="0"/>
                <a:ea typeface="Arial" pitchFamily="34" charset="-122"/>
                <a:cs typeface="Arial" pitchFamily="34" charset="-120"/>
              </a:rPr>
              <a:t>GBM: 52.2%</a:t>
            </a:r>
            <a:endParaRPr lang="en-US" sz="940" dirty="0"/>
          </a:p>
        </p:txBody>
      </p:sp>
      <p:sp>
        <p:nvSpPr>
          <p:cNvPr id="12" name="Shape 9"/>
          <p:cNvSpPr/>
          <p:nvPr/>
        </p:nvSpPr>
        <p:spPr>
          <a:xfrm>
            <a:off x="7424928" y="2770632"/>
            <a:ext cx="4160520" cy="1261872"/>
          </a:xfrm>
          <a:prstGeom prst="roundRect">
            <a:avLst>
              <a:gd name="adj" fmla="val 5797"/>
            </a:avLst>
          </a:prstGeom>
          <a:solidFill>
            <a:srgbClr val="FFF5D8"/>
          </a:solidFill>
          <a:ln w="10160">
            <a:solidFill>
              <a:srgbClr val="DDE5EA"/>
            </a:solidFill>
            <a:prstDash val="solid"/>
          </a:ln>
          <a:effectLst>
            <a:outerShdw sx="100000" sy="100000" kx="0" ky="0" algn="bl" rotWithShape="0" blurRad="1.5980883386752816e+242" dist="5.3269611289176067e+241" dir="3.6655258485516963e+283">
              <a:srgbClr val="000000">
                <a:alpha val="1.4000000000000005e+294"/>
              </a:srgbClr>
            </a:outerShdw>
          </a:effectLst>
        </p:spPr>
      </p:sp>
      <p:sp>
        <p:nvSpPr>
          <p:cNvPr id="13" name="Shape 10"/>
          <p:cNvSpPr/>
          <p:nvPr/>
        </p:nvSpPr>
        <p:spPr>
          <a:xfrm>
            <a:off x="7424928" y="2770632"/>
            <a:ext cx="73152" cy="1261872"/>
          </a:xfrm>
          <a:prstGeom prst="rect">
            <a:avLst/>
          </a:prstGeom>
          <a:solidFill>
            <a:srgbClr val="F4B942"/>
          </a:solidFill>
          <a:ln w="12700">
            <a:solidFill>
              <a:srgbClr val="F4B942"/>
            </a:solidFill>
            <a:prstDash val="solid"/>
          </a:ln>
        </p:spPr>
      </p:sp>
      <p:sp>
        <p:nvSpPr>
          <p:cNvPr id="14" name="Text 11"/>
          <p:cNvSpPr/>
          <p:nvPr/>
        </p:nvSpPr>
        <p:spPr>
          <a:xfrm>
            <a:off x="7626096" y="2916936"/>
            <a:ext cx="381304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Held-out 2020/21 · n = 33</a:t>
            </a:r>
            <a:endParaRPr lang="en-US" sz="1100" dirty="0"/>
          </a:p>
        </p:txBody>
      </p:sp>
      <p:sp>
        <p:nvSpPr>
          <p:cNvPr id="15" name="Text 12"/>
          <p:cNvSpPr/>
          <p:nvPr/>
        </p:nvSpPr>
        <p:spPr>
          <a:xfrm>
            <a:off x="7626096" y="3246120"/>
            <a:ext cx="3794760" cy="667512"/>
          </a:xfrm>
          <a:prstGeom prst="rect">
            <a:avLst/>
          </a:prstGeom>
          <a:noFill/>
          <a:ln/>
        </p:spPr>
        <p:txBody>
          <a:bodyPr wrap="square" lIns="0" tIns="0" rIns="0" bIns="0" rtlCol="0" anchor="t">
            <a:normAutofit/>
          </a:bodyPr>
          <a:lstStyle/>
          <a:p>
            <a:pPr indent="0" marL="0">
              <a:buNone/>
            </a:pPr>
            <a:r>
              <a:rPr lang="en-US" sz="950" dirty="0">
                <a:solidFill>
                  <a:srgbClr val="273142"/>
                </a:solidFill>
                <a:latin typeface="Arial" pitchFamily="34" charset="0"/>
                <a:ea typeface="Arial" pitchFamily="34" charset="-122"/>
                <a:cs typeface="Arial" pitchFamily="34" charset="-120"/>
              </a:rPr>
              <a:t>GBM accuracy: 63.6%</a:t>
            </a:r>
            <a:endParaRPr lang="en-US" sz="950" dirty="0"/>
          </a:p>
          <a:p>
            <a:pPr indent="0" marL="0">
              <a:buNone/>
            </a:pPr>
            <a:r>
              <a:rPr lang="en-US" sz="950" dirty="0">
                <a:solidFill>
                  <a:srgbClr val="273142"/>
                </a:solidFill>
                <a:latin typeface="Arial" pitchFamily="34" charset="0"/>
                <a:ea typeface="Arial" pitchFamily="34" charset="-122"/>
                <a:cs typeface="Arial" pitchFamily="34" charset="-120"/>
              </a:rPr>
              <a:t>Balanced accuracy: 58.7%</a:t>
            </a:r>
            <a:endParaRPr lang="en-US" sz="950" dirty="0"/>
          </a:p>
          <a:p>
            <a:pPr indent="0" marL="0">
              <a:buNone/>
            </a:pPr>
            <a:r>
              <a:rPr lang="en-US" sz="950" dirty="0">
                <a:solidFill>
                  <a:srgbClr val="273142"/>
                </a:solidFill>
                <a:latin typeface="Arial" pitchFamily="34" charset="0"/>
                <a:ea typeface="Arial" pitchFamily="34" charset="-122"/>
                <a:cs typeface="Arial" pitchFamily="34" charset="-120"/>
              </a:rPr>
              <a:t>RPS: 0.161 · Log Loss: 0.828 · ECE: 0.177</a:t>
            </a:r>
            <a:endParaRPr lang="en-US" sz="950" dirty="0"/>
          </a:p>
        </p:txBody>
      </p:sp>
      <p:sp>
        <p:nvSpPr>
          <p:cNvPr id="16" name="Shape 13"/>
          <p:cNvSpPr/>
          <p:nvPr/>
        </p:nvSpPr>
        <p:spPr>
          <a:xfrm>
            <a:off x="7424928" y="4279392"/>
            <a:ext cx="4160520" cy="987552"/>
          </a:xfrm>
          <a:prstGeom prst="roundRect">
            <a:avLst>
              <a:gd name="adj" fmla="val 7407"/>
            </a:avLst>
          </a:prstGeom>
          <a:solidFill>
            <a:srgbClr val="FDECEC"/>
          </a:solidFill>
          <a:ln w="10160">
            <a:solidFill>
              <a:srgbClr val="DDE5EA"/>
            </a:solidFill>
            <a:prstDash val="solid"/>
          </a:ln>
          <a:effectLst>
            <a:outerShdw sx="100000" sy="100000" kx="0" ky="0" algn="bl" rotWithShape="0" blurRad="2.0295721901176076e+246" dist="6.765240633725361e+245" dir="2.1993155091310177e+288">
              <a:srgbClr val="000000">
                <a:alpha val="1.4000000000000004e+299"/>
              </a:srgbClr>
            </a:outerShdw>
          </a:effectLst>
        </p:spPr>
      </p:sp>
      <p:sp>
        <p:nvSpPr>
          <p:cNvPr id="17" name="Shape 14"/>
          <p:cNvSpPr/>
          <p:nvPr/>
        </p:nvSpPr>
        <p:spPr>
          <a:xfrm>
            <a:off x="7424928" y="4279392"/>
            <a:ext cx="73152" cy="987552"/>
          </a:xfrm>
          <a:prstGeom prst="rect">
            <a:avLst/>
          </a:prstGeom>
          <a:solidFill>
            <a:srgbClr val="C94949"/>
          </a:solidFill>
          <a:ln w="12700">
            <a:solidFill>
              <a:srgbClr val="C94949"/>
            </a:solidFill>
            <a:prstDash val="solid"/>
          </a:ln>
        </p:spPr>
      </p:sp>
      <p:sp>
        <p:nvSpPr>
          <p:cNvPr id="18" name="Text 15"/>
          <p:cNvSpPr/>
          <p:nvPr/>
        </p:nvSpPr>
        <p:spPr>
          <a:xfrm>
            <a:off x="7626096" y="4425696"/>
            <a:ext cx="3813048" cy="256032"/>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What not to say</a:t>
            </a:r>
            <a:endParaRPr lang="en-US" sz="1050" dirty="0"/>
          </a:p>
        </p:txBody>
      </p:sp>
      <p:sp>
        <p:nvSpPr>
          <p:cNvPr id="19" name="Text 16"/>
          <p:cNvSpPr/>
          <p:nvPr/>
        </p:nvSpPr>
        <p:spPr>
          <a:xfrm>
            <a:off x="7626096" y="4754880"/>
            <a:ext cx="3794760" cy="393192"/>
          </a:xfrm>
          <a:prstGeom prst="rect">
            <a:avLst/>
          </a:prstGeom>
          <a:noFill/>
          <a:ln/>
        </p:spPr>
        <p:txBody>
          <a:bodyPr wrap="square" lIns="0" tIns="0" rIns="0" bIns="0" rtlCol="0" anchor="t">
            <a:normAutofit/>
          </a:bodyPr>
          <a:lstStyle/>
          <a:p>
            <a:pPr indent="0" marL="0">
              <a:buNone/>
            </a:pPr>
            <a:r>
              <a:rPr lang="en-US" sz="920" dirty="0">
                <a:solidFill>
                  <a:srgbClr val="273142"/>
                </a:solidFill>
                <a:latin typeface="Arial" pitchFamily="34" charset="0"/>
                <a:ea typeface="Arial" pitchFamily="34" charset="-122"/>
                <a:cs typeface="Arial" pitchFamily="34" charset="-120"/>
              </a:rPr>
              <a:t>Do not call 63.6% “the accuracy of the model.” It is GBM on one specific held-out season/subset.</a:t>
            </a:r>
            <a:endParaRPr lang="en-US" sz="920" dirty="0"/>
          </a:p>
        </p:txBody>
      </p:sp>
      <p:sp>
        <p:nvSpPr>
          <p:cNvPr id="20" name="Shape 17"/>
          <p:cNvSpPr/>
          <p:nvPr/>
        </p:nvSpPr>
        <p:spPr>
          <a:xfrm>
            <a:off x="7424928" y="5504688"/>
            <a:ext cx="4160520" cy="566928"/>
          </a:xfrm>
          <a:prstGeom prst="roundRect">
            <a:avLst>
              <a:gd name="adj" fmla="val 9677"/>
            </a:avLst>
          </a:prstGeom>
          <a:solidFill>
            <a:srgbClr val="E9F8F3"/>
          </a:solidFill>
          <a:ln w="12700">
            <a:solidFill>
              <a:srgbClr val="E9F8F3"/>
            </a:solidFill>
            <a:prstDash val="solid"/>
          </a:ln>
        </p:spPr>
      </p:sp>
      <p:sp>
        <p:nvSpPr>
          <p:cNvPr id="21" name="Shape 18"/>
          <p:cNvSpPr/>
          <p:nvPr/>
        </p:nvSpPr>
        <p:spPr>
          <a:xfrm>
            <a:off x="7424928" y="5504688"/>
            <a:ext cx="91440" cy="566928"/>
          </a:xfrm>
          <a:prstGeom prst="rect">
            <a:avLst/>
          </a:prstGeom>
          <a:solidFill>
            <a:srgbClr val="0B8F6A"/>
          </a:solidFill>
          <a:ln w="12700">
            <a:solidFill>
              <a:srgbClr val="0B8F6A"/>
            </a:solidFill>
            <a:prstDash val="solid"/>
          </a:ln>
        </p:spPr>
      </p:sp>
      <p:sp>
        <p:nvSpPr>
          <p:cNvPr id="22" name="Text 19"/>
          <p:cNvSpPr/>
          <p:nvPr/>
        </p:nvSpPr>
        <p:spPr>
          <a:xfrm>
            <a:off x="7644384" y="5623560"/>
            <a:ext cx="379476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Takeaway</a:t>
            </a:r>
            <a:endParaRPr lang="en-US" sz="1050" dirty="0"/>
          </a:p>
        </p:txBody>
      </p:sp>
      <p:sp>
        <p:nvSpPr>
          <p:cNvPr id="23" name="Text 20"/>
          <p:cNvSpPr/>
          <p:nvPr/>
        </p:nvSpPr>
        <p:spPr>
          <a:xfrm>
            <a:off x="7644384" y="5897880"/>
            <a:ext cx="3776472" cy="73152"/>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No universal winner; season-to-season stability and probability quality matter.</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10 · RESULTS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Pre-match goal-margin regression</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Tree boosting is strongest on average; the final split is easier than earlier splits.</a:t>
            </a:r>
            <a:endParaRPr lang="en-US" sz="1050" dirty="0"/>
          </a:p>
        </p:txBody>
      </p:sp>
      <p:sp>
        <p:nvSpPr>
          <p:cNvPr id="5" name="Shape 3"/>
          <p:cNvSpPr/>
          <p:nvPr/>
        </p:nvSpPr>
        <p:spPr>
          <a:xfrm>
            <a:off x="594360" y="1426464"/>
            <a:ext cx="6949440" cy="4526280"/>
          </a:xfrm>
          <a:prstGeom prst="roundRect">
            <a:avLst>
              <a:gd name="adj" fmla="val 1010"/>
            </a:avLst>
          </a:prstGeom>
          <a:solidFill>
            <a:srgbClr val="FFFFFF"/>
          </a:solidFill>
          <a:ln w="10160">
            <a:solidFill>
              <a:srgbClr val="DDE5EA"/>
            </a:solidFill>
            <a:prstDash val="solid"/>
          </a:ln>
          <a:effectLst>
            <a:outerShdw sx="100000" sy="100000" kx="0" ky="0" algn="bl" rotWithShape="0" blurRad="2.5775566814493618e+250" dist="8.591855604831208e+249" dir="1.3195893054786106e+293">
              <a:srgbClr val="000000">
                <a:alpha val="1.4000000000000003e+304"/>
              </a:srgbClr>
            </a:outerShdw>
          </a:effectLst>
        </p:spPr>
      </p:sp>
      <p:pic>
        <p:nvPicPr>
          <p:cNvPr id="6" name="Image 0" descr="/mnt/data/final_artifacts/assets/taskR_average_mae.png">    </p:cNvPr>
          <p:cNvPicPr>
            <a:picLocks noChangeAspect="1"/>
          </p:cNvPicPr>
          <p:nvPr/>
        </p:nvPicPr>
        <p:blipFill>
          <a:blip r:embed="rId1"/>
          <a:stretch>
            <a:fillRect/>
          </a:stretch>
        </p:blipFill>
        <p:spPr>
          <a:xfrm>
            <a:off x="888185" y="1517904"/>
            <a:ext cx="6361791" cy="4087368"/>
          </a:xfrm>
          <a:prstGeom prst="rect">
            <a:avLst/>
          </a:prstGeom>
        </p:spPr>
      </p:pic>
      <p:sp>
        <p:nvSpPr>
          <p:cNvPr id="7" name="Text 4"/>
          <p:cNvSpPr/>
          <p:nvPr/>
        </p:nvSpPr>
        <p:spPr>
          <a:xfrm>
            <a:off x="758952" y="5650992"/>
            <a:ext cx="6620256" cy="164592"/>
          </a:xfrm>
          <a:prstGeom prst="rect">
            <a:avLst/>
          </a:prstGeom>
          <a:noFill/>
          <a:ln/>
        </p:spPr>
        <p:txBody>
          <a:bodyPr wrap="square" lIns="0" tIns="0" rIns="0" bIns="0" rtlCol="0" anchor="ctr">
            <a:normAutofit/>
          </a:bodyPr>
          <a:lstStyle/>
          <a:p>
            <a:pPr algn="ctr" indent="0" marL="0">
              <a:buNone/>
            </a:pPr>
            <a:r>
              <a:rPr lang="en-US" sz="780" i="1" dirty="0">
                <a:solidFill>
                  <a:srgbClr val="5B6577"/>
                </a:solidFill>
                <a:latin typeface="Arial" pitchFamily="34" charset="0"/>
                <a:ea typeface="Arial" pitchFamily="34" charset="-122"/>
                <a:cs typeface="Arial" pitchFamily="34" charset="-120"/>
              </a:rPr>
              <a:t>Mean absolute error across the three chronological test seasons.</a:t>
            </a:r>
            <a:endParaRPr lang="en-US" sz="780" dirty="0"/>
          </a:p>
        </p:txBody>
      </p:sp>
      <p:sp>
        <p:nvSpPr>
          <p:cNvPr id="8" name="Shape 5"/>
          <p:cNvSpPr/>
          <p:nvPr/>
        </p:nvSpPr>
        <p:spPr>
          <a:xfrm>
            <a:off x="7790688" y="1481328"/>
            <a:ext cx="3584448" cy="1335024"/>
          </a:xfrm>
          <a:prstGeom prst="roundRect">
            <a:avLst>
              <a:gd name="adj" fmla="val 5479"/>
            </a:avLst>
          </a:prstGeom>
          <a:solidFill>
            <a:srgbClr val="FFFFFF"/>
          </a:solidFill>
          <a:ln w="10160">
            <a:solidFill>
              <a:srgbClr val="DDE5EA"/>
            </a:solidFill>
            <a:prstDash val="solid"/>
          </a:ln>
        </p:spPr>
      </p:sp>
      <p:sp>
        <p:nvSpPr>
          <p:cNvPr id="9" name="Shape 6"/>
          <p:cNvSpPr/>
          <p:nvPr/>
        </p:nvSpPr>
        <p:spPr>
          <a:xfrm>
            <a:off x="7790688" y="1481328"/>
            <a:ext cx="73152" cy="1335024"/>
          </a:xfrm>
          <a:prstGeom prst="rect">
            <a:avLst/>
          </a:prstGeom>
          <a:solidFill>
            <a:srgbClr val="0B8F6A"/>
          </a:solidFill>
          <a:ln w="12700">
            <a:solidFill>
              <a:srgbClr val="0B8F6A"/>
            </a:solidFill>
            <a:prstDash val="solid"/>
          </a:ln>
        </p:spPr>
      </p:sp>
      <p:sp>
        <p:nvSpPr>
          <p:cNvPr id="10" name="Text 7"/>
          <p:cNvSpPr/>
          <p:nvPr/>
        </p:nvSpPr>
        <p:spPr>
          <a:xfrm>
            <a:off x="7991856" y="1627632"/>
            <a:ext cx="3236976"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Cross-season average</a:t>
            </a:r>
            <a:endParaRPr lang="en-US" sz="1100" dirty="0"/>
          </a:p>
        </p:txBody>
      </p:sp>
      <p:sp>
        <p:nvSpPr>
          <p:cNvPr id="11" name="Text 8"/>
          <p:cNvSpPr/>
          <p:nvPr/>
        </p:nvSpPr>
        <p:spPr>
          <a:xfrm>
            <a:off x="7991856" y="1956816"/>
            <a:ext cx="3218688" cy="740664"/>
          </a:xfrm>
          <a:prstGeom prst="rect">
            <a:avLst/>
          </a:prstGeom>
          <a:noFill/>
          <a:ln/>
        </p:spPr>
        <p:txBody>
          <a:bodyPr wrap="square" lIns="0" tIns="0" rIns="0" bIns="0" rtlCol="0" anchor="t">
            <a:normAutofit/>
          </a:bodyPr>
          <a:lstStyle/>
          <a:p>
            <a:pPr indent="0" marL="0">
              <a:buNone/>
            </a:pPr>
            <a:r>
              <a:rPr lang="en-US" sz="1000" dirty="0">
                <a:solidFill>
                  <a:srgbClr val="273142"/>
                </a:solidFill>
                <a:latin typeface="Arial" pitchFamily="34" charset="0"/>
                <a:ea typeface="Arial" pitchFamily="34" charset="-122"/>
                <a:cs typeface="Arial" pitchFamily="34" charset="-120"/>
              </a:rPr>
              <a:t>XGBoost MAE ≈ 1.05 goals</a:t>
            </a:r>
            <a:endParaRPr lang="en-US" sz="1000" dirty="0"/>
          </a:p>
          <a:p>
            <a:pPr indent="0" marL="0">
              <a:buNone/>
            </a:pPr>
            <a:r>
              <a:rPr lang="en-US" sz="1000" dirty="0">
                <a:solidFill>
                  <a:srgbClr val="273142"/>
                </a:solidFill>
                <a:latin typeface="Arial" pitchFamily="34" charset="0"/>
                <a:ea typeface="Arial" pitchFamily="34" charset="-122"/>
                <a:cs typeface="Arial" pitchFamily="34" charset="-120"/>
              </a:rPr>
              <a:t>GBM MAE ≈ 1.06</a:t>
            </a:r>
            <a:endParaRPr lang="en-US" sz="1000" dirty="0"/>
          </a:p>
          <a:p>
            <a:pPr indent="0" marL="0">
              <a:buNone/>
            </a:pPr>
            <a:r>
              <a:rPr lang="en-US" sz="1000" dirty="0">
                <a:solidFill>
                  <a:srgbClr val="273142"/>
                </a:solidFill>
                <a:latin typeface="Arial" pitchFamily="34" charset="0"/>
                <a:ea typeface="Arial" pitchFamily="34" charset="-122"/>
                <a:cs typeface="Arial" pitchFamily="34" charset="-120"/>
              </a:rPr>
              <a:t>Random Forest MAE ≈ 1.16</a:t>
            </a:r>
            <a:endParaRPr lang="en-US" sz="1000" dirty="0"/>
          </a:p>
        </p:txBody>
      </p:sp>
      <p:sp>
        <p:nvSpPr>
          <p:cNvPr id="12" name="Shape 9"/>
          <p:cNvSpPr/>
          <p:nvPr/>
        </p:nvSpPr>
        <p:spPr>
          <a:xfrm>
            <a:off x="7790688" y="3035808"/>
            <a:ext cx="3584448" cy="1417320"/>
          </a:xfrm>
          <a:prstGeom prst="roundRect">
            <a:avLst>
              <a:gd name="adj" fmla="val 5161"/>
            </a:avLst>
          </a:prstGeom>
          <a:solidFill>
            <a:srgbClr val="FFF5D8"/>
          </a:solidFill>
          <a:ln w="10160">
            <a:solidFill>
              <a:srgbClr val="DDE5EA"/>
            </a:solidFill>
            <a:prstDash val="solid"/>
          </a:ln>
        </p:spPr>
      </p:sp>
      <p:sp>
        <p:nvSpPr>
          <p:cNvPr id="13" name="Shape 10"/>
          <p:cNvSpPr/>
          <p:nvPr/>
        </p:nvSpPr>
        <p:spPr>
          <a:xfrm>
            <a:off x="7790688" y="3035808"/>
            <a:ext cx="73152" cy="1417320"/>
          </a:xfrm>
          <a:prstGeom prst="rect">
            <a:avLst/>
          </a:prstGeom>
          <a:solidFill>
            <a:srgbClr val="F4B942"/>
          </a:solidFill>
          <a:ln w="12700">
            <a:solidFill>
              <a:srgbClr val="F4B942"/>
            </a:solidFill>
            <a:prstDash val="solid"/>
          </a:ln>
        </p:spPr>
      </p:sp>
      <p:sp>
        <p:nvSpPr>
          <p:cNvPr id="14" name="Text 11"/>
          <p:cNvSpPr/>
          <p:nvPr/>
        </p:nvSpPr>
        <p:spPr>
          <a:xfrm>
            <a:off x="7991856" y="3182112"/>
            <a:ext cx="3236976"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Held-out 2020/21</a:t>
            </a:r>
            <a:endParaRPr lang="en-US" sz="1100" dirty="0"/>
          </a:p>
        </p:txBody>
      </p:sp>
      <p:sp>
        <p:nvSpPr>
          <p:cNvPr id="15" name="Text 12"/>
          <p:cNvSpPr/>
          <p:nvPr/>
        </p:nvSpPr>
        <p:spPr>
          <a:xfrm>
            <a:off x="7991856" y="3511296"/>
            <a:ext cx="3218688" cy="822960"/>
          </a:xfrm>
          <a:prstGeom prst="rect">
            <a:avLst/>
          </a:prstGeom>
          <a:noFill/>
          <a:ln/>
        </p:spPr>
        <p:txBody>
          <a:bodyPr wrap="square" lIns="0" tIns="0" rIns="0" bIns="0" rtlCol="0" anchor="t">
            <a:normAutofit/>
          </a:bodyPr>
          <a:lstStyle/>
          <a:p>
            <a:pPr indent="0" marL="0">
              <a:buNone/>
            </a:pPr>
            <a:r>
              <a:rPr lang="en-US" sz="970" dirty="0">
                <a:solidFill>
                  <a:srgbClr val="273142"/>
                </a:solidFill>
                <a:latin typeface="Arial" pitchFamily="34" charset="0"/>
                <a:ea typeface="Arial" pitchFamily="34" charset="-122"/>
                <a:cs typeface="Arial" pitchFamily="34" charset="-120"/>
              </a:rPr>
              <a:t>GBM MAE: 0.452</a:t>
            </a:r>
            <a:endParaRPr lang="en-US" sz="970" dirty="0"/>
          </a:p>
          <a:p>
            <a:pPr indent="0" marL="0">
              <a:buNone/>
            </a:pPr>
            <a:r>
              <a:rPr lang="en-US" sz="970" dirty="0">
                <a:solidFill>
                  <a:srgbClr val="273142"/>
                </a:solidFill>
                <a:latin typeface="Arial" pitchFamily="34" charset="0"/>
                <a:ea typeface="Arial" pitchFamily="34" charset="-122"/>
                <a:cs typeface="Arial" pitchFamily="34" charset="-120"/>
              </a:rPr>
              <a:t>RMSE: 0.679</a:t>
            </a:r>
            <a:endParaRPr lang="en-US" sz="970" dirty="0"/>
          </a:p>
          <a:p>
            <a:pPr indent="0" marL="0">
              <a:buNone/>
            </a:pPr>
            <a:r>
              <a:rPr lang="en-US" sz="970" dirty="0">
                <a:solidFill>
                  <a:srgbClr val="273142"/>
                </a:solidFill>
                <a:latin typeface="Arial" pitchFamily="34" charset="0"/>
                <a:ea typeface="Arial" pitchFamily="34" charset="-122"/>
                <a:cs typeface="Arial" pitchFamily="34" charset="-120"/>
              </a:rPr>
              <a:t>R²: 0.905</a:t>
            </a:r>
            <a:endParaRPr lang="en-US" sz="970" dirty="0"/>
          </a:p>
          <a:p>
            <a:pPr indent="0" marL="0">
              <a:buNone/>
            </a:pPr>
            <a:r>
              <a:rPr lang="en-US" sz="970" dirty="0">
                <a:solidFill>
                  <a:srgbClr val="273142"/>
                </a:solidFill>
                <a:latin typeface="Arial" pitchFamily="34" charset="0"/>
                <a:ea typeface="Arial" pitchFamily="34" charset="-122"/>
                <a:cs typeface="Arial" pitchFamily="34" charset="-120"/>
              </a:rPr>
              <a:t>Correlation: 0.953</a:t>
            </a:r>
            <a:endParaRPr lang="en-US" sz="970" dirty="0"/>
          </a:p>
        </p:txBody>
      </p:sp>
      <p:sp>
        <p:nvSpPr>
          <p:cNvPr id="16" name="Shape 13"/>
          <p:cNvSpPr/>
          <p:nvPr/>
        </p:nvSpPr>
        <p:spPr>
          <a:xfrm>
            <a:off x="7790688" y="4709160"/>
            <a:ext cx="3584448" cy="932688"/>
          </a:xfrm>
          <a:prstGeom prst="roundRect">
            <a:avLst>
              <a:gd name="adj" fmla="val 5882"/>
            </a:avLst>
          </a:prstGeom>
          <a:solidFill>
            <a:srgbClr val="FFF5D8"/>
          </a:solidFill>
          <a:ln w="12700">
            <a:solidFill>
              <a:srgbClr val="FFF5D8"/>
            </a:solidFill>
            <a:prstDash val="solid"/>
          </a:ln>
        </p:spPr>
      </p:sp>
      <p:sp>
        <p:nvSpPr>
          <p:cNvPr id="17" name="Shape 14"/>
          <p:cNvSpPr/>
          <p:nvPr/>
        </p:nvSpPr>
        <p:spPr>
          <a:xfrm>
            <a:off x="7790688" y="4709160"/>
            <a:ext cx="91440" cy="932688"/>
          </a:xfrm>
          <a:prstGeom prst="rect">
            <a:avLst/>
          </a:prstGeom>
          <a:solidFill>
            <a:srgbClr val="F4B942"/>
          </a:solidFill>
          <a:ln w="12700">
            <a:solidFill>
              <a:srgbClr val="F4B942"/>
            </a:solidFill>
            <a:prstDash val="solid"/>
          </a:ln>
        </p:spPr>
      </p:sp>
      <p:sp>
        <p:nvSpPr>
          <p:cNvPr id="18" name="Text 15"/>
          <p:cNvSpPr/>
          <p:nvPr/>
        </p:nvSpPr>
        <p:spPr>
          <a:xfrm>
            <a:off x="8010144" y="4828032"/>
            <a:ext cx="3218688"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Interpretation</a:t>
            </a:r>
            <a:endParaRPr lang="en-US" sz="1050" dirty="0"/>
          </a:p>
        </p:txBody>
      </p:sp>
      <p:sp>
        <p:nvSpPr>
          <p:cNvPr id="19" name="Text 16"/>
          <p:cNvSpPr/>
          <p:nvPr/>
        </p:nvSpPr>
        <p:spPr>
          <a:xfrm>
            <a:off x="8010144" y="5102352"/>
            <a:ext cx="3200400" cy="438912"/>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That excellent final-split score is based on only 33 matches and is not representative of all seasons by itself.</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11 · CALIBRATION</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Probability quality: calibration matters</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Random Forest example on the held-out 2019/20 split.</a:t>
            </a:r>
            <a:endParaRPr lang="en-US" sz="1050" dirty="0"/>
          </a:p>
        </p:txBody>
      </p:sp>
      <p:sp>
        <p:nvSpPr>
          <p:cNvPr id="5" name="Shape 3"/>
          <p:cNvSpPr/>
          <p:nvPr/>
        </p:nvSpPr>
        <p:spPr>
          <a:xfrm>
            <a:off x="594360" y="1417320"/>
            <a:ext cx="6583680" cy="4526280"/>
          </a:xfrm>
          <a:prstGeom prst="roundRect">
            <a:avLst>
              <a:gd name="adj" fmla="val 1010"/>
            </a:avLst>
          </a:prstGeom>
          <a:solidFill>
            <a:srgbClr val="FFFFFF"/>
          </a:solidFill>
          <a:ln w="10160">
            <a:solidFill>
              <a:srgbClr val="DDE5EA"/>
            </a:solidFill>
            <a:prstDash val="solid"/>
          </a:ln>
        </p:spPr>
      </p:sp>
      <p:pic>
        <p:nvPicPr>
          <p:cNvPr id="6" name="Image 0" descr="/mnt/data/final_artifacts/assets/rf_split2_reliability_tuned.png">    </p:cNvPr>
          <p:cNvPicPr>
            <a:picLocks noChangeAspect="1"/>
          </p:cNvPicPr>
          <p:nvPr/>
        </p:nvPicPr>
        <p:blipFill>
          <a:blip r:embed="rId1"/>
          <a:stretch>
            <a:fillRect/>
          </a:stretch>
        </p:blipFill>
        <p:spPr>
          <a:xfrm>
            <a:off x="1188537" y="1508760"/>
            <a:ext cx="5395326" cy="4087368"/>
          </a:xfrm>
          <a:prstGeom prst="rect">
            <a:avLst/>
          </a:prstGeom>
        </p:spPr>
      </p:pic>
      <p:sp>
        <p:nvSpPr>
          <p:cNvPr id="7" name="Text 4"/>
          <p:cNvSpPr/>
          <p:nvPr/>
        </p:nvSpPr>
        <p:spPr>
          <a:xfrm>
            <a:off x="758952" y="5641848"/>
            <a:ext cx="6254496" cy="164592"/>
          </a:xfrm>
          <a:prstGeom prst="rect">
            <a:avLst/>
          </a:prstGeom>
          <a:noFill/>
          <a:ln/>
        </p:spPr>
        <p:txBody>
          <a:bodyPr wrap="square" lIns="0" tIns="0" rIns="0" bIns="0" rtlCol="0" anchor="ctr">
            <a:normAutofit/>
          </a:bodyPr>
          <a:lstStyle/>
          <a:p>
            <a:pPr algn="ctr" indent="0" marL="0">
              <a:buNone/>
            </a:pPr>
            <a:r>
              <a:rPr lang="en-US" sz="780" i="1" dirty="0">
                <a:solidFill>
                  <a:srgbClr val="5B6577"/>
                </a:solidFill>
                <a:latin typeface="Arial" pitchFamily="34" charset="0"/>
                <a:ea typeface="Arial" pitchFamily="34" charset="-122"/>
                <a:cs typeface="Arial" pitchFamily="34" charset="-120"/>
              </a:rPr>
              <a:t>Regenerated from saved Random Forest prediction CSVs (uncalibrated vs isotonic).</a:t>
            </a:r>
            <a:endParaRPr lang="en-US" sz="780" dirty="0"/>
          </a:p>
        </p:txBody>
      </p:sp>
      <p:sp>
        <p:nvSpPr>
          <p:cNvPr id="8" name="Shape 5"/>
          <p:cNvSpPr/>
          <p:nvPr/>
        </p:nvSpPr>
        <p:spPr>
          <a:xfrm>
            <a:off x="7498080" y="1600200"/>
            <a:ext cx="1828800" cy="960120"/>
          </a:xfrm>
          <a:prstGeom prst="roundRect">
            <a:avLst>
              <a:gd name="adj" fmla="val 7619"/>
            </a:avLst>
          </a:prstGeom>
          <a:solidFill>
            <a:srgbClr val="FFFFFF"/>
          </a:solidFill>
          <a:ln w="10160">
            <a:solidFill>
              <a:srgbClr val="DDE5EA"/>
            </a:solidFill>
            <a:prstDash val="solid"/>
          </a:ln>
        </p:spPr>
      </p:sp>
      <p:sp>
        <p:nvSpPr>
          <p:cNvPr id="9" name="Shape 6"/>
          <p:cNvSpPr/>
          <p:nvPr/>
        </p:nvSpPr>
        <p:spPr>
          <a:xfrm>
            <a:off x="7498080" y="1600200"/>
            <a:ext cx="73152" cy="960120"/>
          </a:xfrm>
          <a:prstGeom prst="rect">
            <a:avLst/>
          </a:prstGeom>
          <a:solidFill>
            <a:srgbClr val="F4B942"/>
          </a:solidFill>
          <a:ln w="12700">
            <a:solidFill>
              <a:srgbClr val="F4B942"/>
            </a:solidFill>
            <a:prstDash val="solid"/>
          </a:ln>
        </p:spPr>
      </p:sp>
      <p:sp>
        <p:nvSpPr>
          <p:cNvPr id="10" name="Text 7"/>
          <p:cNvSpPr/>
          <p:nvPr/>
        </p:nvSpPr>
        <p:spPr>
          <a:xfrm>
            <a:off x="7680960" y="1746504"/>
            <a:ext cx="155448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0.177</a:t>
            </a:r>
            <a:endParaRPr lang="en-US" sz="2300" dirty="0"/>
          </a:p>
        </p:txBody>
      </p:sp>
      <p:sp>
        <p:nvSpPr>
          <p:cNvPr id="11" name="Text 8"/>
          <p:cNvSpPr/>
          <p:nvPr/>
        </p:nvSpPr>
        <p:spPr>
          <a:xfrm>
            <a:off x="7644384" y="2185416"/>
            <a:ext cx="160934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ECE before</a:t>
            </a:r>
            <a:endParaRPr lang="en-US" sz="850" dirty="0"/>
          </a:p>
        </p:txBody>
      </p:sp>
      <p:sp>
        <p:nvSpPr>
          <p:cNvPr id="12" name="Shape 9"/>
          <p:cNvSpPr/>
          <p:nvPr/>
        </p:nvSpPr>
        <p:spPr>
          <a:xfrm>
            <a:off x="9528048" y="1600200"/>
            <a:ext cx="1828800" cy="960120"/>
          </a:xfrm>
          <a:prstGeom prst="roundRect">
            <a:avLst>
              <a:gd name="adj" fmla="val 7619"/>
            </a:avLst>
          </a:prstGeom>
          <a:solidFill>
            <a:srgbClr val="FFFFFF"/>
          </a:solidFill>
          <a:ln w="10160">
            <a:solidFill>
              <a:srgbClr val="DDE5EA"/>
            </a:solidFill>
            <a:prstDash val="solid"/>
          </a:ln>
        </p:spPr>
      </p:sp>
      <p:sp>
        <p:nvSpPr>
          <p:cNvPr id="13" name="Shape 10"/>
          <p:cNvSpPr/>
          <p:nvPr/>
        </p:nvSpPr>
        <p:spPr>
          <a:xfrm>
            <a:off x="9528048" y="1600200"/>
            <a:ext cx="73152" cy="960120"/>
          </a:xfrm>
          <a:prstGeom prst="rect">
            <a:avLst/>
          </a:prstGeom>
          <a:solidFill>
            <a:srgbClr val="0B8F6A"/>
          </a:solidFill>
          <a:ln w="12700">
            <a:solidFill>
              <a:srgbClr val="0B8F6A"/>
            </a:solidFill>
            <a:prstDash val="solid"/>
          </a:ln>
        </p:spPr>
      </p:sp>
      <p:sp>
        <p:nvSpPr>
          <p:cNvPr id="14" name="Text 11"/>
          <p:cNvSpPr/>
          <p:nvPr/>
        </p:nvSpPr>
        <p:spPr>
          <a:xfrm>
            <a:off x="9710928" y="1746504"/>
            <a:ext cx="155448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0.075</a:t>
            </a:r>
            <a:endParaRPr lang="en-US" sz="2300" dirty="0"/>
          </a:p>
        </p:txBody>
      </p:sp>
      <p:sp>
        <p:nvSpPr>
          <p:cNvPr id="15" name="Text 12"/>
          <p:cNvSpPr/>
          <p:nvPr/>
        </p:nvSpPr>
        <p:spPr>
          <a:xfrm>
            <a:off x="9674352" y="2185416"/>
            <a:ext cx="160934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ECE isotonic</a:t>
            </a:r>
            <a:endParaRPr lang="en-US" sz="850" dirty="0"/>
          </a:p>
        </p:txBody>
      </p:sp>
      <p:sp>
        <p:nvSpPr>
          <p:cNvPr id="16" name="Shape 13"/>
          <p:cNvSpPr/>
          <p:nvPr/>
        </p:nvSpPr>
        <p:spPr>
          <a:xfrm>
            <a:off x="7498080" y="2834640"/>
            <a:ext cx="1828800" cy="960120"/>
          </a:xfrm>
          <a:prstGeom prst="roundRect">
            <a:avLst>
              <a:gd name="adj" fmla="val 7619"/>
            </a:avLst>
          </a:prstGeom>
          <a:solidFill>
            <a:srgbClr val="FFFFFF"/>
          </a:solidFill>
          <a:ln w="10160">
            <a:solidFill>
              <a:srgbClr val="DDE5EA"/>
            </a:solidFill>
            <a:prstDash val="solid"/>
          </a:ln>
        </p:spPr>
      </p:sp>
      <p:sp>
        <p:nvSpPr>
          <p:cNvPr id="17" name="Shape 14"/>
          <p:cNvSpPr/>
          <p:nvPr/>
        </p:nvSpPr>
        <p:spPr>
          <a:xfrm>
            <a:off x="7498080" y="2834640"/>
            <a:ext cx="73152" cy="960120"/>
          </a:xfrm>
          <a:prstGeom prst="rect">
            <a:avLst/>
          </a:prstGeom>
          <a:solidFill>
            <a:srgbClr val="F4B942"/>
          </a:solidFill>
          <a:ln w="12700">
            <a:solidFill>
              <a:srgbClr val="F4B942"/>
            </a:solidFill>
            <a:prstDash val="solid"/>
          </a:ln>
        </p:spPr>
      </p:sp>
      <p:sp>
        <p:nvSpPr>
          <p:cNvPr id="18" name="Text 15"/>
          <p:cNvSpPr/>
          <p:nvPr/>
        </p:nvSpPr>
        <p:spPr>
          <a:xfrm>
            <a:off x="7680960" y="2980944"/>
            <a:ext cx="155448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0.157</a:t>
            </a:r>
            <a:endParaRPr lang="en-US" sz="2300" dirty="0"/>
          </a:p>
        </p:txBody>
      </p:sp>
      <p:sp>
        <p:nvSpPr>
          <p:cNvPr id="19" name="Text 16"/>
          <p:cNvSpPr/>
          <p:nvPr/>
        </p:nvSpPr>
        <p:spPr>
          <a:xfrm>
            <a:off x="7644384" y="3419856"/>
            <a:ext cx="160934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RPS before</a:t>
            </a:r>
            <a:endParaRPr lang="en-US" sz="850" dirty="0"/>
          </a:p>
        </p:txBody>
      </p:sp>
      <p:sp>
        <p:nvSpPr>
          <p:cNvPr id="20" name="Shape 17"/>
          <p:cNvSpPr/>
          <p:nvPr/>
        </p:nvSpPr>
        <p:spPr>
          <a:xfrm>
            <a:off x="9528048" y="2834640"/>
            <a:ext cx="1828800" cy="960120"/>
          </a:xfrm>
          <a:prstGeom prst="roundRect">
            <a:avLst>
              <a:gd name="adj" fmla="val 7619"/>
            </a:avLst>
          </a:prstGeom>
          <a:solidFill>
            <a:srgbClr val="FFFFFF"/>
          </a:solidFill>
          <a:ln w="10160">
            <a:solidFill>
              <a:srgbClr val="DDE5EA"/>
            </a:solidFill>
            <a:prstDash val="solid"/>
          </a:ln>
        </p:spPr>
      </p:sp>
      <p:sp>
        <p:nvSpPr>
          <p:cNvPr id="21" name="Shape 18"/>
          <p:cNvSpPr/>
          <p:nvPr/>
        </p:nvSpPr>
        <p:spPr>
          <a:xfrm>
            <a:off x="9528048" y="2834640"/>
            <a:ext cx="73152" cy="960120"/>
          </a:xfrm>
          <a:prstGeom prst="rect">
            <a:avLst/>
          </a:prstGeom>
          <a:solidFill>
            <a:srgbClr val="0B8F6A"/>
          </a:solidFill>
          <a:ln w="12700">
            <a:solidFill>
              <a:srgbClr val="0B8F6A"/>
            </a:solidFill>
            <a:prstDash val="solid"/>
          </a:ln>
        </p:spPr>
      </p:sp>
      <p:sp>
        <p:nvSpPr>
          <p:cNvPr id="22" name="Text 19"/>
          <p:cNvSpPr/>
          <p:nvPr/>
        </p:nvSpPr>
        <p:spPr>
          <a:xfrm>
            <a:off x="9710928" y="2980944"/>
            <a:ext cx="155448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0.127</a:t>
            </a:r>
            <a:endParaRPr lang="en-US" sz="2300" dirty="0"/>
          </a:p>
        </p:txBody>
      </p:sp>
      <p:sp>
        <p:nvSpPr>
          <p:cNvPr id="23" name="Text 20"/>
          <p:cNvSpPr/>
          <p:nvPr/>
        </p:nvSpPr>
        <p:spPr>
          <a:xfrm>
            <a:off x="9674352" y="3419856"/>
            <a:ext cx="160934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RPS isotonic</a:t>
            </a:r>
            <a:endParaRPr lang="en-US" sz="850" dirty="0"/>
          </a:p>
        </p:txBody>
      </p:sp>
      <p:sp>
        <p:nvSpPr>
          <p:cNvPr id="24" name="Shape 21"/>
          <p:cNvSpPr/>
          <p:nvPr/>
        </p:nvSpPr>
        <p:spPr>
          <a:xfrm>
            <a:off x="7498080" y="4069080"/>
            <a:ext cx="1828800" cy="960120"/>
          </a:xfrm>
          <a:prstGeom prst="roundRect">
            <a:avLst>
              <a:gd name="adj" fmla="val 7619"/>
            </a:avLst>
          </a:prstGeom>
          <a:solidFill>
            <a:srgbClr val="FFFFFF"/>
          </a:solidFill>
          <a:ln w="10160">
            <a:solidFill>
              <a:srgbClr val="DDE5EA"/>
            </a:solidFill>
            <a:prstDash val="solid"/>
          </a:ln>
        </p:spPr>
      </p:sp>
      <p:sp>
        <p:nvSpPr>
          <p:cNvPr id="25" name="Shape 22"/>
          <p:cNvSpPr/>
          <p:nvPr/>
        </p:nvSpPr>
        <p:spPr>
          <a:xfrm>
            <a:off x="7498080" y="4069080"/>
            <a:ext cx="73152" cy="960120"/>
          </a:xfrm>
          <a:prstGeom prst="rect">
            <a:avLst/>
          </a:prstGeom>
          <a:solidFill>
            <a:srgbClr val="F4B942"/>
          </a:solidFill>
          <a:ln w="12700">
            <a:solidFill>
              <a:srgbClr val="F4B942"/>
            </a:solidFill>
            <a:prstDash val="solid"/>
          </a:ln>
        </p:spPr>
      </p:sp>
      <p:sp>
        <p:nvSpPr>
          <p:cNvPr id="26" name="Text 23"/>
          <p:cNvSpPr/>
          <p:nvPr/>
        </p:nvSpPr>
        <p:spPr>
          <a:xfrm>
            <a:off x="7680960" y="4215384"/>
            <a:ext cx="155448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0.858</a:t>
            </a:r>
            <a:endParaRPr lang="en-US" sz="2300" dirty="0"/>
          </a:p>
        </p:txBody>
      </p:sp>
      <p:sp>
        <p:nvSpPr>
          <p:cNvPr id="27" name="Text 24"/>
          <p:cNvSpPr/>
          <p:nvPr/>
        </p:nvSpPr>
        <p:spPr>
          <a:xfrm>
            <a:off x="7644384" y="4654296"/>
            <a:ext cx="160934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Log Loss before</a:t>
            </a:r>
            <a:endParaRPr lang="en-US" sz="850" dirty="0"/>
          </a:p>
        </p:txBody>
      </p:sp>
      <p:sp>
        <p:nvSpPr>
          <p:cNvPr id="28" name="Shape 25"/>
          <p:cNvSpPr/>
          <p:nvPr/>
        </p:nvSpPr>
        <p:spPr>
          <a:xfrm>
            <a:off x="9528048" y="4069080"/>
            <a:ext cx="1828800" cy="960120"/>
          </a:xfrm>
          <a:prstGeom prst="roundRect">
            <a:avLst>
              <a:gd name="adj" fmla="val 7619"/>
            </a:avLst>
          </a:prstGeom>
          <a:solidFill>
            <a:srgbClr val="FFFFFF"/>
          </a:solidFill>
          <a:ln w="10160">
            <a:solidFill>
              <a:srgbClr val="DDE5EA"/>
            </a:solidFill>
            <a:prstDash val="solid"/>
          </a:ln>
        </p:spPr>
      </p:sp>
      <p:sp>
        <p:nvSpPr>
          <p:cNvPr id="29" name="Shape 26"/>
          <p:cNvSpPr/>
          <p:nvPr/>
        </p:nvSpPr>
        <p:spPr>
          <a:xfrm>
            <a:off x="9528048" y="4069080"/>
            <a:ext cx="73152" cy="960120"/>
          </a:xfrm>
          <a:prstGeom prst="rect">
            <a:avLst/>
          </a:prstGeom>
          <a:solidFill>
            <a:srgbClr val="0B8F6A"/>
          </a:solidFill>
          <a:ln w="12700">
            <a:solidFill>
              <a:srgbClr val="0B8F6A"/>
            </a:solidFill>
            <a:prstDash val="solid"/>
          </a:ln>
        </p:spPr>
      </p:sp>
      <p:sp>
        <p:nvSpPr>
          <p:cNvPr id="30" name="Text 27"/>
          <p:cNvSpPr/>
          <p:nvPr/>
        </p:nvSpPr>
        <p:spPr>
          <a:xfrm>
            <a:off x="9710928" y="4215384"/>
            <a:ext cx="1554480" cy="365760"/>
          </a:xfrm>
          <a:prstGeom prst="rect">
            <a:avLst/>
          </a:prstGeom>
          <a:noFill/>
          <a:ln/>
        </p:spPr>
        <p:txBody>
          <a:bodyPr wrap="square" lIns="0" tIns="0" rIns="0" bIns="0" rtlCol="0" anchor="ctr">
            <a:normAutofit/>
          </a:bodyPr>
          <a:lstStyle/>
          <a:p>
            <a:pPr algn="ctr" indent="0" marL="0">
              <a:buNone/>
            </a:pPr>
            <a:r>
              <a:rPr lang="en-US" sz="2300" b="1" dirty="0">
                <a:solidFill>
                  <a:srgbClr val="0B1220"/>
                </a:solidFill>
                <a:latin typeface="Arial" pitchFamily="34" charset="0"/>
                <a:ea typeface="Arial" pitchFamily="34" charset="-122"/>
                <a:cs typeface="Arial" pitchFamily="34" charset="-120"/>
              </a:rPr>
              <a:t>0.717</a:t>
            </a:r>
            <a:endParaRPr lang="en-US" sz="2300" dirty="0"/>
          </a:p>
        </p:txBody>
      </p:sp>
      <p:sp>
        <p:nvSpPr>
          <p:cNvPr id="31" name="Text 28"/>
          <p:cNvSpPr/>
          <p:nvPr/>
        </p:nvSpPr>
        <p:spPr>
          <a:xfrm>
            <a:off x="9674352" y="4654296"/>
            <a:ext cx="1609344" cy="182880"/>
          </a:xfrm>
          <a:prstGeom prst="rect">
            <a:avLst/>
          </a:prstGeom>
          <a:noFill/>
          <a:ln/>
        </p:spPr>
        <p:txBody>
          <a:bodyPr wrap="square" lIns="0" tIns="0" rIns="0" bIns="0" rtlCol="0" anchor="ctr">
            <a:normAutofit/>
          </a:bodyPr>
          <a:lstStyle/>
          <a:p>
            <a:pPr algn="ctr" indent="0" marL="0">
              <a:buNone/>
            </a:pPr>
            <a:r>
              <a:rPr lang="en-US" sz="850" b="1" dirty="0">
                <a:solidFill>
                  <a:srgbClr val="5B6577"/>
                </a:solidFill>
                <a:latin typeface="Arial" pitchFamily="34" charset="0"/>
                <a:ea typeface="Arial" pitchFamily="34" charset="-122"/>
                <a:cs typeface="Arial" pitchFamily="34" charset="-120"/>
              </a:rPr>
              <a:t>Log Loss isotonic</a:t>
            </a:r>
            <a:endParaRPr lang="en-US" sz="850" dirty="0"/>
          </a:p>
        </p:txBody>
      </p:sp>
      <p:sp>
        <p:nvSpPr>
          <p:cNvPr id="32" name="Shape 29"/>
          <p:cNvSpPr/>
          <p:nvPr/>
        </p:nvSpPr>
        <p:spPr>
          <a:xfrm>
            <a:off x="7498080" y="5340096"/>
            <a:ext cx="3858768" cy="621792"/>
          </a:xfrm>
          <a:prstGeom prst="roundRect">
            <a:avLst>
              <a:gd name="adj" fmla="val 8824"/>
            </a:avLst>
          </a:prstGeom>
          <a:solidFill>
            <a:srgbClr val="FFF5D8"/>
          </a:solidFill>
          <a:ln w="12700">
            <a:solidFill>
              <a:srgbClr val="FFF5D8"/>
            </a:solidFill>
            <a:prstDash val="solid"/>
          </a:ln>
        </p:spPr>
      </p:sp>
      <p:sp>
        <p:nvSpPr>
          <p:cNvPr id="33" name="Shape 30"/>
          <p:cNvSpPr/>
          <p:nvPr/>
        </p:nvSpPr>
        <p:spPr>
          <a:xfrm>
            <a:off x="7498080" y="5340096"/>
            <a:ext cx="91440" cy="621792"/>
          </a:xfrm>
          <a:prstGeom prst="rect">
            <a:avLst/>
          </a:prstGeom>
          <a:solidFill>
            <a:srgbClr val="F4B942"/>
          </a:solidFill>
          <a:ln w="12700">
            <a:solidFill>
              <a:srgbClr val="F4B942"/>
            </a:solidFill>
            <a:prstDash val="solid"/>
          </a:ln>
        </p:spPr>
      </p:sp>
      <p:sp>
        <p:nvSpPr>
          <p:cNvPr id="34" name="Text 31"/>
          <p:cNvSpPr/>
          <p:nvPr/>
        </p:nvSpPr>
        <p:spPr>
          <a:xfrm>
            <a:off x="7717536" y="5458968"/>
            <a:ext cx="3493008"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Important caveat</a:t>
            </a:r>
            <a:endParaRPr lang="en-US" sz="1050" dirty="0"/>
          </a:p>
        </p:txBody>
      </p:sp>
      <p:sp>
        <p:nvSpPr>
          <p:cNvPr id="35" name="Text 32"/>
          <p:cNvSpPr/>
          <p:nvPr/>
        </p:nvSpPr>
        <p:spPr>
          <a:xfrm>
            <a:off x="7717536" y="5733288"/>
            <a:ext cx="3474720" cy="128016"/>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Isotonic is not consistently stable across every split because sample sizes are small. Report calibration per season.</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12 · EXPLAINABILITY</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What is the model using?</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SHAP turns aggregate scores into auditable feature contributions.</a:t>
            </a:r>
            <a:endParaRPr lang="en-US" sz="1050" dirty="0"/>
          </a:p>
        </p:txBody>
      </p:sp>
      <p:sp>
        <p:nvSpPr>
          <p:cNvPr id="5" name="Shape 3"/>
          <p:cNvSpPr/>
          <p:nvPr/>
        </p:nvSpPr>
        <p:spPr>
          <a:xfrm>
            <a:off x="594360" y="1444752"/>
            <a:ext cx="6629400" cy="4526280"/>
          </a:xfrm>
          <a:prstGeom prst="roundRect">
            <a:avLst>
              <a:gd name="adj" fmla="val 1010"/>
            </a:avLst>
          </a:prstGeom>
          <a:solidFill>
            <a:srgbClr val="FFFFFF"/>
          </a:solidFill>
          <a:ln w="10160">
            <a:solidFill>
              <a:srgbClr val="DDE5EA"/>
            </a:solidFill>
            <a:prstDash val="solid"/>
          </a:ln>
        </p:spPr>
      </p:sp>
      <p:pic>
        <p:nvPicPr>
          <p:cNvPr id="6" name="Image 0" descr="/mnt/data/ml_final_unzipped/ML_final/phase2/outputs/split_2/phase2_analysis/shap_global_C_RandomForest.png">    </p:cNvPr>
          <p:cNvPicPr>
            <a:picLocks noChangeAspect="1"/>
          </p:cNvPicPr>
          <p:nvPr/>
        </p:nvPicPr>
        <p:blipFill>
          <a:blip r:embed="rId1"/>
          <a:stretch>
            <a:fillRect/>
          </a:stretch>
        </p:blipFill>
        <p:spPr>
          <a:xfrm>
            <a:off x="1079344" y="1536192"/>
            <a:ext cx="5659433" cy="4087368"/>
          </a:xfrm>
          <a:prstGeom prst="rect">
            <a:avLst/>
          </a:prstGeom>
        </p:spPr>
      </p:pic>
      <p:sp>
        <p:nvSpPr>
          <p:cNvPr id="7" name="Text 4"/>
          <p:cNvSpPr/>
          <p:nvPr/>
        </p:nvSpPr>
        <p:spPr>
          <a:xfrm>
            <a:off x="758952" y="5669280"/>
            <a:ext cx="6300216" cy="164592"/>
          </a:xfrm>
          <a:prstGeom prst="rect">
            <a:avLst/>
          </a:prstGeom>
          <a:noFill/>
          <a:ln/>
        </p:spPr>
        <p:txBody>
          <a:bodyPr wrap="square" lIns="0" tIns="0" rIns="0" bIns="0" rtlCol="0" anchor="ctr">
            <a:normAutofit/>
          </a:bodyPr>
          <a:lstStyle/>
          <a:p>
            <a:pPr algn="ctr" indent="0" marL="0">
              <a:buNone/>
            </a:pPr>
            <a:r>
              <a:rPr lang="en-US" sz="780" i="1" dirty="0">
                <a:solidFill>
                  <a:srgbClr val="5B6577"/>
                </a:solidFill>
                <a:latin typeface="Arial" pitchFamily="34" charset="0"/>
                <a:ea typeface="Arial" pitchFamily="34" charset="-122"/>
                <a:cs typeface="Arial" pitchFamily="34" charset="-120"/>
              </a:rPr>
              <a:t>Existing project output: global SHAP importance for pre-match Random Forest, split 2.</a:t>
            </a:r>
            <a:endParaRPr lang="en-US" sz="780" dirty="0"/>
          </a:p>
        </p:txBody>
      </p:sp>
      <p:sp>
        <p:nvSpPr>
          <p:cNvPr id="8" name="Shape 5"/>
          <p:cNvSpPr/>
          <p:nvPr/>
        </p:nvSpPr>
        <p:spPr>
          <a:xfrm>
            <a:off x="7479792" y="1481328"/>
            <a:ext cx="3950208" cy="1078992"/>
          </a:xfrm>
          <a:prstGeom prst="roundRect">
            <a:avLst>
              <a:gd name="adj" fmla="val 6780"/>
            </a:avLst>
          </a:prstGeom>
          <a:solidFill>
            <a:srgbClr val="FFFFFF"/>
          </a:solidFill>
          <a:ln w="10160">
            <a:solidFill>
              <a:srgbClr val="DDE5EA"/>
            </a:solidFill>
            <a:prstDash val="solid"/>
          </a:ln>
        </p:spPr>
      </p:sp>
      <p:sp>
        <p:nvSpPr>
          <p:cNvPr id="9" name="Shape 6"/>
          <p:cNvSpPr/>
          <p:nvPr/>
        </p:nvSpPr>
        <p:spPr>
          <a:xfrm>
            <a:off x="7479792" y="1481328"/>
            <a:ext cx="73152" cy="1078992"/>
          </a:xfrm>
          <a:prstGeom prst="rect">
            <a:avLst/>
          </a:prstGeom>
          <a:solidFill>
            <a:srgbClr val="0B8F6A"/>
          </a:solidFill>
          <a:ln w="12700">
            <a:solidFill>
              <a:srgbClr val="0B8F6A"/>
            </a:solidFill>
            <a:prstDash val="solid"/>
          </a:ln>
        </p:spPr>
      </p:sp>
      <p:sp>
        <p:nvSpPr>
          <p:cNvPr id="10" name="Text 7"/>
          <p:cNvSpPr/>
          <p:nvPr/>
        </p:nvSpPr>
        <p:spPr>
          <a:xfrm>
            <a:off x="7680960" y="1627632"/>
            <a:ext cx="3602736"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Global explanation</a:t>
            </a:r>
            <a:endParaRPr lang="en-US" sz="1100" dirty="0"/>
          </a:p>
        </p:txBody>
      </p:sp>
      <p:sp>
        <p:nvSpPr>
          <p:cNvPr id="11" name="Text 8"/>
          <p:cNvSpPr/>
          <p:nvPr/>
        </p:nvSpPr>
        <p:spPr>
          <a:xfrm>
            <a:off x="7680960" y="1956816"/>
            <a:ext cx="3584448" cy="484632"/>
          </a:xfrm>
          <a:prstGeom prst="rect">
            <a:avLst/>
          </a:prstGeom>
          <a:noFill/>
          <a:ln/>
        </p:spPr>
        <p:txBody>
          <a:bodyPr wrap="square" lIns="0" tIns="0" rIns="0" bIns="0" rtlCol="0" anchor="t">
            <a:normAutofit/>
          </a:bodyPr>
          <a:lstStyle/>
          <a:p>
            <a:pPr indent="0" marL="0">
              <a:buNone/>
            </a:pPr>
            <a:r>
              <a:rPr lang="en-US" sz="960" dirty="0">
                <a:solidFill>
                  <a:srgbClr val="273142"/>
                </a:solidFill>
                <a:latin typeface="Arial" pitchFamily="34" charset="0"/>
                <a:ea typeface="Arial" pitchFamily="34" charset="-122"/>
                <a:cs typeface="Arial" pitchFamily="34" charset="-120"/>
              </a:rPr>
              <a:t>Ranks which engineered features matter most across predictions.</a:t>
            </a:r>
            <a:endParaRPr lang="en-US" sz="960" dirty="0"/>
          </a:p>
        </p:txBody>
      </p:sp>
      <p:sp>
        <p:nvSpPr>
          <p:cNvPr id="12" name="Shape 9"/>
          <p:cNvSpPr/>
          <p:nvPr/>
        </p:nvSpPr>
        <p:spPr>
          <a:xfrm>
            <a:off x="7479792" y="2761488"/>
            <a:ext cx="3950208" cy="1078992"/>
          </a:xfrm>
          <a:prstGeom prst="roundRect">
            <a:avLst>
              <a:gd name="adj" fmla="val 6780"/>
            </a:avLst>
          </a:prstGeom>
          <a:solidFill>
            <a:srgbClr val="FFFFFF"/>
          </a:solidFill>
          <a:ln w="10160">
            <a:solidFill>
              <a:srgbClr val="DDE5EA"/>
            </a:solidFill>
            <a:prstDash val="solid"/>
          </a:ln>
        </p:spPr>
      </p:sp>
      <p:sp>
        <p:nvSpPr>
          <p:cNvPr id="13" name="Shape 10"/>
          <p:cNvSpPr/>
          <p:nvPr/>
        </p:nvSpPr>
        <p:spPr>
          <a:xfrm>
            <a:off x="7479792" y="2761488"/>
            <a:ext cx="73152" cy="1078992"/>
          </a:xfrm>
          <a:prstGeom prst="rect">
            <a:avLst/>
          </a:prstGeom>
          <a:solidFill>
            <a:srgbClr val="22B8A0"/>
          </a:solidFill>
          <a:ln w="12700">
            <a:solidFill>
              <a:srgbClr val="22B8A0"/>
            </a:solidFill>
            <a:prstDash val="solid"/>
          </a:ln>
        </p:spPr>
      </p:sp>
      <p:sp>
        <p:nvSpPr>
          <p:cNvPr id="14" name="Text 11"/>
          <p:cNvSpPr/>
          <p:nvPr/>
        </p:nvSpPr>
        <p:spPr>
          <a:xfrm>
            <a:off x="7680960" y="2907792"/>
            <a:ext cx="3602736"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Local explanation</a:t>
            </a:r>
            <a:endParaRPr lang="en-US" sz="1100" dirty="0"/>
          </a:p>
        </p:txBody>
      </p:sp>
      <p:sp>
        <p:nvSpPr>
          <p:cNvPr id="15" name="Text 12"/>
          <p:cNvSpPr/>
          <p:nvPr/>
        </p:nvSpPr>
        <p:spPr>
          <a:xfrm>
            <a:off x="7680960" y="3236976"/>
            <a:ext cx="3584448" cy="484632"/>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Waterfall/force-style analyses are used on worst predictions to explain confident mistakes.</a:t>
            </a:r>
            <a:endParaRPr lang="en-US" sz="940" dirty="0"/>
          </a:p>
        </p:txBody>
      </p:sp>
      <p:sp>
        <p:nvSpPr>
          <p:cNvPr id="16" name="Shape 13"/>
          <p:cNvSpPr/>
          <p:nvPr/>
        </p:nvSpPr>
        <p:spPr>
          <a:xfrm>
            <a:off x="7479792" y="4041648"/>
            <a:ext cx="3950208" cy="1078992"/>
          </a:xfrm>
          <a:prstGeom prst="roundRect">
            <a:avLst>
              <a:gd name="adj" fmla="val 6780"/>
            </a:avLst>
          </a:prstGeom>
          <a:solidFill>
            <a:srgbClr val="FFFFFF"/>
          </a:solidFill>
          <a:ln w="10160">
            <a:solidFill>
              <a:srgbClr val="DDE5EA"/>
            </a:solidFill>
            <a:prstDash val="solid"/>
          </a:ln>
        </p:spPr>
      </p:sp>
      <p:sp>
        <p:nvSpPr>
          <p:cNvPr id="17" name="Shape 14"/>
          <p:cNvSpPr/>
          <p:nvPr/>
        </p:nvSpPr>
        <p:spPr>
          <a:xfrm>
            <a:off x="7479792" y="4041648"/>
            <a:ext cx="73152" cy="1078992"/>
          </a:xfrm>
          <a:prstGeom prst="rect">
            <a:avLst/>
          </a:prstGeom>
          <a:solidFill>
            <a:srgbClr val="F4B942"/>
          </a:solidFill>
          <a:ln w="12700">
            <a:solidFill>
              <a:srgbClr val="F4B942"/>
            </a:solidFill>
            <a:prstDash val="solid"/>
          </a:ln>
        </p:spPr>
      </p:sp>
      <p:sp>
        <p:nvSpPr>
          <p:cNvPr id="18" name="Text 15"/>
          <p:cNvSpPr/>
          <p:nvPr/>
        </p:nvSpPr>
        <p:spPr>
          <a:xfrm>
            <a:off x="7680960" y="4187952"/>
            <a:ext cx="3602736"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Live explanation</a:t>
            </a:r>
            <a:endParaRPr lang="en-US" sz="1100" dirty="0"/>
          </a:p>
        </p:txBody>
      </p:sp>
      <p:sp>
        <p:nvSpPr>
          <p:cNvPr id="19" name="Text 16"/>
          <p:cNvSpPr/>
          <p:nvPr/>
        </p:nvSpPr>
        <p:spPr>
          <a:xfrm>
            <a:off x="7680960" y="4517136"/>
            <a:ext cx="3584448" cy="484632"/>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In-play SHAP timeline tracks how feature contributions evolve at each 5-minute snapshot.</a:t>
            </a:r>
            <a:endParaRPr lang="en-US" sz="940" dirty="0"/>
          </a:p>
        </p:txBody>
      </p:sp>
      <p:sp>
        <p:nvSpPr>
          <p:cNvPr id="20" name="Shape 17"/>
          <p:cNvSpPr/>
          <p:nvPr/>
        </p:nvSpPr>
        <p:spPr>
          <a:xfrm>
            <a:off x="7479792" y="5358384"/>
            <a:ext cx="3950208" cy="640080"/>
          </a:xfrm>
          <a:prstGeom prst="roundRect">
            <a:avLst>
              <a:gd name="adj" fmla="val 8571"/>
            </a:avLst>
          </a:prstGeom>
          <a:solidFill>
            <a:srgbClr val="FFF5D8"/>
          </a:solidFill>
          <a:ln w="12700">
            <a:solidFill>
              <a:srgbClr val="FFF5D8"/>
            </a:solidFill>
            <a:prstDash val="solid"/>
          </a:ln>
        </p:spPr>
      </p:sp>
      <p:sp>
        <p:nvSpPr>
          <p:cNvPr id="21" name="Shape 18"/>
          <p:cNvSpPr/>
          <p:nvPr/>
        </p:nvSpPr>
        <p:spPr>
          <a:xfrm>
            <a:off x="7479792" y="5358384"/>
            <a:ext cx="91440" cy="640080"/>
          </a:xfrm>
          <a:prstGeom prst="rect">
            <a:avLst/>
          </a:prstGeom>
          <a:solidFill>
            <a:srgbClr val="F4B942"/>
          </a:solidFill>
          <a:ln w="12700">
            <a:solidFill>
              <a:srgbClr val="F4B942"/>
            </a:solidFill>
            <a:prstDash val="solid"/>
          </a:ln>
        </p:spPr>
      </p:sp>
      <p:sp>
        <p:nvSpPr>
          <p:cNvPr id="22" name="Text 19"/>
          <p:cNvSpPr/>
          <p:nvPr/>
        </p:nvSpPr>
        <p:spPr>
          <a:xfrm>
            <a:off x="7699248" y="5477256"/>
            <a:ext cx="3584448"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Scientific caution</a:t>
            </a:r>
            <a:endParaRPr lang="en-US" sz="1050" dirty="0"/>
          </a:p>
        </p:txBody>
      </p:sp>
      <p:sp>
        <p:nvSpPr>
          <p:cNvPr id="23" name="Text 20"/>
          <p:cNvSpPr/>
          <p:nvPr/>
        </p:nvSpPr>
        <p:spPr>
          <a:xfrm>
            <a:off x="7699248" y="5751576"/>
            <a:ext cx="3566160" cy="146304"/>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SHAP is diagnostic, not causal. A feature can drive a prediction without being the causal reason for the football outcome.</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13 · IN-PLAY</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Model 3: live prediction is the hardest task</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5-minute snapshots combine pre-match history with the current match state.</a:t>
            </a:r>
            <a:endParaRPr lang="en-US" sz="1050" dirty="0"/>
          </a:p>
        </p:txBody>
      </p:sp>
      <p:sp>
        <p:nvSpPr>
          <p:cNvPr id="5" name="Shape 3"/>
          <p:cNvSpPr/>
          <p:nvPr/>
        </p:nvSpPr>
        <p:spPr>
          <a:xfrm>
            <a:off x="594360" y="1444752"/>
            <a:ext cx="6903720" cy="4389120"/>
          </a:xfrm>
          <a:prstGeom prst="roundRect">
            <a:avLst>
              <a:gd name="adj" fmla="val 1042"/>
            </a:avLst>
          </a:prstGeom>
          <a:solidFill>
            <a:srgbClr val="FFFFFF"/>
          </a:solidFill>
          <a:ln w="10160">
            <a:solidFill>
              <a:srgbClr val="DDE5EA"/>
            </a:solidFill>
            <a:prstDash val="solid"/>
          </a:ln>
        </p:spPr>
      </p:sp>
      <p:pic>
        <p:nvPicPr>
          <p:cNvPr id="6" name="Image 0" descr="/mnt/data/ml_final_unzipped/ML_final/phase2/outputs/split_3/phase2_analysis/shap_inplay_timeline.png">    </p:cNvPr>
          <p:cNvPicPr>
            <a:picLocks noChangeAspect="1"/>
          </p:cNvPicPr>
          <p:nvPr/>
        </p:nvPicPr>
        <p:blipFill>
          <a:blip r:embed="rId1"/>
          <a:stretch>
            <a:fillRect/>
          </a:stretch>
        </p:blipFill>
        <p:spPr>
          <a:xfrm>
            <a:off x="817685" y="1536192"/>
            <a:ext cx="6457071" cy="3950208"/>
          </a:xfrm>
          <a:prstGeom prst="rect">
            <a:avLst/>
          </a:prstGeom>
        </p:spPr>
      </p:pic>
      <p:sp>
        <p:nvSpPr>
          <p:cNvPr id="7" name="Text 4"/>
          <p:cNvSpPr/>
          <p:nvPr/>
        </p:nvSpPr>
        <p:spPr>
          <a:xfrm>
            <a:off x="758952" y="5532120"/>
            <a:ext cx="6574536" cy="164592"/>
          </a:xfrm>
          <a:prstGeom prst="rect">
            <a:avLst/>
          </a:prstGeom>
          <a:noFill/>
          <a:ln/>
        </p:spPr>
        <p:txBody>
          <a:bodyPr wrap="square" lIns="0" tIns="0" rIns="0" bIns="0" rtlCol="0" anchor="ctr">
            <a:normAutofit/>
          </a:bodyPr>
          <a:lstStyle/>
          <a:p>
            <a:pPr algn="ctr" indent="0" marL="0">
              <a:buNone/>
            </a:pPr>
            <a:r>
              <a:rPr lang="en-US" sz="780" i="1" dirty="0">
                <a:solidFill>
                  <a:srgbClr val="5B6577"/>
                </a:solidFill>
                <a:latin typeface="Arial" pitchFamily="34" charset="0"/>
                <a:ea typeface="Arial" pitchFamily="34" charset="-122"/>
                <a:cs typeface="Arial" pitchFamily="34" charset="-120"/>
              </a:rPr>
              <a:t>Existing project output: in-play SHAP timeline.</a:t>
            </a:r>
            <a:endParaRPr lang="en-US" sz="780" dirty="0"/>
          </a:p>
        </p:txBody>
      </p:sp>
      <p:sp>
        <p:nvSpPr>
          <p:cNvPr id="8" name="Text 5"/>
          <p:cNvSpPr/>
          <p:nvPr/>
        </p:nvSpPr>
        <p:spPr>
          <a:xfrm>
            <a:off x="7790688" y="1508760"/>
            <a:ext cx="3566160" cy="256032"/>
          </a:xfrm>
          <a:prstGeom prst="rect">
            <a:avLst/>
          </a:prstGeom>
          <a:noFill/>
          <a:ln/>
        </p:spPr>
        <p:txBody>
          <a:bodyPr wrap="square" lIns="0" tIns="0" rIns="0" bIns="0" rtlCol="0" anchor="ctr"/>
          <a:lstStyle/>
          <a:p>
            <a:pPr indent="0" marL="0">
              <a:buNone/>
            </a:pPr>
            <a:r>
              <a:rPr lang="en-US" sz="1150" b="1" dirty="0">
                <a:solidFill>
                  <a:srgbClr val="0B8F6A"/>
                </a:solidFill>
                <a:latin typeface="Arial" pitchFamily="34" charset="0"/>
                <a:ea typeface="Arial" pitchFamily="34" charset="-122"/>
                <a:cs typeface="Arial" pitchFamily="34" charset="-120"/>
              </a:rPr>
              <a:t>Cross-season mean · best RPS variants</a:t>
            </a:r>
            <a:endParaRPr lang="en-US" sz="1150" dirty="0"/>
          </a:p>
        </p:txBody>
      </p:sp>
      <p:sp>
        <p:nvSpPr>
          <p:cNvPr id="9" name="Shape 6"/>
          <p:cNvSpPr/>
          <p:nvPr/>
        </p:nvSpPr>
        <p:spPr>
          <a:xfrm>
            <a:off x="7790688" y="1847088"/>
            <a:ext cx="3584448" cy="841248"/>
          </a:xfrm>
          <a:prstGeom prst="roundRect">
            <a:avLst>
              <a:gd name="adj" fmla="val 8696"/>
            </a:avLst>
          </a:prstGeom>
          <a:solidFill>
            <a:srgbClr val="FFFFFF"/>
          </a:solidFill>
          <a:ln w="10160">
            <a:solidFill>
              <a:srgbClr val="DDE5EA"/>
            </a:solidFill>
            <a:prstDash val="solid"/>
          </a:ln>
        </p:spPr>
      </p:sp>
      <p:sp>
        <p:nvSpPr>
          <p:cNvPr id="10" name="Shape 7"/>
          <p:cNvSpPr/>
          <p:nvPr/>
        </p:nvSpPr>
        <p:spPr>
          <a:xfrm>
            <a:off x="7790688" y="1847088"/>
            <a:ext cx="73152" cy="841248"/>
          </a:xfrm>
          <a:prstGeom prst="rect">
            <a:avLst/>
          </a:prstGeom>
          <a:solidFill>
            <a:srgbClr val="0B8F6A"/>
          </a:solidFill>
          <a:ln w="12700">
            <a:solidFill>
              <a:srgbClr val="0B8F6A"/>
            </a:solidFill>
            <a:prstDash val="solid"/>
          </a:ln>
        </p:spPr>
      </p:sp>
      <p:sp>
        <p:nvSpPr>
          <p:cNvPr id="11" name="Text 8"/>
          <p:cNvSpPr/>
          <p:nvPr/>
        </p:nvSpPr>
        <p:spPr>
          <a:xfrm>
            <a:off x="7991856" y="1993392"/>
            <a:ext cx="3236976" cy="256032"/>
          </a:xfrm>
          <a:prstGeom prst="rect">
            <a:avLst/>
          </a:prstGeom>
          <a:noFill/>
          <a:ln/>
        </p:spPr>
        <p:txBody>
          <a:bodyPr wrap="square" lIns="0" tIns="0" rIns="0" bIns="0" rtlCol="0" anchor="ctr">
            <a:normAutofit/>
          </a:bodyPr>
          <a:lstStyle/>
          <a:p>
            <a:pPr indent="0" marL="0">
              <a:buNone/>
            </a:pPr>
            <a:r>
              <a:rPr lang="en-US" sz="970" b="1" dirty="0">
                <a:solidFill>
                  <a:srgbClr val="0B1220"/>
                </a:solidFill>
                <a:latin typeface="Arial" pitchFamily="34" charset="0"/>
                <a:ea typeface="Arial" pitchFamily="34" charset="-122"/>
                <a:cs typeface="Arial" pitchFamily="34" charset="-120"/>
              </a:rPr>
              <a:t>SVC · sigmoid</a:t>
            </a:r>
            <a:endParaRPr lang="en-US" sz="970" dirty="0"/>
          </a:p>
        </p:txBody>
      </p:sp>
      <p:sp>
        <p:nvSpPr>
          <p:cNvPr id="12" name="Text 9"/>
          <p:cNvSpPr/>
          <p:nvPr/>
        </p:nvSpPr>
        <p:spPr>
          <a:xfrm>
            <a:off x="7991856" y="2322576"/>
            <a:ext cx="3218688" cy="246888"/>
          </a:xfrm>
          <a:prstGeom prst="rect">
            <a:avLst/>
          </a:prstGeom>
          <a:noFill/>
          <a:ln/>
        </p:spPr>
        <p:txBody>
          <a:bodyPr wrap="square" lIns="0" tIns="0" rIns="0" bIns="0" rtlCol="0" anchor="t">
            <a:normAutofit/>
          </a:bodyPr>
          <a:lstStyle/>
          <a:p>
            <a:pPr indent="0" marL="0">
              <a:buNone/>
            </a:pPr>
            <a:r>
              <a:rPr lang="en-US" sz="930" dirty="0">
                <a:solidFill>
                  <a:srgbClr val="273142"/>
                </a:solidFill>
                <a:latin typeface="Arial" pitchFamily="34" charset="0"/>
                <a:ea typeface="Arial" pitchFamily="34" charset="-122"/>
                <a:cs typeface="Arial" pitchFamily="34" charset="-120"/>
              </a:rPr>
              <a:t>Acc 62.5% · Bal 55.1%</a:t>
            </a:r>
            <a:endParaRPr lang="en-US" sz="930" dirty="0"/>
          </a:p>
          <a:p>
            <a:pPr indent="0" marL="0">
              <a:buNone/>
            </a:pPr>
            <a:r>
              <a:rPr lang="en-US" sz="930" dirty="0">
                <a:solidFill>
                  <a:srgbClr val="273142"/>
                </a:solidFill>
                <a:latin typeface="Arial" pitchFamily="34" charset="0"/>
                <a:ea typeface="Arial" pitchFamily="34" charset="-122"/>
                <a:cs typeface="Arial" pitchFamily="34" charset="-120"/>
              </a:rPr>
              <a:t>RPS 0.171 · ECE 0.120</a:t>
            </a:r>
            <a:endParaRPr lang="en-US" sz="930" dirty="0"/>
          </a:p>
        </p:txBody>
      </p:sp>
      <p:sp>
        <p:nvSpPr>
          <p:cNvPr id="13" name="Shape 10"/>
          <p:cNvSpPr/>
          <p:nvPr/>
        </p:nvSpPr>
        <p:spPr>
          <a:xfrm>
            <a:off x="7790688" y="2697480"/>
            <a:ext cx="3584448" cy="841248"/>
          </a:xfrm>
          <a:prstGeom prst="roundRect">
            <a:avLst>
              <a:gd name="adj" fmla="val 8696"/>
            </a:avLst>
          </a:prstGeom>
          <a:solidFill>
            <a:srgbClr val="FFFFFF"/>
          </a:solidFill>
          <a:ln w="10160">
            <a:solidFill>
              <a:srgbClr val="DDE5EA"/>
            </a:solidFill>
            <a:prstDash val="solid"/>
          </a:ln>
        </p:spPr>
      </p:sp>
      <p:sp>
        <p:nvSpPr>
          <p:cNvPr id="14" name="Shape 11"/>
          <p:cNvSpPr/>
          <p:nvPr/>
        </p:nvSpPr>
        <p:spPr>
          <a:xfrm>
            <a:off x="7790688" y="2697480"/>
            <a:ext cx="73152" cy="841248"/>
          </a:xfrm>
          <a:prstGeom prst="rect">
            <a:avLst/>
          </a:prstGeom>
          <a:solidFill>
            <a:srgbClr val="22B8A0"/>
          </a:solidFill>
          <a:ln w="12700">
            <a:solidFill>
              <a:srgbClr val="22B8A0"/>
            </a:solidFill>
            <a:prstDash val="solid"/>
          </a:ln>
        </p:spPr>
      </p:sp>
      <p:sp>
        <p:nvSpPr>
          <p:cNvPr id="15" name="Text 12"/>
          <p:cNvSpPr/>
          <p:nvPr/>
        </p:nvSpPr>
        <p:spPr>
          <a:xfrm>
            <a:off x="7991856" y="2843784"/>
            <a:ext cx="3236976" cy="256032"/>
          </a:xfrm>
          <a:prstGeom prst="rect">
            <a:avLst/>
          </a:prstGeom>
          <a:noFill/>
          <a:ln/>
        </p:spPr>
        <p:txBody>
          <a:bodyPr wrap="square" lIns="0" tIns="0" rIns="0" bIns="0" rtlCol="0" anchor="ctr">
            <a:normAutofit/>
          </a:bodyPr>
          <a:lstStyle/>
          <a:p>
            <a:pPr indent="0" marL="0">
              <a:buNone/>
            </a:pPr>
            <a:r>
              <a:rPr lang="en-US" sz="970" b="1" dirty="0">
                <a:solidFill>
                  <a:srgbClr val="0B1220"/>
                </a:solidFill>
                <a:latin typeface="Arial" pitchFamily="34" charset="0"/>
                <a:ea typeface="Arial" pitchFamily="34" charset="-122"/>
                <a:cs typeface="Arial" pitchFamily="34" charset="-120"/>
              </a:rPr>
              <a:t>SVC · isotonic</a:t>
            </a:r>
            <a:endParaRPr lang="en-US" sz="970" dirty="0"/>
          </a:p>
        </p:txBody>
      </p:sp>
      <p:sp>
        <p:nvSpPr>
          <p:cNvPr id="16" name="Text 13"/>
          <p:cNvSpPr/>
          <p:nvPr/>
        </p:nvSpPr>
        <p:spPr>
          <a:xfrm>
            <a:off x="7991856" y="3172968"/>
            <a:ext cx="3218688" cy="246888"/>
          </a:xfrm>
          <a:prstGeom prst="rect">
            <a:avLst/>
          </a:prstGeom>
          <a:noFill/>
          <a:ln/>
        </p:spPr>
        <p:txBody>
          <a:bodyPr wrap="square" lIns="0" tIns="0" rIns="0" bIns="0" rtlCol="0" anchor="t">
            <a:normAutofit/>
          </a:bodyPr>
          <a:lstStyle/>
          <a:p>
            <a:pPr indent="0" marL="0">
              <a:buNone/>
            </a:pPr>
            <a:r>
              <a:rPr lang="en-US" sz="930" dirty="0">
                <a:solidFill>
                  <a:srgbClr val="273142"/>
                </a:solidFill>
                <a:latin typeface="Arial" pitchFamily="34" charset="0"/>
                <a:ea typeface="Arial" pitchFamily="34" charset="-122"/>
                <a:cs typeface="Arial" pitchFamily="34" charset="-120"/>
              </a:rPr>
              <a:t>Acc 64.9% · Bal 58.3%</a:t>
            </a:r>
            <a:endParaRPr lang="en-US" sz="930" dirty="0"/>
          </a:p>
          <a:p>
            <a:pPr indent="0" marL="0">
              <a:buNone/>
            </a:pPr>
            <a:r>
              <a:rPr lang="en-US" sz="930" dirty="0">
                <a:solidFill>
                  <a:srgbClr val="273142"/>
                </a:solidFill>
                <a:latin typeface="Arial" pitchFamily="34" charset="0"/>
                <a:ea typeface="Arial" pitchFamily="34" charset="-122"/>
                <a:cs typeface="Arial" pitchFamily="34" charset="-120"/>
              </a:rPr>
              <a:t>RPS 0.171 · ECE 0.092</a:t>
            </a:r>
            <a:endParaRPr lang="en-US" sz="930" dirty="0"/>
          </a:p>
        </p:txBody>
      </p:sp>
      <p:sp>
        <p:nvSpPr>
          <p:cNvPr id="17" name="Shape 14"/>
          <p:cNvSpPr/>
          <p:nvPr/>
        </p:nvSpPr>
        <p:spPr>
          <a:xfrm>
            <a:off x="7790688" y="3547872"/>
            <a:ext cx="3584448" cy="841248"/>
          </a:xfrm>
          <a:prstGeom prst="roundRect">
            <a:avLst>
              <a:gd name="adj" fmla="val 8696"/>
            </a:avLst>
          </a:prstGeom>
          <a:solidFill>
            <a:srgbClr val="FFFFFF"/>
          </a:solidFill>
          <a:ln w="10160">
            <a:solidFill>
              <a:srgbClr val="DDE5EA"/>
            </a:solidFill>
            <a:prstDash val="solid"/>
          </a:ln>
        </p:spPr>
      </p:sp>
      <p:sp>
        <p:nvSpPr>
          <p:cNvPr id="18" name="Shape 15"/>
          <p:cNvSpPr/>
          <p:nvPr/>
        </p:nvSpPr>
        <p:spPr>
          <a:xfrm>
            <a:off x="7790688" y="3547872"/>
            <a:ext cx="73152" cy="841248"/>
          </a:xfrm>
          <a:prstGeom prst="rect">
            <a:avLst/>
          </a:prstGeom>
          <a:solidFill>
            <a:srgbClr val="22B8A0"/>
          </a:solidFill>
          <a:ln w="12700">
            <a:solidFill>
              <a:srgbClr val="22B8A0"/>
            </a:solidFill>
            <a:prstDash val="solid"/>
          </a:ln>
        </p:spPr>
      </p:sp>
      <p:sp>
        <p:nvSpPr>
          <p:cNvPr id="19" name="Text 16"/>
          <p:cNvSpPr/>
          <p:nvPr/>
        </p:nvSpPr>
        <p:spPr>
          <a:xfrm>
            <a:off x="7991856" y="3694176"/>
            <a:ext cx="3236976" cy="256032"/>
          </a:xfrm>
          <a:prstGeom prst="rect">
            <a:avLst/>
          </a:prstGeom>
          <a:noFill/>
          <a:ln/>
        </p:spPr>
        <p:txBody>
          <a:bodyPr wrap="square" lIns="0" tIns="0" rIns="0" bIns="0" rtlCol="0" anchor="ctr">
            <a:normAutofit/>
          </a:bodyPr>
          <a:lstStyle/>
          <a:p>
            <a:pPr indent="0" marL="0">
              <a:buNone/>
            </a:pPr>
            <a:r>
              <a:rPr lang="en-US" sz="970" b="1" dirty="0">
                <a:solidFill>
                  <a:srgbClr val="0B1220"/>
                </a:solidFill>
                <a:latin typeface="Arial" pitchFamily="34" charset="0"/>
                <a:ea typeface="Arial" pitchFamily="34" charset="-122"/>
                <a:cs typeface="Arial" pitchFamily="34" charset="-120"/>
              </a:rPr>
              <a:t>RandomForest · sigmoid</a:t>
            </a:r>
            <a:endParaRPr lang="en-US" sz="970" dirty="0"/>
          </a:p>
        </p:txBody>
      </p:sp>
      <p:sp>
        <p:nvSpPr>
          <p:cNvPr id="20" name="Text 17"/>
          <p:cNvSpPr/>
          <p:nvPr/>
        </p:nvSpPr>
        <p:spPr>
          <a:xfrm>
            <a:off x="7991856" y="4023360"/>
            <a:ext cx="3218688" cy="246888"/>
          </a:xfrm>
          <a:prstGeom prst="rect">
            <a:avLst/>
          </a:prstGeom>
          <a:noFill/>
          <a:ln/>
        </p:spPr>
        <p:txBody>
          <a:bodyPr wrap="square" lIns="0" tIns="0" rIns="0" bIns="0" rtlCol="0" anchor="t">
            <a:normAutofit/>
          </a:bodyPr>
          <a:lstStyle/>
          <a:p>
            <a:pPr indent="0" marL="0">
              <a:buNone/>
            </a:pPr>
            <a:r>
              <a:rPr lang="en-US" sz="930" dirty="0">
                <a:solidFill>
                  <a:srgbClr val="273142"/>
                </a:solidFill>
                <a:latin typeface="Arial" pitchFamily="34" charset="0"/>
                <a:ea typeface="Arial" pitchFamily="34" charset="-122"/>
                <a:cs typeface="Arial" pitchFamily="34" charset="-120"/>
              </a:rPr>
              <a:t>Acc 59.3% · Bal 51.0%</a:t>
            </a:r>
            <a:endParaRPr lang="en-US" sz="930" dirty="0"/>
          </a:p>
          <a:p>
            <a:pPr indent="0" marL="0">
              <a:buNone/>
            </a:pPr>
            <a:r>
              <a:rPr lang="en-US" sz="930" dirty="0">
                <a:solidFill>
                  <a:srgbClr val="273142"/>
                </a:solidFill>
                <a:latin typeface="Arial" pitchFamily="34" charset="0"/>
                <a:ea typeface="Arial" pitchFamily="34" charset="-122"/>
                <a:cs typeface="Arial" pitchFamily="34" charset="-120"/>
              </a:rPr>
              <a:t>RPS 0.175 · ECE 0.132</a:t>
            </a:r>
            <a:endParaRPr lang="en-US" sz="930" dirty="0"/>
          </a:p>
        </p:txBody>
      </p:sp>
      <p:sp>
        <p:nvSpPr>
          <p:cNvPr id="21" name="Shape 18"/>
          <p:cNvSpPr/>
          <p:nvPr/>
        </p:nvSpPr>
        <p:spPr>
          <a:xfrm>
            <a:off x="7790688" y="4398264"/>
            <a:ext cx="3584448" cy="841248"/>
          </a:xfrm>
          <a:prstGeom prst="roundRect">
            <a:avLst>
              <a:gd name="adj" fmla="val 8696"/>
            </a:avLst>
          </a:prstGeom>
          <a:solidFill>
            <a:srgbClr val="FFFFFF"/>
          </a:solidFill>
          <a:ln w="10160">
            <a:solidFill>
              <a:srgbClr val="DDE5EA"/>
            </a:solidFill>
            <a:prstDash val="solid"/>
          </a:ln>
        </p:spPr>
      </p:sp>
      <p:sp>
        <p:nvSpPr>
          <p:cNvPr id="22" name="Shape 19"/>
          <p:cNvSpPr/>
          <p:nvPr/>
        </p:nvSpPr>
        <p:spPr>
          <a:xfrm>
            <a:off x="7790688" y="4398264"/>
            <a:ext cx="73152" cy="841248"/>
          </a:xfrm>
          <a:prstGeom prst="rect">
            <a:avLst/>
          </a:prstGeom>
          <a:solidFill>
            <a:srgbClr val="22B8A0"/>
          </a:solidFill>
          <a:ln w="12700">
            <a:solidFill>
              <a:srgbClr val="22B8A0"/>
            </a:solidFill>
            <a:prstDash val="solid"/>
          </a:ln>
        </p:spPr>
      </p:sp>
      <p:sp>
        <p:nvSpPr>
          <p:cNvPr id="23" name="Text 20"/>
          <p:cNvSpPr/>
          <p:nvPr/>
        </p:nvSpPr>
        <p:spPr>
          <a:xfrm>
            <a:off x="7991856" y="4544568"/>
            <a:ext cx="3236976" cy="256032"/>
          </a:xfrm>
          <a:prstGeom prst="rect">
            <a:avLst/>
          </a:prstGeom>
          <a:noFill/>
          <a:ln/>
        </p:spPr>
        <p:txBody>
          <a:bodyPr wrap="square" lIns="0" tIns="0" rIns="0" bIns="0" rtlCol="0" anchor="ctr">
            <a:normAutofit/>
          </a:bodyPr>
          <a:lstStyle/>
          <a:p>
            <a:pPr indent="0" marL="0">
              <a:buNone/>
            </a:pPr>
            <a:r>
              <a:rPr lang="en-US" sz="970" b="1" dirty="0">
                <a:solidFill>
                  <a:srgbClr val="0B1220"/>
                </a:solidFill>
                <a:latin typeface="Arial" pitchFamily="34" charset="0"/>
                <a:ea typeface="Arial" pitchFamily="34" charset="-122"/>
                <a:cs typeface="Arial" pitchFamily="34" charset="-120"/>
              </a:rPr>
              <a:t>RandomForest · isotonic</a:t>
            </a:r>
            <a:endParaRPr lang="en-US" sz="970" dirty="0"/>
          </a:p>
        </p:txBody>
      </p:sp>
      <p:sp>
        <p:nvSpPr>
          <p:cNvPr id="24" name="Text 21"/>
          <p:cNvSpPr/>
          <p:nvPr/>
        </p:nvSpPr>
        <p:spPr>
          <a:xfrm>
            <a:off x="7991856" y="4873752"/>
            <a:ext cx="3218688" cy="246888"/>
          </a:xfrm>
          <a:prstGeom prst="rect">
            <a:avLst/>
          </a:prstGeom>
          <a:noFill/>
          <a:ln/>
        </p:spPr>
        <p:txBody>
          <a:bodyPr wrap="square" lIns="0" tIns="0" rIns="0" bIns="0" rtlCol="0" anchor="t">
            <a:normAutofit/>
          </a:bodyPr>
          <a:lstStyle/>
          <a:p>
            <a:pPr indent="0" marL="0">
              <a:buNone/>
            </a:pPr>
            <a:r>
              <a:rPr lang="en-US" sz="930" dirty="0">
                <a:solidFill>
                  <a:srgbClr val="273142"/>
                </a:solidFill>
                <a:latin typeface="Arial" pitchFamily="34" charset="0"/>
                <a:ea typeface="Arial" pitchFamily="34" charset="-122"/>
                <a:cs typeface="Arial" pitchFamily="34" charset="-120"/>
              </a:rPr>
              <a:t>Acc 54.2% · Bal 47.4%</a:t>
            </a:r>
            <a:endParaRPr lang="en-US" sz="930" dirty="0"/>
          </a:p>
          <a:p>
            <a:pPr indent="0" marL="0">
              <a:buNone/>
            </a:pPr>
            <a:r>
              <a:rPr lang="en-US" sz="930" dirty="0">
                <a:solidFill>
                  <a:srgbClr val="273142"/>
                </a:solidFill>
                <a:latin typeface="Arial" pitchFamily="34" charset="0"/>
                <a:ea typeface="Arial" pitchFamily="34" charset="-122"/>
                <a:cs typeface="Arial" pitchFamily="34" charset="-120"/>
              </a:rPr>
              <a:t>RPS 0.185 · ECE 0.154</a:t>
            </a:r>
            <a:endParaRPr lang="en-US" sz="930" dirty="0"/>
          </a:p>
        </p:txBody>
      </p:sp>
      <p:sp>
        <p:nvSpPr>
          <p:cNvPr id="25" name="Shape 22"/>
          <p:cNvSpPr/>
          <p:nvPr/>
        </p:nvSpPr>
        <p:spPr>
          <a:xfrm>
            <a:off x="7790688" y="5340096"/>
            <a:ext cx="3584448" cy="749808"/>
          </a:xfrm>
          <a:prstGeom prst="roundRect">
            <a:avLst>
              <a:gd name="adj" fmla="val 7317"/>
            </a:avLst>
          </a:prstGeom>
          <a:solidFill>
            <a:srgbClr val="FFF5D8"/>
          </a:solidFill>
          <a:ln w="12700">
            <a:solidFill>
              <a:srgbClr val="FFF5D8"/>
            </a:solidFill>
            <a:prstDash val="solid"/>
          </a:ln>
        </p:spPr>
      </p:sp>
      <p:sp>
        <p:nvSpPr>
          <p:cNvPr id="26" name="Shape 23"/>
          <p:cNvSpPr/>
          <p:nvPr/>
        </p:nvSpPr>
        <p:spPr>
          <a:xfrm>
            <a:off x="7790688" y="5340096"/>
            <a:ext cx="91440" cy="749808"/>
          </a:xfrm>
          <a:prstGeom prst="rect">
            <a:avLst/>
          </a:prstGeom>
          <a:solidFill>
            <a:srgbClr val="F4B942"/>
          </a:solidFill>
          <a:ln w="12700">
            <a:solidFill>
              <a:srgbClr val="F4B942"/>
            </a:solidFill>
            <a:prstDash val="solid"/>
          </a:ln>
        </p:spPr>
      </p:sp>
      <p:sp>
        <p:nvSpPr>
          <p:cNvPr id="27" name="Text 24"/>
          <p:cNvSpPr/>
          <p:nvPr/>
        </p:nvSpPr>
        <p:spPr>
          <a:xfrm>
            <a:off x="8010144" y="5458968"/>
            <a:ext cx="3218688"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Current limitation</a:t>
            </a:r>
            <a:endParaRPr lang="en-US" sz="1050" dirty="0"/>
          </a:p>
        </p:txBody>
      </p:sp>
      <p:sp>
        <p:nvSpPr>
          <p:cNvPr id="28" name="Text 25"/>
          <p:cNvSpPr/>
          <p:nvPr/>
        </p:nvSpPr>
        <p:spPr>
          <a:xfrm>
            <a:off x="8010144" y="5733288"/>
            <a:ext cx="3200400" cy="256032"/>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The saved SHAP timeline shows relatively small attribution movement. The live signal needs more diverse matches before claiming production-level robustness.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14 · METHODS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Imbalance handling &amp; paper-style implementations</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We compare resampling, class weighting, and a from-scratch interpretable model.</a:t>
            </a:r>
            <a:endParaRPr lang="en-US" sz="1050" dirty="0"/>
          </a:p>
        </p:txBody>
      </p:sp>
      <p:sp>
        <p:nvSpPr>
          <p:cNvPr id="5" name="Shape 3"/>
          <p:cNvSpPr/>
          <p:nvPr/>
        </p:nvSpPr>
        <p:spPr>
          <a:xfrm>
            <a:off x="658368" y="1572768"/>
            <a:ext cx="3675888" cy="1965960"/>
          </a:xfrm>
          <a:prstGeom prst="roundRect">
            <a:avLst>
              <a:gd name="adj" fmla="val 3721"/>
            </a:avLst>
          </a:prstGeom>
          <a:solidFill>
            <a:srgbClr val="FFFFFF"/>
          </a:solidFill>
          <a:ln w="10160">
            <a:solidFill>
              <a:srgbClr val="DDE5EA"/>
            </a:solidFill>
            <a:prstDash val="solid"/>
          </a:ln>
        </p:spPr>
      </p:sp>
      <p:sp>
        <p:nvSpPr>
          <p:cNvPr id="6" name="Shape 4"/>
          <p:cNvSpPr/>
          <p:nvPr/>
        </p:nvSpPr>
        <p:spPr>
          <a:xfrm>
            <a:off x="658368" y="1572768"/>
            <a:ext cx="73152" cy="1965960"/>
          </a:xfrm>
          <a:prstGeom prst="rect">
            <a:avLst/>
          </a:prstGeom>
          <a:solidFill>
            <a:srgbClr val="0B8F6A"/>
          </a:solidFill>
          <a:ln w="12700">
            <a:solidFill>
              <a:srgbClr val="0B8F6A"/>
            </a:solidFill>
            <a:prstDash val="solid"/>
          </a:ln>
        </p:spPr>
      </p:sp>
      <p:sp>
        <p:nvSpPr>
          <p:cNvPr id="7" name="Text 5"/>
          <p:cNvSpPr/>
          <p:nvPr/>
        </p:nvSpPr>
        <p:spPr>
          <a:xfrm>
            <a:off x="859536" y="1719072"/>
            <a:ext cx="3328416" cy="256032"/>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rial" pitchFamily="34" charset="0"/>
                <a:ea typeface="Arial" pitchFamily="34" charset="-122"/>
                <a:cs typeface="Arial" pitchFamily="34" charset="-120"/>
              </a:rPr>
              <a:t>GMM-based oversampling · from scratch</a:t>
            </a:r>
            <a:endParaRPr lang="en-US" sz="1200" dirty="0"/>
          </a:p>
        </p:txBody>
      </p:sp>
      <p:sp>
        <p:nvSpPr>
          <p:cNvPr id="8" name="Text 6"/>
          <p:cNvSpPr/>
          <p:nvPr/>
        </p:nvSpPr>
        <p:spPr>
          <a:xfrm>
            <a:off x="859536" y="2048256"/>
            <a:ext cx="3310128" cy="1371600"/>
          </a:xfrm>
          <a:prstGeom prst="rect">
            <a:avLst/>
          </a:prstGeom>
          <a:noFill/>
          <a:ln/>
        </p:spPr>
        <p:txBody>
          <a:bodyPr wrap="square" lIns="0" tIns="0" rIns="0" bIns="0" rtlCol="0" anchor="t">
            <a:normAutofit/>
          </a:bodyPr>
          <a:lstStyle/>
          <a:p>
            <a:pPr indent="0" marL="0">
              <a:buNone/>
            </a:pPr>
            <a:r>
              <a:rPr lang="en-US" sz="950" dirty="0">
                <a:solidFill>
                  <a:srgbClr val="273142"/>
                </a:solidFill>
                <a:latin typeface="Arial" pitchFamily="34" charset="0"/>
                <a:ea typeface="Arial" pitchFamily="34" charset="-122"/>
                <a:cs typeface="Arial" pitchFamily="34" charset="-120"/>
              </a:rPr>
              <a:t>• Standardizes training features</a:t>
            </a:r>
            <a:endParaRPr lang="en-US" sz="950" dirty="0"/>
          </a:p>
          <a:p>
            <a:pPr indent="0" marL="0">
              <a:buNone/>
            </a:pPr>
            <a:r>
              <a:rPr lang="en-US" sz="950" dirty="0">
                <a:solidFill>
                  <a:srgbClr val="273142"/>
                </a:solidFill>
                <a:latin typeface="Arial" pitchFamily="34" charset="0"/>
                <a:ea typeface="Arial" pitchFamily="34" charset="-122"/>
                <a:cs typeface="Arial" pitchFamily="34" charset="-120"/>
              </a:rPr>
              <a:t>• Selects Gaussian-mixture components using internal development likelihood</a:t>
            </a:r>
            <a:endParaRPr lang="en-US" sz="950" dirty="0"/>
          </a:p>
          <a:p>
            <a:pPr indent="0" marL="0">
              <a:buNone/>
            </a:pPr>
            <a:r>
              <a:rPr lang="en-US" sz="950" dirty="0">
                <a:solidFill>
                  <a:srgbClr val="273142"/>
                </a:solidFill>
                <a:latin typeface="Arial" pitchFamily="34" charset="0"/>
                <a:ea typeface="Arial" pitchFamily="34" charset="-122"/>
                <a:cs typeface="Arial" pitchFamily="34" charset="-120"/>
              </a:rPr>
              <a:t>• Samples synthetic minority examples</a:t>
            </a:r>
            <a:endParaRPr lang="en-US" sz="950" dirty="0"/>
          </a:p>
          <a:p>
            <a:pPr indent="0" marL="0">
              <a:buNone/>
            </a:pPr>
            <a:r>
              <a:rPr lang="en-US" sz="950" dirty="0">
                <a:solidFill>
                  <a:srgbClr val="273142"/>
                </a:solidFill>
                <a:latin typeface="Arial" pitchFamily="34" charset="0"/>
                <a:ea typeface="Arial" pitchFamily="34" charset="-122"/>
                <a:cs typeface="Arial" pitchFamily="34" charset="-120"/>
              </a:rPr>
              <a:t>• Restricted to training data</a:t>
            </a:r>
            <a:endParaRPr lang="en-US" sz="950" dirty="0"/>
          </a:p>
        </p:txBody>
      </p:sp>
      <p:sp>
        <p:nvSpPr>
          <p:cNvPr id="9" name="Shape 7"/>
          <p:cNvSpPr/>
          <p:nvPr/>
        </p:nvSpPr>
        <p:spPr>
          <a:xfrm>
            <a:off x="4553712" y="1572768"/>
            <a:ext cx="3675888" cy="1965960"/>
          </a:xfrm>
          <a:prstGeom prst="roundRect">
            <a:avLst>
              <a:gd name="adj" fmla="val 3721"/>
            </a:avLst>
          </a:prstGeom>
          <a:solidFill>
            <a:srgbClr val="FFFFFF"/>
          </a:solidFill>
          <a:ln w="10160">
            <a:solidFill>
              <a:srgbClr val="DDE5EA"/>
            </a:solidFill>
            <a:prstDash val="solid"/>
          </a:ln>
        </p:spPr>
      </p:sp>
      <p:sp>
        <p:nvSpPr>
          <p:cNvPr id="10" name="Shape 8"/>
          <p:cNvSpPr/>
          <p:nvPr/>
        </p:nvSpPr>
        <p:spPr>
          <a:xfrm>
            <a:off x="4553712" y="1572768"/>
            <a:ext cx="73152" cy="1965960"/>
          </a:xfrm>
          <a:prstGeom prst="rect">
            <a:avLst/>
          </a:prstGeom>
          <a:solidFill>
            <a:srgbClr val="22B8A0"/>
          </a:solidFill>
          <a:ln w="12700">
            <a:solidFill>
              <a:srgbClr val="22B8A0"/>
            </a:solidFill>
            <a:prstDash val="solid"/>
          </a:ln>
        </p:spPr>
      </p:sp>
      <p:sp>
        <p:nvSpPr>
          <p:cNvPr id="11" name="Text 9"/>
          <p:cNvSpPr/>
          <p:nvPr/>
        </p:nvSpPr>
        <p:spPr>
          <a:xfrm>
            <a:off x="4754880" y="1719072"/>
            <a:ext cx="3328416" cy="256032"/>
          </a:xfrm>
          <a:prstGeom prst="rect">
            <a:avLst/>
          </a:prstGeom>
          <a:noFill/>
          <a:ln/>
        </p:spPr>
        <p:txBody>
          <a:bodyPr wrap="square" lIns="0" tIns="0" rIns="0" bIns="0" rtlCol="0" anchor="ctr">
            <a:normAutofit/>
          </a:bodyPr>
          <a:lstStyle/>
          <a:p>
            <a:pPr indent="0" marL="0">
              <a:buNone/>
            </a:pPr>
            <a:r>
              <a:rPr lang="en-US" sz="1200" b="1" dirty="0">
                <a:solidFill>
                  <a:srgbClr val="0B1220"/>
                </a:solidFill>
                <a:latin typeface="Arial" pitchFamily="34" charset="0"/>
                <a:ea typeface="Arial" pitchFamily="34" charset="-122"/>
                <a:cs typeface="Arial" pitchFamily="34" charset="-120"/>
              </a:rPr>
              <a:t>FIGS · from scratch</a:t>
            </a:r>
            <a:endParaRPr lang="en-US" sz="1200" dirty="0"/>
          </a:p>
        </p:txBody>
      </p:sp>
      <p:sp>
        <p:nvSpPr>
          <p:cNvPr id="12" name="Text 10"/>
          <p:cNvSpPr/>
          <p:nvPr/>
        </p:nvSpPr>
        <p:spPr>
          <a:xfrm>
            <a:off x="4754880" y="2048256"/>
            <a:ext cx="3310128" cy="1371600"/>
          </a:xfrm>
          <a:prstGeom prst="rect">
            <a:avLst/>
          </a:prstGeom>
          <a:noFill/>
          <a:ln/>
        </p:spPr>
        <p:txBody>
          <a:bodyPr wrap="square" lIns="0" tIns="0" rIns="0" bIns="0" rtlCol="0" anchor="t">
            <a:normAutofit/>
          </a:bodyPr>
          <a:lstStyle/>
          <a:p>
            <a:pPr indent="0" marL="0">
              <a:buNone/>
            </a:pPr>
            <a:r>
              <a:rPr lang="en-US" sz="980" dirty="0">
                <a:solidFill>
                  <a:srgbClr val="273142"/>
                </a:solidFill>
                <a:latin typeface="Arial" pitchFamily="34" charset="0"/>
                <a:ea typeface="Arial" pitchFamily="34" charset="-122"/>
                <a:cs typeface="Arial" pitchFamily="34" charset="-120"/>
              </a:rPr>
              <a:t>Fast Interpretable Greedy-Tree Sums implementation for both classification and regression — not just a black-box library call.</a:t>
            </a:r>
            <a:endParaRPr lang="en-US" sz="980" dirty="0"/>
          </a:p>
        </p:txBody>
      </p:sp>
      <p:sp>
        <p:nvSpPr>
          <p:cNvPr id="13" name="Shape 11"/>
          <p:cNvSpPr/>
          <p:nvPr/>
        </p:nvSpPr>
        <p:spPr>
          <a:xfrm>
            <a:off x="8449056" y="1572768"/>
            <a:ext cx="3072384" cy="1965960"/>
          </a:xfrm>
          <a:prstGeom prst="roundRect">
            <a:avLst>
              <a:gd name="adj" fmla="val 3721"/>
            </a:avLst>
          </a:prstGeom>
          <a:solidFill>
            <a:srgbClr val="FFF5D8"/>
          </a:solidFill>
          <a:ln w="10160">
            <a:solidFill>
              <a:srgbClr val="DDE5EA"/>
            </a:solidFill>
            <a:prstDash val="solid"/>
          </a:ln>
        </p:spPr>
      </p:sp>
      <p:sp>
        <p:nvSpPr>
          <p:cNvPr id="14" name="Shape 12"/>
          <p:cNvSpPr/>
          <p:nvPr/>
        </p:nvSpPr>
        <p:spPr>
          <a:xfrm>
            <a:off x="8449056" y="1572768"/>
            <a:ext cx="73152" cy="1965960"/>
          </a:xfrm>
          <a:prstGeom prst="rect">
            <a:avLst/>
          </a:prstGeom>
          <a:solidFill>
            <a:srgbClr val="F4B942"/>
          </a:solidFill>
          <a:ln w="12700">
            <a:solidFill>
              <a:srgbClr val="F4B942"/>
            </a:solidFill>
            <a:prstDash val="solid"/>
          </a:ln>
        </p:spPr>
      </p:sp>
      <p:sp>
        <p:nvSpPr>
          <p:cNvPr id="15" name="Text 13"/>
          <p:cNvSpPr/>
          <p:nvPr/>
        </p:nvSpPr>
        <p:spPr>
          <a:xfrm>
            <a:off x="8650224" y="1719072"/>
            <a:ext cx="2724912"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Paper documentation caveat</a:t>
            </a:r>
            <a:endParaRPr lang="en-US" sz="1100" dirty="0"/>
          </a:p>
        </p:txBody>
      </p:sp>
      <p:sp>
        <p:nvSpPr>
          <p:cNvPr id="16" name="Text 14"/>
          <p:cNvSpPr/>
          <p:nvPr/>
        </p:nvSpPr>
        <p:spPr>
          <a:xfrm>
            <a:off x="8650224" y="2048256"/>
            <a:ext cx="2706624" cy="1371600"/>
          </a:xfrm>
          <a:prstGeom prst="rect">
            <a:avLst/>
          </a:prstGeom>
          <a:noFill/>
          <a:ln/>
        </p:spPr>
        <p:txBody>
          <a:bodyPr wrap="square" lIns="0" tIns="0" rIns="0" bIns="0" rtlCol="0" anchor="t">
            <a:normAutofit/>
          </a:bodyPr>
          <a:lstStyle/>
          <a:p>
            <a:pPr indent="0" marL="0">
              <a:buNone/>
            </a:pPr>
            <a:r>
              <a:rPr lang="en-US" sz="920" dirty="0">
                <a:solidFill>
                  <a:srgbClr val="273142"/>
                </a:solidFill>
                <a:latin typeface="Arial" pitchFamily="34" charset="0"/>
                <a:ea typeface="Arial" pitchFamily="34" charset="-122"/>
                <a:cs typeface="Arial" pitchFamily="34" charset="-120"/>
              </a:rPr>
              <a:t>The archive contains implementations/results, but not the approved P1/P2 PDFs or TA sign-off metadata. Verify the exact course-approved citations.</a:t>
            </a:r>
            <a:endParaRPr lang="en-US" sz="920" dirty="0"/>
          </a:p>
        </p:txBody>
      </p:sp>
      <p:sp>
        <p:nvSpPr>
          <p:cNvPr id="17" name="Text 15"/>
          <p:cNvSpPr/>
          <p:nvPr/>
        </p:nvSpPr>
        <p:spPr>
          <a:xfrm>
            <a:off x="676656" y="3822192"/>
            <a:ext cx="4846320" cy="256032"/>
          </a:xfrm>
          <a:prstGeom prst="rect">
            <a:avLst/>
          </a:prstGeom>
          <a:noFill/>
          <a:ln/>
        </p:spPr>
        <p:txBody>
          <a:bodyPr wrap="square" lIns="0" tIns="0" rIns="0" bIns="0" rtlCol="0" anchor="ctr"/>
          <a:lstStyle/>
          <a:p>
            <a:pPr indent="0" marL="0">
              <a:buNone/>
            </a:pPr>
            <a:r>
              <a:rPr lang="en-US" sz="1300" b="1" dirty="0">
                <a:solidFill>
                  <a:srgbClr val="0B8F6A"/>
                </a:solidFill>
                <a:latin typeface="Arial" pitchFamily="34" charset="0"/>
                <a:ea typeface="Arial" pitchFamily="34" charset="-122"/>
                <a:cs typeface="Arial" pitchFamily="34" charset="-120"/>
              </a:rPr>
              <a:t>Pre-match imbalance experiment · mean balanced accuracy</a:t>
            </a:r>
            <a:endParaRPr lang="en-US" sz="1300" dirty="0"/>
          </a:p>
        </p:txBody>
      </p:sp>
      <p:sp>
        <p:nvSpPr>
          <p:cNvPr id="18" name="Text 16"/>
          <p:cNvSpPr/>
          <p:nvPr/>
        </p:nvSpPr>
        <p:spPr>
          <a:xfrm>
            <a:off x="713232" y="4233672"/>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ClassWeight</a:t>
            </a:r>
            <a:endParaRPr lang="en-US" sz="850" dirty="0"/>
          </a:p>
        </p:txBody>
      </p:sp>
      <p:sp>
        <p:nvSpPr>
          <p:cNvPr id="19" name="Shape 17"/>
          <p:cNvSpPr/>
          <p:nvPr/>
        </p:nvSpPr>
        <p:spPr>
          <a:xfrm>
            <a:off x="2103120" y="4251960"/>
            <a:ext cx="2166669" cy="128016"/>
          </a:xfrm>
          <a:prstGeom prst="rect">
            <a:avLst/>
          </a:prstGeom>
          <a:solidFill>
            <a:srgbClr val="0B8F6A"/>
          </a:solidFill>
          <a:ln w="12700">
            <a:solidFill>
              <a:srgbClr val="0B8F6A"/>
            </a:solidFill>
            <a:prstDash val="solid"/>
          </a:ln>
        </p:spPr>
      </p:sp>
      <p:sp>
        <p:nvSpPr>
          <p:cNvPr id="20" name="Text 18"/>
          <p:cNvSpPr/>
          <p:nvPr/>
        </p:nvSpPr>
        <p:spPr>
          <a:xfrm>
            <a:off x="4846320" y="4233672"/>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52.6%</a:t>
            </a:r>
            <a:endParaRPr lang="en-US" sz="840" dirty="0"/>
          </a:p>
        </p:txBody>
      </p:sp>
      <p:sp>
        <p:nvSpPr>
          <p:cNvPr id="21" name="Text 19"/>
          <p:cNvSpPr/>
          <p:nvPr/>
        </p:nvSpPr>
        <p:spPr>
          <a:xfrm>
            <a:off x="713232" y="4498848"/>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ADASYN</a:t>
            </a:r>
            <a:endParaRPr lang="en-US" sz="850" dirty="0"/>
          </a:p>
        </p:txBody>
      </p:sp>
      <p:sp>
        <p:nvSpPr>
          <p:cNvPr id="22" name="Shape 20"/>
          <p:cNvSpPr/>
          <p:nvPr/>
        </p:nvSpPr>
        <p:spPr>
          <a:xfrm>
            <a:off x="2103120" y="4517136"/>
            <a:ext cx="2156533" cy="128016"/>
          </a:xfrm>
          <a:prstGeom prst="rect">
            <a:avLst/>
          </a:prstGeom>
          <a:solidFill>
            <a:srgbClr val="22B8A0"/>
          </a:solidFill>
          <a:ln w="12700">
            <a:solidFill>
              <a:srgbClr val="22B8A0"/>
            </a:solidFill>
            <a:prstDash val="solid"/>
          </a:ln>
        </p:spPr>
      </p:sp>
      <p:sp>
        <p:nvSpPr>
          <p:cNvPr id="23" name="Text 21"/>
          <p:cNvSpPr/>
          <p:nvPr/>
        </p:nvSpPr>
        <p:spPr>
          <a:xfrm>
            <a:off x="4846320" y="4498848"/>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52.5%</a:t>
            </a:r>
            <a:endParaRPr lang="en-US" sz="840" dirty="0"/>
          </a:p>
        </p:txBody>
      </p:sp>
      <p:sp>
        <p:nvSpPr>
          <p:cNvPr id="24" name="Text 22"/>
          <p:cNvSpPr/>
          <p:nvPr/>
        </p:nvSpPr>
        <p:spPr>
          <a:xfrm>
            <a:off x="713232" y="4764024"/>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Vanilla</a:t>
            </a:r>
            <a:endParaRPr lang="en-US" sz="850" dirty="0"/>
          </a:p>
        </p:txBody>
      </p:sp>
      <p:sp>
        <p:nvSpPr>
          <p:cNvPr id="25" name="Shape 23"/>
          <p:cNvSpPr/>
          <p:nvPr/>
        </p:nvSpPr>
        <p:spPr>
          <a:xfrm>
            <a:off x="2103120" y="4782312"/>
            <a:ext cx="1866460" cy="128016"/>
          </a:xfrm>
          <a:prstGeom prst="rect">
            <a:avLst/>
          </a:prstGeom>
          <a:solidFill>
            <a:srgbClr val="22B8A0"/>
          </a:solidFill>
          <a:ln w="12700">
            <a:solidFill>
              <a:srgbClr val="22B8A0"/>
            </a:solidFill>
            <a:prstDash val="solid"/>
          </a:ln>
        </p:spPr>
      </p:sp>
      <p:sp>
        <p:nvSpPr>
          <p:cNvPr id="26" name="Text 24"/>
          <p:cNvSpPr/>
          <p:nvPr/>
        </p:nvSpPr>
        <p:spPr>
          <a:xfrm>
            <a:off x="4846320" y="4764024"/>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49.4%</a:t>
            </a:r>
            <a:endParaRPr lang="en-US" sz="840" dirty="0"/>
          </a:p>
        </p:txBody>
      </p:sp>
      <p:sp>
        <p:nvSpPr>
          <p:cNvPr id="27" name="Text 25"/>
          <p:cNvSpPr/>
          <p:nvPr/>
        </p:nvSpPr>
        <p:spPr>
          <a:xfrm>
            <a:off x="713232" y="5029200"/>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GMMSampling</a:t>
            </a:r>
            <a:endParaRPr lang="en-US" sz="850" dirty="0"/>
          </a:p>
        </p:txBody>
      </p:sp>
      <p:sp>
        <p:nvSpPr>
          <p:cNvPr id="28" name="Shape 26"/>
          <p:cNvSpPr/>
          <p:nvPr/>
        </p:nvSpPr>
        <p:spPr>
          <a:xfrm>
            <a:off x="2103120" y="5047488"/>
            <a:ext cx="1648997" cy="128016"/>
          </a:xfrm>
          <a:prstGeom prst="rect">
            <a:avLst/>
          </a:prstGeom>
          <a:solidFill>
            <a:srgbClr val="22B8A0"/>
          </a:solidFill>
          <a:ln w="12700">
            <a:solidFill>
              <a:srgbClr val="22B8A0"/>
            </a:solidFill>
            <a:prstDash val="solid"/>
          </a:ln>
        </p:spPr>
      </p:sp>
      <p:sp>
        <p:nvSpPr>
          <p:cNvPr id="29" name="Text 27"/>
          <p:cNvSpPr/>
          <p:nvPr/>
        </p:nvSpPr>
        <p:spPr>
          <a:xfrm>
            <a:off x="4846320" y="5029200"/>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47.2%</a:t>
            </a:r>
            <a:endParaRPr lang="en-US" sz="840" dirty="0"/>
          </a:p>
        </p:txBody>
      </p:sp>
      <p:sp>
        <p:nvSpPr>
          <p:cNvPr id="30" name="Text 28"/>
          <p:cNvSpPr/>
          <p:nvPr/>
        </p:nvSpPr>
        <p:spPr>
          <a:xfrm>
            <a:off x="713232" y="5294376"/>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BorderlineSMOTE</a:t>
            </a:r>
            <a:endParaRPr lang="en-US" sz="850" dirty="0"/>
          </a:p>
        </p:txBody>
      </p:sp>
      <p:sp>
        <p:nvSpPr>
          <p:cNvPr id="31" name="Shape 29"/>
          <p:cNvSpPr/>
          <p:nvPr/>
        </p:nvSpPr>
        <p:spPr>
          <a:xfrm>
            <a:off x="2103120" y="5312664"/>
            <a:ext cx="1535479" cy="128016"/>
          </a:xfrm>
          <a:prstGeom prst="rect">
            <a:avLst/>
          </a:prstGeom>
          <a:solidFill>
            <a:srgbClr val="22B8A0"/>
          </a:solidFill>
          <a:ln w="12700">
            <a:solidFill>
              <a:srgbClr val="22B8A0"/>
            </a:solidFill>
            <a:prstDash val="solid"/>
          </a:ln>
        </p:spPr>
      </p:sp>
      <p:sp>
        <p:nvSpPr>
          <p:cNvPr id="32" name="Text 30"/>
          <p:cNvSpPr/>
          <p:nvPr/>
        </p:nvSpPr>
        <p:spPr>
          <a:xfrm>
            <a:off x="4846320" y="5294376"/>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46.0%</a:t>
            </a:r>
            <a:endParaRPr lang="en-US" sz="840" dirty="0"/>
          </a:p>
        </p:txBody>
      </p:sp>
      <p:sp>
        <p:nvSpPr>
          <p:cNvPr id="33" name="Text 31"/>
          <p:cNvSpPr/>
          <p:nvPr/>
        </p:nvSpPr>
        <p:spPr>
          <a:xfrm>
            <a:off x="713232" y="5559552"/>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SMOTE</a:t>
            </a:r>
            <a:endParaRPr lang="en-US" sz="850" dirty="0"/>
          </a:p>
        </p:txBody>
      </p:sp>
      <p:sp>
        <p:nvSpPr>
          <p:cNvPr id="34" name="Shape 32"/>
          <p:cNvSpPr/>
          <p:nvPr/>
        </p:nvSpPr>
        <p:spPr>
          <a:xfrm>
            <a:off x="2103120" y="5577840"/>
            <a:ext cx="1535479" cy="128016"/>
          </a:xfrm>
          <a:prstGeom prst="rect">
            <a:avLst/>
          </a:prstGeom>
          <a:solidFill>
            <a:srgbClr val="22B8A0"/>
          </a:solidFill>
          <a:ln w="12700">
            <a:solidFill>
              <a:srgbClr val="22B8A0"/>
            </a:solidFill>
            <a:prstDash val="solid"/>
          </a:ln>
        </p:spPr>
      </p:sp>
      <p:sp>
        <p:nvSpPr>
          <p:cNvPr id="35" name="Text 33"/>
          <p:cNvSpPr/>
          <p:nvPr/>
        </p:nvSpPr>
        <p:spPr>
          <a:xfrm>
            <a:off x="4846320" y="5559552"/>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46.0%</a:t>
            </a:r>
            <a:endParaRPr lang="en-US" sz="840" dirty="0"/>
          </a:p>
        </p:txBody>
      </p:sp>
      <p:sp>
        <p:nvSpPr>
          <p:cNvPr id="36" name="Text 34"/>
          <p:cNvSpPr/>
          <p:nvPr/>
        </p:nvSpPr>
        <p:spPr>
          <a:xfrm>
            <a:off x="713232" y="5824728"/>
            <a:ext cx="1353312" cy="164592"/>
          </a:xfrm>
          <a:prstGeom prst="rect">
            <a:avLst/>
          </a:prstGeom>
          <a:noFill/>
          <a:ln/>
        </p:spPr>
        <p:txBody>
          <a:bodyPr wrap="square" lIns="0" tIns="0" rIns="0" bIns="0" rtlCol="0" anchor="ctr"/>
          <a:lstStyle/>
          <a:p>
            <a:pPr indent="0" marL="0">
              <a:buNone/>
            </a:pPr>
            <a:r>
              <a:rPr lang="en-US" sz="850" dirty="0">
                <a:solidFill>
                  <a:srgbClr val="273142"/>
                </a:solidFill>
                <a:latin typeface="Arial" pitchFamily="34" charset="0"/>
                <a:ea typeface="Arial" pitchFamily="34" charset="-122"/>
                <a:cs typeface="Arial" pitchFamily="34" charset="-120"/>
              </a:rPr>
              <a:t>DummyPrior</a:t>
            </a:r>
            <a:endParaRPr lang="en-US" sz="850" dirty="0"/>
          </a:p>
        </p:txBody>
      </p:sp>
      <p:sp>
        <p:nvSpPr>
          <p:cNvPr id="37" name="Shape 35"/>
          <p:cNvSpPr/>
          <p:nvPr/>
        </p:nvSpPr>
        <p:spPr>
          <a:xfrm>
            <a:off x="2103120" y="5843016"/>
            <a:ext cx="320040" cy="128016"/>
          </a:xfrm>
          <a:prstGeom prst="rect">
            <a:avLst/>
          </a:prstGeom>
          <a:solidFill>
            <a:srgbClr val="22B8A0"/>
          </a:solidFill>
          <a:ln w="12700">
            <a:solidFill>
              <a:srgbClr val="22B8A0"/>
            </a:solidFill>
            <a:prstDash val="solid"/>
          </a:ln>
        </p:spPr>
      </p:sp>
      <p:sp>
        <p:nvSpPr>
          <p:cNvPr id="38" name="Text 36"/>
          <p:cNvSpPr/>
          <p:nvPr/>
        </p:nvSpPr>
        <p:spPr>
          <a:xfrm>
            <a:off x="4846320" y="5824728"/>
            <a:ext cx="502920" cy="164592"/>
          </a:xfrm>
          <a:prstGeom prst="rect">
            <a:avLst/>
          </a:prstGeom>
          <a:noFill/>
          <a:ln/>
        </p:spPr>
        <p:txBody>
          <a:bodyPr wrap="square" lIns="0" tIns="0" rIns="0" bIns="0" rtlCol="0" anchor="ctr"/>
          <a:lstStyle/>
          <a:p>
            <a:pPr algn="r" indent="0" marL="0">
              <a:buNone/>
            </a:pPr>
            <a:r>
              <a:rPr lang="en-US" sz="840" b="1" dirty="0">
                <a:solidFill>
                  <a:srgbClr val="0B1220"/>
                </a:solidFill>
                <a:latin typeface="Arial" pitchFamily="34" charset="0"/>
                <a:ea typeface="Arial" pitchFamily="34" charset="-122"/>
                <a:cs typeface="Arial" pitchFamily="34" charset="-120"/>
              </a:rPr>
              <a:t>33.3%</a:t>
            </a:r>
            <a:endParaRPr lang="en-US" sz="840" dirty="0"/>
          </a:p>
        </p:txBody>
      </p:sp>
      <p:sp>
        <p:nvSpPr>
          <p:cNvPr id="39" name="Shape 37"/>
          <p:cNvSpPr/>
          <p:nvPr/>
        </p:nvSpPr>
        <p:spPr>
          <a:xfrm>
            <a:off x="5650992" y="3950208"/>
            <a:ext cx="5669280" cy="1572768"/>
          </a:xfrm>
          <a:prstGeom prst="roundRect">
            <a:avLst>
              <a:gd name="adj" fmla="val 3488"/>
            </a:avLst>
          </a:prstGeom>
          <a:solidFill>
            <a:srgbClr val="E9F8F3"/>
          </a:solidFill>
          <a:ln w="12700">
            <a:solidFill>
              <a:srgbClr val="E9F8F3"/>
            </a:solidFill>
            <a:prstDash val="solid"/>
          </a:ln>
        </p:spPr>
      </p:sp>
      <p:sp>
        <p:nvSpPr>
          <p:cNvPr id="40" name="Shape 38"/>
          <p:cNvSpPr/>
          <p:nvPr/>
        </p:nvSpPr>
        <p:spPr>
          <a:xfrm>
            <a:off x="5650992" y="3950208"/>
            <a:ext cx="91440" cy="1572768"/>
          </a:xfrm>
          <a:prstGeom prst="rect">
            <a:avLst/>
          </a:prstGeom>
          <a:solidFill>
            <a:srgbClr val="0B8F6A"/>
          </a:solidFill>
          <a:ln w="12700">
            <a:solidFill>
              <a:srgbClr val="0B8F6A"/>
            </a:solidFill>
            <a:prstDash val="solid"/>
          </a:ln>
        </p:spPr>
      </p:sp>
      <p:sp>
        <p:nvSpPr>
          <p:cNvPr id="41" name="Text 39"/>
          <p:cNvSpPr/>
          <p:nvPr/>
        </p:nvSpPr>
        <p:spPr>
          <a:xfrm>
            <a:off x="5870448" y="4069080"/>
            <a:ext cx="530352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Interpretation</a:t>
            </a:r>
            <a:endParaRPr lang="en-US" sz="1050" dirty="0"/>
          </a:p>
        </p:txBody>
      </p:sp>
      <p:sp>
        <p:nvSpPr>
          <p:cNvPr id="42" name="Text 40"/>
          <p:cNvSpPr/>
          <p:nvPr/>
        </p:nvSpPr>
        <p:spPr>
          <a:xfrm>
            <a:off x="5870448" y="4343400"/>
            <a:ext cx="5285232" cy="1078992"/>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Class weighting is strongest on average in this small-sample experiment (≈52.6% balanced accuracy). GMM sampling is not the winner here; that is an honest negative result. ADASYN also failed on the smallest split, which is another small-data warning.</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15 · BONUS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Live prediction service &amp; dashboard</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A replay interface demonstrates the in-play pipeline end to end.</a:t>
            </a:r>
            <a:endParaRPr lang="en-US" sz="1050" dirty="0"/>
          </a:p>
        </p:txBody>
      </p:sp>
      <p:sp>
        <p:nvSpPr>
          <p:cNvPr id="5" name="Shape 3"/>
          <p:cNvSpPr/>
          <p:nvPr/>
        </p:nvSpPr>
        <p:spPr>
          <a:xfrm>
            <a:off x="658368" y="1417320"/>
            <a:ext cx="6492240" cy="4553712"/>
          </a:xfrm>
          <a:prstGeom prst="roundRect">
            <a:avLst>
              <a:gd name="adj" fmla="val 1004"/>
            </a:avLst>
          </a:prstGeom>
          <a:solidFill>
            <a:srgbClr val="FFFFFF"/>
          </a:solidFill>
          <a:ln w="10160">
            <a:solidFill>
              <a:srgbClr val="DDE5EA"/>
            </a:solidFill>
            <a:prstDash val="solid"/>
          </a:ln>
        </p:spPr>
      </p:sp>
      <p:pic>
        <p:nvPicPr>
          <p:cNvPr id="6" name="Image 0" descr="/mnt/data/bonus_console_render/page-1.png">    </p:cNvPr>
          <p:cNvPicPr>
            <a:picLocks noChangeAspect="1"/>
          </p:cNvPicPr>
          <p:nvPr/>
        </p:nvPicPr>
        <p:blipFill>
          <a:blip r:embed="rId1"/>
          <a:stretch>
            <a:fillRect/>
          </a:stretch>
        </p:blipFill>
        <p:spPr>
          <a:xfrm>
            <a:off x="2314679" y="1508760"/>
            <a:ext cx="3179618" cy="4114800"/>
          </a:xfrm>
          <a:prstGeom prst="rect">
            <a:avLst/>
          </a:prstGeom>
        </p:spPr>
      </p:pic>
      <p:sp>
        <p:nvSpPr>
          <p:cNvPr id="7" name="Text 4"/>
          <p:cNvSpPr/>
          <p:nvPr/>
        </p:nvSpPr>
        <p:spPr>
          <a:xfrm>
            <a:off x="822960" y="5669280"/>
            <a:ext cx="6163056" cy="164592"/>
          </a:xfrm>
          <a:prstGeom prst="rect">
            <a:avLst/>
          </a:prstGeom>
          <a:noFill/>
          <a:ln/>
        </p:spPr>
        <p:txBody>
          <a:bodyPr wrap="square" lIns="0" tIns="0" rIns="0" bIns="0" rtlCol="0" anchor="ctr">
            <a:normAutofit/>
          </a:bodyPr>
          <a:lstStyle/>
          <a:p>
            <a:pPr algn="ctr" indent="0" marL="0">
              <a:buNone/>
            </a:pPr>
            <a:r>
              <a:rPr lang="en-US" sz="780" i="1" dirty="0">
                <a:solidFill>
                  <a:srgbClr val="5B6577"/>
                </a:solidFill>
                <a:latin typeface="Arial" pitchFamily="34" charset="0"/>
                <a:ea typeface="Arial" pitchFamily="34" charset="-122"/>
                <a:cs typeface="Arial" pitchFamily="34" charset="-120"/>
              </a:rPr>
              <a:t>Existing bonus output: Streamlit live football prediction dashboard.</a:t>
            </a:r>
            <a:endParaRPr lang="en-US" sz="780" dirty="0"/>
          </a:p>
        </p:txBody>
      </p:sp>
      <p:sp>
        <p:nvSpPr>
          <p:cNvPr id="8" name="Shape 5"/>
          <p:cNvSpPr/>
          <p:nvPr/>
        </p:nvSpPr>
        <p:spPr>
          <a:xfrm>
            <a:off x="7461504" y="1490472"/>
            <a:ext cx="3767328" cy="1078992"/>
          </a:xfrm>
          <a:prstGeom prst="roundRect">
            <a:avLst>
              <a:gd name="adj" fmla="val 6780"/>
            </a:avLst>
          </a:prstGeom>
          <a:solidFill>
            <a:srgbClr val="FFFFFF"/>
          </a:solidFill>
          <a:ln w="10160">
            <a:solidFill>
              <a:srgbClr val="DDE5EA"/>
            </a:solidFill>
            <a:prstDash val="solid"/>
          </a:ln>
        </p:spPr>
      </p:sp>
      <p:sp>
        <p:nvSpPr>
          <p:cNvPr id="9" name="Shape 6"/>
          <p:cNvSpPr/>
          <p:nvPr/>
        </p:nvSpPr>
        <p:spPr>
          <a:xfrm>
            <a:off x="7461504" y="1490472"/>
            <a:ext cx="73152" cy="1078992"/>
          </a:xfrm>
          <a:prstGeom prst="rect">
            <a:avLst/>
          </a:prstGeom>
          <a:solidFill>
            <a:srgbClr val="0B8F6A"/>
          </a:solidFill>
          <a:ln w="12700">
            <a:solidFill>
              <a:srgbClr val="0B8F6A"/>
            </a:solidFill>
            <a:prstDash val="solid"/>
          </a:ln>
        </p:spPr>
      </p:sp>
      <p:sp>
        <p:nvSpPr>
          <p:cNvPr id="10" name="Text 7"/>
          <p:cNvSpPr/>
          <p:nvPr/>
        </p:nvSpPr>
        <p:spPr>
          <a:xfrm>
            <a:off x="7662672" y="1636776"/>
            <a:ext cx="3419856"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FastAPI service</a:t>
            </a:r>
            <a:endParaRPr lang="en-US" sz="1100" dirty="0"/>
          </a:p>
        </p:txBody>
      </p:sp>
      <p:sp>
        <p:nvSpPr>
          <p:cNvPr id="11" name="Text 8"/>
          <p:cNvSpPr/>
          <p:nvPr/>
        </p:nvSpPr>
        <p:spPr>
          <a:xfrm>
            <a:off x="7662672" y="1965960"/>
            <a:ext cx="3401568" cy="484632"/>
          </a:xfrm>
          <a:prstGeom prst="rect">
            <a:avLst/>
          </a:prstGeom>
          <a:noFill/>
          <a:ln/>
        </p:spPr>
        <p:txBody>
          <a:bodyPr wrap="square" lIns="0" tIns="0" rIns="0" bIns="0" rtlCol="0" anchor="t">
            <a:normAutofit/>
          </a:bodyPr>
          <a:lstStyle/>
          <a:p>
            <a:pPr indent="0" marL="0">
              <a:buNone/>
            </a:pPr>
            <a:r>
              <a:rPr lang="en-US" sz="960" dirty="0">
                <a:solidFill>
                  <a:srgbClr val="273142"/>
                </a:solidFill>
                <a:latin typeface="Arial" pitchFamily="34" charset="0"/>
                <a:ea typeface="Arial" pitchFamily="34" charset="-122"/>
                <a:cs typeface="Arial" pitchFamily="34" charset="-120"/>
              </a:rPr>
              <a:t>Loads trained models and exposes live prediction logic for a match/snapshot.</a:t>
            </a:r>
            <a:endParaRPr lang="en-US" sz="960" dirty="0"/>
          </a:p>
        </p:txBody>
      </p:sp>
      <p:sp>
        <p:nvSpPr>
          <p:cNvPr id="12" name="Shape 9"/>
          <p:cNvSpPr/>
          <p:nvPr/>
        </p:nvSpPr>
        <p:spPr>
          <a:xfrm>
            <a:off x="7461504" y="2788920"/>
            <a:ext cx="3767328" cy="1078992"/>
          </a:xfrm>
          <a:prstGeom prst="roundRect">
            <a:avLst>
              <a:gd name="adj" fmla="val 6780"/>
            </a:avLst>
          </a:prstGeom>
          <a:solidFill>
            <a:srgbClr val="FFFFFF"/>
          </a:solidFill>
          <a:ln w="10160">
            <a:solidFill>
              <a:srgbClr val="DDE5EA"/>
            </a:solidFill>
            <a:prstDash val="solid"/>
          </a:ln>
        </p:spPr>
      </p:sp>
      <p:sp>
        <p:nvSpPr>
          <p:cNvPr id="13" name="Shape 10"/>
          <p:cNvSpPr/>
          <p:nvPr/>
        </p:nvSpPr>
        <p:spPr>
          <a:xfrm>
            <a:off x="7461504" y="2788920"/>
            <a:ext cx="73152" cy="1078992"/>
          </a:xfrm>
          <a:prstGeom prst="rect">
            <a:avLst/>
          </a:prstGeom>
          <a:solidFill>
            <a:srgbClr val="22B8A0"/>
          </a:solidFill>
          <a:ln w="12700">
            <a:solidFill>
              <a:srgbClr val="22B8A0"/>
            </a:solidFill>
            <a:prstDash val="solid"/>
          </a:ln>
        </p:spPr>
      </p:sp>
      <p:sp>
        <p:nvSpPr>
          <p:cNvPr id="14" name="Text 11"/>
          <p:cNvSpPr/>
          <p:nvPr/>
        </p:nvSpPr>
        <p:spPr>
          <a:xfrm>
            <a:off x="7662672" y="2935224"/>
            <a:ext cx="3419856"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Streamlit replay</a:t>
            </a:r>
            <a:endParaRPr lang="en-US" sz="1100" dirty="0"/>
          </a:p>
        </p:txBody>
      </p:sp>
      <p:sp>
        <p:nvSpPr>
          <p:cNvPr id="15" name="Text 12"/>
          <p:cNvSpPr/>
          <p:nvPr/>
        </p:nvSpPr>
        <p:spPr>
          <a:xfrm>
            <a:off x="7662672" y="3264408"/>
            <a:ext cx="3401568" cy="484632"/>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Replays a held-out match in 5-minute increments and updates H/D/A probabilities + expected margin.</a:t>
            </a:r>
            <a:endParaRPr lang="en-US" sz="940" dirty="0"/>
          </a:p>
        </p:txBody>
      </p:sp>
      <p:sp>
        <p:nvSpPr>
          <p:cNvPr id="16" name="Shape 13"/>
          <p:cNvSpPr/>
          <p:nvPr/>
        </p:nvSpPr>
        <p:spPr>
          <a:xfrm>
            <a:off x="7461504" y="4087368"/>
            <a:ext cx="3767328" cy="1078992"/>
          </a:xfrm>
          <a:prstGeom prst="roundRect">
            <a:avLst>
              <a:gd name="adj" fmla="val 6780"/>
            </a:avLst>
          </a:prstGeom>
          <a:solidFill>
            <a:srgbClr val="FFF5D8"/>
          </a:solidFill>
          <a:ln w="10160">
            <a:solidFill>
              <a:srgbClr val="DDE5EA"/>
            </a:solidFill>
            <a:prstDash val="solid"/>
          </a:ln>
        </p:spPr>
      </p:sp>
      <p:sp>
        <p:nvSpPr>
          <p:cNvPr id="17" name="Shape 14"/>
          <p:cNvSpPr/>
          <p:nvPr/>
        </p:nvSpPr>
        <p:spPr>
          <a:xfrm>
            <a:off x="7461504" y="4087368"/>
            <a:ext cx="73152" cy="1078992"/>
          </a:xfrm>
          <a:prstGeom prst="rect">
            <a:avLst/>
          </a:prstGeom>
          <a:solidFill>
            <a:srgbClr val="F4B942"/>
          </a:solidFill>
          <a:ln w="12700">
            <a:solidFill>
              <a:srgbClr val="F4B942"/>
            </a:solidFill>
            <a:prstDash val="solid"/>
          </a:ln>
        </p:spPr>
      </p:sp>
      <p:sp>
        <p:nvSpPr>
          <p:cNvPr id="18" name="Text 15"/>
          <p:cNvSpPr/>
          <p:nvPr/>
        </p:nvSpPr>
        <p:spPr>
          <a:xfrm>
            <a:off x="7662672" y="4233672"/>
            <a:ext cx="3419856"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What the screenshot proves</a:t>
            </a:r>
            <a:endParaRPr lang="en-US" sz="1100" dirty="0"/>
          </a:p>
        </p:txBody>
      </p:sp>
      <p:sp>
        <p:nvSpPr>
          <p:cNvPr id="19" name="Text 16"/>
          <p:cNvSpPr/>
          <p:nvPr/>
        </p:nvSpPr>
        <p:spPr>
          <a:xfrm>
            <a:off x="7662672" y="4562856"/>
            <a:ext cx="3401568" cy="484632"/>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The supplied artifacts show the interface and a complete replay. They do not prove latency compliance.</a:t>
            </a:r>
            <a:endParaRPr lang="en-US" sz="940" dirty="0"/>
          </a:p>
        </p:txBody>
      </p:sp>
      <p:sp>
        <p:nvSpPr>
          <p:cNvPr id="20" name="Shape 17"/>
          <p:cNvSpPr/>
          <p:nvPr/>
        </p:nvSpPr>
        <p:spPr>
          <a:xfrm>
            <a:off x="7461504" y="5394960"/>
            <a:ext cx="3767328" cy="621792"/>
          </a:xfrm>
          <a:prstGeom prst="roundRect">
            <a:avLst>
              <a:gd name="adj" fmla="val 8824"/>
            </a:avLst>
          </a:prstGeom>
          <a:solidFill>
            <a:srgbClr val="FDECEC"/>
          </a:solidFill>
          <a:ln w="12700">
            <a:solidFill>
              <a:srgbClr val="FDECEC"/>
            </a:solidFill>
            <a:prstDash val="solid"/>
          </a:ln>
        </p:spPr>
      </p:sp>
      <p:sp>
        <p:nvSpPr>
          <p:cNvPr id="21" name="Shape 18"/>
          <p:cNvSpPr/>
          <p:nvPr/>
        </p:nvSpPr>
        <p:spPr>
          <a:xfrm>
            <a:off x="7461504" y="5394960"/>
            <a:ext cx="91440" cy="621792"/>
          </a:xfrm>
          <a:prstGeom prst="rect">
            <a:avLst/>
          </a:prstGeom>
          <a:solidFill>
            <a:srgbClr val="C94949"/>
          </a:solidFill>
          <a:ln w="12700">
            <a:solidFill>
              <a:srgbClr val="C94949"/>
            </a:solidFill>
            <a:prstDash val="solid"/>
          </a:ln>
        </p:spPr>
      </p:sp>
      <p:sp>
        <p:nvSpPr>
          <p:cNvPr id="22" name="Text 19"/>
          <p:cNvSpPr/>
          <p:nvPr/>
        </p:nvSpPr>
        <p:spPr>
          <a:xfrm>
            <a:off x="7680960" y="5513832"/>
            <a:ext cx="3401568"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Do not overclaim</a:t>
            </a:r>
            <a:endParaRPr lang="en-US" sz="1050" dirty="0"/>
          </a:p>
        </p:txBody>
      </p:sp>
      <p:sp>
        <p:nvSpPr>
          <p:cNvPr id="23" name="Text 20"/>
          <p:cNvSpPr/>
          <p:nvPr/>
        </p:nvSpPr>
        <p:spPr>
          <a:xfrm>
            <a:off x="7680960" y="5788152"/>
            <a:ext cx="3383280" cy="128016"/>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No saved successful latency benchmark → do not claim the &lt;200 ms target was met.</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16 · LIMITATIONS</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What is validated — and what is not</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This slide is your strongest defense against overclaiming.</a:t>
            </a:r>
            <a:endParaRPr lang="en-US" sz="1050" dirty="0"/>
          </a:p>
        </p:txBody>
      </p:sp>
      <p:sp>
        <p:nvSpPr>
          <p:cNvPr id="5" name="Text 3"/>
          <p:cNvSpPr/>
          <p:nvPr/>
        </p:nvSpPr>
        <p:spPr>
          <a:xfrm>
            <a:off x="658368" y="1508760"/>
            <a:ext cx="4023360" cy="256032"/>
          </a:xfrm>
          <a:prstGeom prst="rect">
            <a:avLst/>
          </a:prstGeom>
          <a:noFill/>
          <a:ln/>
        </p:spPr>
        <p:txBody>
          <a:bodyPr wrap="square" lIns="0" tIns="0" rIns="0" bIns="0" rtlCol="0" anchor="ctr"/>
          <a:lstStyle/>
          <a:p>
            <a:pPr indent="0" marL="0">
              <a:buNone/>
            </a:pPr>
            <a:r>
              <a:rPr lang="en-US" sz="1100" b="1" dirty="0">
                <a:solidFill>
                  <a:srgbClr val="0B8F6A"/>
                </a:solidFill>
                <a:latin typeface="Arial" pitchFamily="34" charset="0"/>
                <a:ea typeface="Arial" pitchFamily="34" charset="-122"/>
                <a:cs typeface="Arial" pitchFamily="34" charset="-120"/>
              </a:rPr>
              <a:t>VALIDATED IN THIS RUN</a:t>
            </a:r>
            <a:endParaRPr lang="en-US" sz="1100" dirty="0"/>
          </a:p>
        </p:txBody>
      </p:sp>
      <p:sp>
        <p:nvSpPr>
          <p:cNvPr id="6" name="Text 4"/>
          <p:cNvSpPr/>
          <p:nvPr/>
        </p:nvSpPr>
        <p:spPr>
          <a:xfrm>
            <a:off x="694944" y="1874520"/>
            <a:ext cx="5074920" cy="2606040"/>
          </a:xfrm>
          <a:prstGeom prst="rect">
            <a:avLst/>
          </a:prstGeom>
          <a:noFill/>
          <a:ln/>
        </p:spPr>
        <p:txBody>
          <a:bodyPr wrap="square" lIns="254" tIns="254" rIns="254" bIns="254" rtlCol="0" anchor="t">
            <a:normAutofit/>
          </a:bodyPr>
          <a:lstStyle/>
          <a:p>
            <a:pPr marL="170688" indent="-170688">
              <a:buSzPct val="100000"/>
              <a:buChar char="•"/>
            </a:pPr>
            <a:r>
              <a:rPr lang="en-US" sz="1120" dirty="0">
                <a:solidFill>
                  <a:srgbClr val="273142"/>
                </a:solidFill>
                <a:latin typeface="Arial" pitchFamily="34" charset="0"/>
                <a:ea typeface="Arial" pitchFamily="34" charset="-122"/>
                <a:cs typeface="Arial" pitchFamily="34" charset="-120"/>
              </a:rPr>
              <a:t>End-to-end pipeline runs on held-out future seasons.</a:t>
            </a:r>
            <a:endParaRPr lang="en-US" sz="1120" dirty="0"/>
          </a:p>
          <a:p>
            <a:pPr marL="170688" indent="-170688">
              <a:buSzPct val="100000"/>
              <a:buChar char="•"/>
            </a:pPr>
            <a:r>
              <a:rPr lang="en-US" sz="1120" dirty="0">
                <a:solidFill>
                  <a:srgbClr val="273142"/>
                </a:solidFill>
                <a:latin typeface="Arial" pitchFamily="34" charset="0"/>
                <a:ea typeface="Arial" pitchFamily="34" charset="-122"/>
                <a:cs typeface="Arial" pitchFamily="34" charset="-120"/>
              </a:rPr>
              <a:t>Pre-match and time-t leakage assertions pass.</a:t>
            </a:r>
            <a:endParaRPr lang="en-US" sz="1120" dirty="0"/>
          </a:p>
          <a:p>
            <a:pPr marL="170688" indent="-170688">
              <a:buSzPct val="100000"/>
              <a:buChar char="•"/>
            </a:pPr>
            <a:r>
              <a:rPr lang="en-US" sz="1120" dirty="0">
                <a:solidFill>
                  <a:srgbClr val="273142"/>
                </a:solidFill>
                <a:latin typeface="Arial" pitchFamily="34" charset="0"/>
                <a:ea typeface="Arial" pitchFamily="34" charset="-122"/>
                <a:cs typeface="Arial" pitchFamily="34" charset="-120"/>
              </a:rPr>
              <a:t>Performance is measured on three chronological splits.</a:t>
            </a:r>
            <a:endParaRPr lang="en-US" sz="1120" dirty="0"/>
          </a:p>
          <a:p>
            <a:pPr marL="170688" indent="-170688">
              <a:buSzPct val="100000"/>
              <a:buChar char="•"/>
            </a:pPr>
            <a:r>
              <a:rPr lang="en-US" sz="1120" dirty="0">
                <a:solidFill>
                  <a:srgbClr val="273142"/>
                </a:solidFill>
                <a:latin typeface="Arial" pitchFamily="34" charset="0"/>
                <a:ea typeface="Arial" pitchFamily="34" charset="-122"/>
                <a:cs typeface="Arial" pitchFamily="34" charset="-120"/>
              </a:rPr>
              <a:t>Probability metrics, calibration and SHAP artifacts are produced.</a:t>
            </a:r>
            <a:endParaRPr lang="en-US" sz="1120" dirty="0"/>
          </a:p>
        </p:txBody>
      </p:sp>
      <p:sp>
        <p:nvSpPr>
          <p:cNvPr id="7" name="Text 5"/>
          <p:cNvSpPr/>
          <p:nvPr/>
        </p:nvSpPr>
        <p:spPr>
          <a:xfrm>
            <a:off x="6199632" y="1508760"/>
            <a:ext cx="4023360" cy="256032"/>
          </a:xfrm>
          <a:prstGeom prst="rect">
            <a:avLst/>
          </a:prstGeom>
          <a:noFill/>
          <a:ln/>
        </p:spPr>
        <p:txBody>
          <a:bodyPr wrap="square" lIns="0" tIns="0" rIns="0" bIns="0" rtlCol="0" anchor="ctr"/>
          <a:lstStyle/>
          <a:p>
            <a:pPr indent="0" marL="0">
              <a:buNone/>
            </a:pPr>
            <a:r>
              <a:rPr lang="en-US" sz="1100" b="1" dirty="0">
                <a:solidFill>
                  <a:srgbClr val="C94949"/>
                </a:solidFill>
                <a:latin typeface="Arial" pitchFamily="34" charset="0"/>
                <a:ea typeface="Arial" pitchFamily="34" charset="-122"/>
                <a:cs typeface="Arial" pitchFamily="34" charset="-120"/>
              </a:rPr>
              <a:t>NOT YET VALIDATED</a:t>
            </a:r>
            <a:endParaRPr lang="en-US" sz="1100" dirty="0"/>
          </a:p>
        </p:txBody>
      </p:sp>
      <p:sp>
        <p:nvSpPr>
          <p:cNvPr id="8" name="Text 6"/>
          <p:cNvSpPr/>
          <p:nvPr/>
        </p:nvSpPr>
        <p:spPr>
          <a:xfrm>
            <a:off x="6236208" y="1874520"/>
            <a:ext cx="5074920" cy="2606040"/>
          </a:xfrm>
          <a:prstGeom prst="rect">
            <a:avLst/>
          </a:prstGeom>
          <a:noFill/>
          <a:ln/>
        </p:spPr>
        <p:txBody>
          <a:bodyPr wrap="square" lIns="254" tIns="254" rIns="254" bIns="254" rtlCol="0" anchor="t">
            <a:normAutofit/>
          </a:bodyPr>
          <a:lstStyle/>
          <a:p>
            <a:pPr marL="170688" indent="-170688">
              <a:buSzPct val="100000"/>
              <a:buChar char="•"/>
            </a:pPr>
            <a:r>
              <a:rPr lang="en-US" sz="1120" dirty="0">
                <a:solidFill>
                  <a:srgbClr val="273142"/>
                </a:solidFill>
                <a:latin typeface="Arial" pitchFamily="34" charset="0"/>
                <a:ea typeface="Arial" pitchFamily="34" charset="-122"/>
                <a:cs typeface="Arial" pitchFamily="34" charset="-120"/>
              </a:rPr>
              <a:t>Generalization to full La Liga, other teams, leagues or eras.</a:t>
            </a:r>
            <a:endParaRPr lang="en-US" sz="1120" dirty="0"/>
          </a:p>
          <a:p>
            <a:pPr marL="170688" indent="-170688">
              <a:buSzPct val="100000"/>
              <a:buChar char="•"/>
            </a:pPr>
            <a:r>
              <a:rPr lang="en-US" sz="1120" dirty="0">
                <a:solidFill>
                  <a:srgbClr val="273142"/>
                </a:solidFill>
                <a:latin typeface="Arial" pitchFamily="34" charset="0"/>
                <a:ea typeface="Arial" pitchFamily="34" charset="-122"/>
                <a:cs typeface="Arial" pitchFamily="34" charset="-120"/>
              </a:rPr>
              <a:t>A valid model-vs-bookmaker comparison in the saved run.</a:t>
            </a:r>
            <a:endParaRPr lang="en-US" sz="1120" dirty="0"/>
          </a:p>
          <a:p>
            <a:pPr marL="170688" indent="-170688">
              <a:buSzPct val="100000"/>
              <a:buChar char="•"/>
            </a:pPr>
            <a:r>
              <a:rPr lang="en-US" sz="1120" dirty="0">
                <a:solidFill>
                  <a:srgbClr val="273142"/>
                </a:solidFill>
                <a:latin typeface="Arial" pitchFamily="34" charset="0"/>
                <a:ea typeface="Arial" pitchFamily="34" charset="-122"/>
                <a:cs typeface="Arial" pitchFamily="34" charset="-120"/>
              </a:rPr>
              <a:t>A universal “64% accuracy” independent of season.</a:t>
            </a:r>
            <a:endParaRPr lang="en-US" sz="1120" dirty="0"/>
          </a:p>
          <a:p>
            <a:pPr marL="170688" indent="-170688">
              <a:buSzPct val="100000"/>
              <a:buChar char="•"/>
            </a:pPr>
            <a:r>
              <a:rPr lang="en-US" sz="1120" dirty="0">
                <a:solidFill>
                  <a:srgbClr val="273142"/>
                </a:solidFill>
                <a:latin typeface="Arial" pitchFamily="34" charset="0"/>
                <a:ea typeface="Arial" pitchFamily="34" charset="-122"/>
                <a:cs typeface="Arial" pitchFamily="34" charset="-120"/>
              </a:rPr>
              <a:t>Stable calibration under every small-sample season.</a:t>
            </a:r>
            <a:endParaRPr lang="en-US" sz="1120" dirty="0"/>
          </a:p>
        </p:txBody>
      </p:sp>
      <p:sp>
        <p:nvSpPr>
          <p:cNvPr id="9" name="Shape 7"/>
          <p:cNvSpPr/>
          <p:nvPr/>
        </p:nvSpPr>
        <p:spPr>
          <a:xfrm>
            <a:off x="694944" y="4754880"/>
            <a:ext cx="3383280" cy="1060704"/>
          </a:xfrm>
          <a:prstGeom prst="roundRect">
            <a:avLst>
              <a:gd name="adj" fmla="val 5172"/>
            </a:avLst>
          </a:prstGeom>
          <a:solidFill>
            <a:srgbClr val="FFF5D8"/>
          </a:solidFill>
          <a:ln w="12700">
            <a:solidFill>
              <a:srgbClr val="FFF5D8"/>
            </a:solidFill>
            <a:prstDash val="solid"/>
          </a:ln>
        </p:spPr>
      </p:sp>
      <p:sp>
        <p:nvSpPr>
          <p:cNvPr id="10" name="Shape 8"/>
          <p:cNvSpPr/>
          <p:nvPr/>
        </p:nvSpPr>
        <p:spPr>
          <a:xfrm>
            <a:off x="694944" y="4754880"/>
            <a:ext cx="91440" cy="1060704"/>
          </a:xfrm>
          <a:prstGeom prst="rect">
            <a:avLst/>
          </a:prstGeom>
          <a:solidFill>
            <a:srgbClr val="F4B942"/>
          </a:solidFill>
          <a:ln w="12700">
            <a:solidFill>
              <a:srgbClr val="F4B942"/>
            </a:solidFill>
            <a:prstDash val="solid"/>
          </a:ln>
        </p:spPr>
      </p:sp>
      <p:sp>
        <p:nvSpPr>
          <p:cNvPr id="11" name="Text 9"/>
          <p:cNvSpPr/>
          <p:nvPr/>
        </p:nvSpPr>
        <p:spPr>
          <a:xfrm>
            <a:off x="914400" y="4873752"/>
            <a:ext cx="301752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#1 limitation</a:t>
            </a:r>
            <a:endParaRPr lang="en-US" sz="1050" dirty="0"/>
          </a:p>
        </p:txBody>
      </p:sp>
      <p:sp>
        <p:nvSpPr>
          <p:cNvPr id="12" name="Text 10"/>
          <p:cNvSpPr/>
          <p:nvPr/>
        </p:nvSpPr>
        <p:spPr>
          <a:xfrm>
            <a:off x="914400" y="5148072"/>
            <a:ext cx="2999232" cy="566928"/>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First outer training split has only 17 modeling matches.</a:t>
            </a:r>
            <a:endParaRPr lang="en-US" sz="920" dirty="0"/>
          </a:p>
        </p:txBody>
      </p:sp>
      <p:sp>
        <p:nvSpPr>
          <p:cNvPr id="13" name="Shape 11"/>
          <p:cNvSpPr/>
          <p:nvPr/>
        </p:nvSpPr>
        <p:spPr>
          <a:xfrm>
            <a:off x="4407408" y="4754880"/>
            <a:ext cx="3383280" cy="1060704"/>
          </a:xfrm>
          <a:prstGeom prst="roundRect">
            <a:avLst>
              <a:gd name="adj" fmla="val 5172"/>
            </a:avLst>
          </a:prstGeom>
          <a:solidFill>
            <a:srgbClr val="FFF5D8"/>
          </a:solidFill>
          <a:ln w="12700">
            <a:solidFill>
              <a:srgbClr val="FFF5D8"/>
            </a:solidFill>
            <a:prstDash val="solid"/>
          </a:ln>
        </p:spPr>
      </p:sp>
      <p:sp>
        <p:nvSpPr>
          <p:cNvPr id="14" name="Shape 12"/>
          <p:cNvSpPr/>
          <p:nvPr/>
        </p:nvSpPr>
        <p:spPr>
          <a:xfrm>
            <a:off x="4407408" y="4754880"/>
            <a:ext cx="91440" cy="1060704"/>
          </a:xfrm>
          <a:prstGeom prst="rect">
            <a:avLst/>
          </a:prstGeom>
          <a:solidFill>
            <a:srgbClr val="F4B942"/>
          </a:solidFill>
          <a:ln w="12700">
            <a:solidFill>
              <a:srgbClr val="F4B942"/>
            </a:solidFill>
            <a:prstDash val="solid"/>
          </a:ln>
        </p:spPr>
      </p:sp>
      <p:sp>
        <p:nvSpPr>
          <p:cNvPr id="15" name="Text 13"/>
          <p:cNvSpPr/>
          <p:nvPr/>
        </p:nvSpPr>
        <p:spPr>
          <a:xfrm>
            <a:off x="4626864" y="4873752"/>
            <a:ext cx="301752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#2 limitation</a:t>
            </a:r>
            <a:endParaRPr lang="en-US" sz="1050" dirty="0"/>
          </a:p>
        </p:txBody>
      </p:sp>
      <p:sp>
        <p:nvSpPr>
          <p:cNvPr id="16" name="Text 14"/>
          <p:cNvSpPr/>
          <p:nvPr/>
        </p:nvSpPr>
        <p:spPr>
          <a:xfrm>
            <a:off x="4626864" y="5148072"/>
            <a:ext cx="2999232" cy="566928"/>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Dataset is Barcelona-centered, not a full-league sample.</a:t>
            </a:r>
            <a:endParaRPr lang="en-US" sz="920" dirty="0"/>
          </a:p>
        </p:txBody>
      </p:sp>
      <p:sp>
        <p:nvSpPr>
          <p:cNvPr id="17" name="Shape 15"/>
          <p:cNvSpPr/>
          <p:nvPr/>
        </p:nvSpPr>
        <p:spPr>
          <a:xfrm>
            <a:off x="8119872" y="4754880"/>
            <a:ext cx="3383280" cy="1060704"/>
          </a:xfrm>
          <a:prstGeom prst="roundRect">
            <a:avLst>
              <a:gd name="adj" fmla="val 5172"/>
            </a:avLst>
          </a:prstGeom>
          <a:solidFill>
            <a:srgbClr val="FDECEC"/>
          </a:solidFill>
          <a:ln w="12700">
            <a:solidFill>
              <a:srgbClr val="FDECEC"/>
            </a:solidFill>
            <a:prstDash val="solid"/>
          </a:ln>
        </p:spPr>
      </p:sp>
      <p:sp>
        <p:nvSpPr>
          <p:cNvPr id="18" name="Shape 16"/>
          <p:cNvSpPr/>
          <p:nvPr/>
        </p:nvSpPr>
        <p:spPr>
          <a:xfrm>
            <a:off x="8119872" y="4754880"/>
            <a:ext cx="91440" cy="1060704"/>
          </a:xfrm>
          <a:prstGeom prst="rect">
            <a:avLst/>
          </a:prstGeom>
          <a:solidFill>
            <a:srgbClr val="C94949"/>
          </a:solidFill>
          <a:ln w="12700">
            <a:solidFill>
              <a:srgbClr val="C94949"/>
            </a:solidFill>
            <a:prstDash val="solid"/>
          </a:ln>
        </p:spPr>
      </p:sp>
      <p:sp>
        <p:nvSpPr>
          <p:cNvPr id="19" name="Text 17"/>
          <p:cNvSpPr/>
          <p:nvPr/>
        </p:nvSpPr>
        <p:spPr>
          <a:xfrm>
            <a:off x="8339328" y="4873752"/>
            <a:ext cx="301752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#3 limitation</a:t>
            </a:r>
            <a:endParaRPr lang="en-US" sz="1050" dirty="0"/>
          </a:p>
        </p:txBody>
      </p:sp>
      <p:sp>
        <p:nvSpPr>
          <p:cNvPr id="20" name="Text 18"/>
          <p:cNvSpPr/>
          <p:nvPr/>
        </p:nvSpPr>
        <p:spPr>
          <a:xfrm>
            <a:off x="8339328" y="5148072"/>
            <a:ext cx="2999232" cy="566928"/>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Odds tagging is 0% and must be fixed before market claims.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17 · DEFENSE Q&amp;A</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Likely examiner questions · part 1</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Keep these answers short, scoped and defensible.</a:t>
            </a:r>
            <a:endParaRPr lang="en-US" sz="1050" dirty="0"/>
          </a:p>
        </p:txBody>
      </p:sp>
      <p:sp>
        <p:nvSpPr>
          <p:cNvPr id="5" name="Shape 3"/>
          <p:cNvSpPr/>
          <p:nvPr/>
        </p:nvSpPr>
        <p:spPr>
          <a:xfrm>
            <a:off x="658368" y="1481328"/>
            <a:ext cx="5440680" cy="1243584"/>
          </a:xfrm>
          <a:prstGeom prst="roundRect">
            <a:avLst>
              <a:gd name="adj" fmla="val 5882"/>
            </a:avLst>
          </a:prstGeom>
          <a:solidFill>
            <a:srgbClr val="FFFFFF"/>
          </a:solidFill>
          <a:ln w="10160">
            <a:solidFill>
              <a:srgbClr val="DDE5EA"/>
            </a:solidFill>
            <a:prstDash val="solid"/>
          </a:ln>
        </p:spPr>
      </p:sp>
      <p:sp>
        <p:nvSpPr>
          <p:cNvPr id="6" name="Shape 4"/>
          <p:cNvSpPr/>
          <p:nvPr/>
        </p:nvSpPr>
        <p:spPr>
          <a:xfrm>
            <a:off x="658368" y="1481328"/>
            <a:ext cx="73152" cy="1243584"/>
          </a:xfrm>
          <a:prstGeom prst="rect">
            <a:avLst/>
          </a:prstGeom>
          <a:solidFill>
            <a:srgbClr val="0B8F6A"/>
          </a:solidFill>
          <a:ln w="12700">
            <a:solidFill>
              <a:srgbClr val="0B8F6A"/>
            </a:solidFill>
            <a:prstDash val="solid"/>
          </a:ln>
        </p:spPr>
      </p:sp>
      <p:sp>
        <p:nvSpPr>
          <p:cNvPr id="7" name="Text 5"/>
          <p:cNvSpPr/>
          <p:nvPr/>
        </p:nvSpPr>
        <p:spPr>
          <a:xfrm>
            <a:off x="859536" y="1627632"/>
            <a:ext cx="50932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What features did you use?</a:t>
            </a:r>
            <a:endParaRPr lang="en-US" sz="1100" dirty="0"/>
          </a:p>
        </p:txBody>
      </p:sp>
      <p:sp>
        <p:nvSpPr>
          <p:cNvPr id="8" name="Text 6"/>
          <p:cNvSpPr/>
          <p:nvPr/>
        </p:nvSpPr>
        <p:spPr>
          <a:xfrm>
            <a:off x="859536" y="1956816"/>
            <a:ext cx="5074920" cy="649224"/>
          </a:xfrm>
          <a:prstGeom prst="rect">
            <a:avLst/>
          </a:prstGeom>
          <a:noFill/>
          <a:ln/>
        </p:spPr>
        <p:txBody>
          <a:bodyPr wrap="square" lIns="0" tIns="0" rIns="0" bIns="0" rtlCol="0" anchor="t">
            <a:normAutofit/>
          </a:bodyPr>
          <a:lstStyle/>
          <a:p>
            <a:pPr indent="0" marL="0">
              <a:buNone/>
            </a:pPr>
            <a:r>
              <a:rPr lang="en-US" sz="910" dirty="0">
                <a:solidFill>
                  <a:srgbClr val="273142"/>
                </a:solidFill>
                <a:latin typeface="Arial" pitchFamily="34" charset="0"/>
                <a:ea typeface="Arial" pitchFamily="34" charset="-122"/>
                <a:cs typeface="Arial" pitchFamily="34" charset="-120"/>
              </a:rPr>
              <a:t>Pre-match: rolling form, goals/points, shots/xG, passing, pressure, territory, set pieces, defensive actions/cards, efficiency, rest, venue rates, momentum and home-away differences. Live: score, man advantage, cumulative events, recent 5-minute rates and pre-match prior.</a:t>
            </a:r>
            <a:endParaRPr lang="en-US" sz="910" dirty="0"/>
          </a:p>
        </p:txBody>
      </p:sp>
      <p:sp>
        <p:nvSpPr>
          <p:cNvPr id="9" name="Shape 7"/>
          <p:cNvSpPr/>
          <p:nvPr/>
        </p:nvSpPr>
        <p:spPr>
          <a:xfrm>
            <a:off x="6336792" y="1481328"/>
            <a:ext cx="5193792" cy="1243584"/>
          </a:xfrm>
          <a:prstGeom prst="roundRect">
            <a:avLst>
              <a:gd name="adj" fmla="val 5882"/>
            </a:avLst>
          </a:prstGeom>
          <a:solidFill>
            <a:srgbClr val="FDECEC"/>
          </a:solidFill>
          <a:ln w="10160">
            <a:solidFill>
              <a:srgbClr val="DDE5EA"/>
            </a:solidFill>
            <a:prstDash val="solid"/>
          </a:ln>
        </p:spPr>
      </p:sp>
      <p:sp>
        <p:nvSpPr>
          <p:cNvPr id="10" name="Shape 8"/>
          <p:cNvSpPr/>
          <p:nvPr/>
        </p:nvSpPr>
        <p:spPr>
          <a:xfrm>
            <a:off x="6336792" y="1481328"/>
            <a:ext cx="73152" cy="1243584"/>
          </a:xfrm>
          <a:prstGeom prst="rect">
            <a:avLst/>
          </a:prstGeom>
          <a:solidFill>
            <a:srgbClr val="C94949"/>
          </a:solidFill>
          <a:ln w="12700">
            <a:solidFill>
              <a:srgbClr val="C94949"/>
            </a:solidFill>
            <a:prstDash val="solid"/>
          </a:ln>
        </p:spPr>
      </p:sp>
      <p:sp>
        <p:nvSpPr>
          <p:cNvPr id="11" name="Text 9"/>
          <p:cNvSpPr/>
          <p:nvPr/>
        </p:nvSpPr>
        <p:spPr>
          <a:xfrm>
            <a:off x="6537960" y="1627632"/>
            <a:ext cx="4846320"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What market features did you add?</a:t>
            </a:r>
            <a:endParaRPr lang="en-US" sz="1100" dirty="0"/>
          </a:p>
        </p:txBody>
      </p:sp>
      <p:sp>
        <p:nvSpPr>
          <p:cNvPr id="12" name="Text 10"/>
          <p:cNvSpPr/>
          <p:nvPr/>
        </p:nvSpPr>
        <p:spPr>
          <a:xfrm>
            <a:off x="6537960" y="1956816"/>
            <a:ext cx="4828032" cy="649224"/>
          </a:xfrm>
          <a:prstGeom prst="rect">
            <a:avLst/>
          </a:prstGeom>
          <a:noFill/>
          <a:ln/>
        </p:spPr>
        <p:txBody>
          <a:bodyPr wrap="square" lIns="0" tIns="0" rIns="0" bIns="0" rtlCol="0" anchor="t">
            <a:normAutofit/>
          </a:bodyPr>
          <a:lstStyle/>
          <a:p>
            <a:pPr indent="0" marL="0">
              <a:buNone/>
            </a:pPr>
            <a:r>
              <a:rPr lang="en-US" sz="930" dirty="0">
                <a:solidFill>
                  <a:srgbClr val="273142"/>
                </a:solidFill>
                <a:latin typeface="Arial" pitchFamily="34" charset="0"/>
                <a:ea typeface="Arial" pitchFamily="34" charset="-122"/>
                <a:cs typeface="Arial" pitchFamily="34" charset="-120"/>
              </a:rPr>
              <a:t>odds_tagged and de-vigged market_p_H / market_p_D / market_p_A. Saved tagging coverage is 0%, so they are not valid evidence and no market comparison is claimed.</a:t>
            </a:r>
            <a:endParaRPr lang="en-US" sz="930" dirty="0"/>
          </a:p>
        </p:txBody>
      </p:sp>
      <p:sp>
        <p:nvSpPr>
          <p:cNvPr id="13" name="Shape 11"/>
          <p:cNvSpPr/>
          <p:nvPr/>
        </p:nvSpPr>
        <p:spPr>
          <a:xfrm>
            <a:off x="658368" y="2990088"/>
            <a:ext cx="5440680" cy="1243584"/>
          </a:xfrm>
          <a:prstGeom prst="roundRect">
            <a:avLst>
              <a:gd name="adj" fmla="val 5882"/>
            </a:avLst>
          </a:prstGeom>
          <a:solidFill>
            <a:srgbClr val="FFFFFF"/>
          </a:solidFill>
          <a:ln w="10160">
            <a:solidFill>
              <a:srgbClr val="DDE5EA"/>
            </a:solidFill>
            <a:prstDash val="solid"/>
          </a:ln>
        </p:spPr>
      </p:sp>
      <p:sp>
        <p:nvSpPr>
          <p:cNvPr id="14" name="Shape 12"/>
          <p:cNvSpPr/>
          <p:nvPr/>
        </p:nvSpPr>
        <p:spPr>
          <a:xfrm>
            <a:off x="658368" y="2990088"/>
            <a:ext cx="73152" cy="1243584"/>
          </a:xfrm>
          <a:prstGeom prst="rect">
            <a:avLst/>
          </a:prstGeom>
          <a:solidFill>
            <a:srgbClr val="22B8A0"/>
          </a:solidFill>
          <a:ln w="12700">
            <a:solidFill>
              <a:srgbClr val="22B8A0"/>
            </a:solidFill>
            <a:prstDash val="solid"/>
          </a:ln>
        </p:spPr>
      </p:sp>
      <p:sp>
        <p:nvSpPr>
          <p:cNvPr id="15" name="Text 13"/>
          <p:cNvSpPr/>
          <p:nvPr/>
        </p:nvSpPr>
        <p:spPr>
          <a:xfrm>
            <a:off x="859536" y="3136392"/>
            <a:ext cx="50932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What did you do for validation?</a:t>
            </a:r>
            <a:endParaRPr lang="en-US" sz="1100" dirty="0"/>
          </a:p>
        </p:txBody>
      </p:sp>
      <p:sp>
        <p:nvSpPr>
          <p:cNvPr id="16" name="Text 14"/>
          <p:cNvSpPr/>
          <p:nvPr/>
        </p:nvSpPr>
        <p:spPr>
          <a:xfrm>
            <a:off x="859536" y="3465576"/>
            <a:ext cx="5074920" cy="649224"/>
          </a:xfrm>
          <a:prstGeom prst="rect">
            <a:avLst/>
          </a:prstGeom>
          <a:noFill/>
          <a:ln/>
        </p:spPr>
        <p:txBody>
          <a:bodyPr wrap="square" lIns="0" tIns="0" rIns="0" bIns="0" rtlCol="0" anchor="t">
            <a:normAutofit/>
          </a:bodyPr>
          <a:lstStyle/>
          <a:p>
            <a:pPr indent="0" marL="0">
              <a:buNone/>
            </a:pPr>
            <a:r>
              <a:rPr lang="en-US" sz="930" dirty="0">
                <a:solidFill>
                  <a:srgbClr val="273142"/>
                </a:solidFill>
                <a:latin typeface="Arial" pitchFamily="34" charset="0"/>
                <a:ea typeface="Arial" pitchFamily="34" charset="-122"/>
                <a:cs typeface="Arial" pitchFamily="34" charset="-120"/>
              </a:rPr>
              <a:t>Three outer season-ahead tests: 2017/18→2018/19, 2018/19→2019/20, 2019/20→2020/21. Tuning/calibration happen on training only; all snapshots of one match stay together.</a:t>
            </a:r>
            <a:endParaRPr lang="en-US" sz="930" dirty="0"/>
          </a:p>
        </p:txBody>
      </p:sp>
      <p:sp>
        <p:nvSpPr>
          <p:cNvPr id="17" name="Shape 15"/>
          <p:cNvSpPr/>
          <p:nvPr/>
        </p:nvSpPr>
        <p:spPr>
          <a:xfrm>
            <a:off x="6336792" y="2990088"/>
            <a:ext cx="5193792" cy="1243584"/>
          </a:xfrm>
          <a:prstGeom prst="roundRect">
            <a:avLst>
              <a:gd name="adj" fmla="val 5882"/>
            </a:avLst>
          </a:prstGeom>
          <a:solidFill>
            <a:srgbClr val="FFFFFF"/>
          </a:solidFill>
          <a:ln w="10160">
            <a:solidFill>
              <a:srgbClr val="DDE5EA"/>
            </a:solidFill>
            <a:prstDash val="solid"/>
          </a:ln>
        </p:spPr>
      </p:sp>
      <p:sp>
        <p:nvSpPr>
          <p:cNvPr id="18" name="Shape 16"/>
          <p:cNvSpPr/>
          <p:nvPr/>
        </p:nvSpPr>
        <p:spPr>
          <a:xfrm>
            <a:off x="6336792" y="2990088"/>
            <a:ext cx="73152" cy="1243584"/>
          </a:xfrm>
          <a:prstGeom prst="rect">
            <a:avLst/>
          </a:prstGeom>
          <a:solidFill>
            <a:srgbClr val="F4B942"/>
          </a:solidFill>
          <a:ln w="12700">
            <a:solidFill>
              <a:srgbClr val="F4B942"/>
            </a:solidFill>
            <a:prstDash val="solid"/>
          </a:ln>
        </p:spPr>
      </p:sp>
      <p:sp>
        <p:nvSpPr>
          <p:cNvPr id="19" name="Text 17"/>
          <p:cNvSpPr/>
          <p:nvPr/>
        </p:nvSpPr>
        <p:spPr>
          <a:xfrm>
            <a:off x="6537960" y="3136392"/>
            <a:ext cx="4846320"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How do you know the model is good?</a:t>
            </a:r>
            <a:endParaRPr lang="en-US" sz="1100" dirty="0"/>
          </a:p>
        </p:txBody>
      </p:sp>
      <p:sp>
        <p:nvSpPr>
          <p:cNvPr id="20" name="Text 18"/>
          <p:cNvSpPr/>
          <p:nvPr/>
        </p:nvSpPr>
        <p:spPr>
          <a:xfrm>
            <a:off x="6537960" y="3465576"/>
            <a:ext cx="4828032" cy="649224"/>
          </a:xfrm>
          <a:prstGeom prst="rect">
            <a:avLst/>
          </a:prstGeom>
          <a:noFill/>
          <a:ln/>
        </p:spPr>
        <p:txBody>
          <a:bodyPr wrap="square" lIns="0" tIns="0" rIns="0" bIns="0" rtlCol="0" anchor="t">
            <a:normAutofit/>
          </a:bodyPr>
          <a:lstStyle/>
          <a:p>
            <a:pPr indent="0" marL="0">
              <a:buNone/>
            </a:pPr>
            <a:r>
              <a:rPr lang="en-US" sz="930" dirty="0">
                <a:solidFill>
                  <a:srgbClr val="273142"/>
                </a:solidFill>
                <a:latin typeface="Arial" pitchFamily="34" charset="0"/>
                <a:ea typeface="Arial" pitchFamily="34" charset="-122"/>
                <a:cs typeface="Arial" pitchFamily="34" charset="-120"/>
              </a:rPr>
              <a:t>Not from accuracy alone: future-season tests + dummy baseline + RPS/Log Loss/Brier/ECE + balanced accuracy/F1 + reliability diagrams + SHAP failure analysis.</a:t>
            </a:r>
            <a:endParaRPr lang="en-US" sz="930" dirty="0"/>
          </a:p>
        </p:txBody>
      </p:sp>
      <p:sp>
        <p:nvSpPr>
          <p:cNvPr id="21" name="Shape 19"/>
          <p:cNvSpPr/>
          <p:nvPr/>
        </p:nvSpPr>
        <p:spPr>
          <a:xfrm>
            <a:off x="658368" y="4590288"/>
            <a:ext cx="10872216" cy="960120"/>
          </a:xfrm>
          <a:prstGeom prst="roundRect">
            <a:avLst>
              <a:gd name="adj" fmla="val 5714"/>
            </a:avLst>
          </a:prstGeom>
          <a:solidFill>
            <a:srgbClr val="E9F8F3"/>
          </a:solidFill>
          <a:ln w="12700">
            <a:solidFill>
              <a:srgbClr val="E9F8F3"/>
            </a:solidFill>
            <a:prstDash val="solid"/>
          </a:ln>
        </p:spPr>
      </p:sp>
      <p:sp>
        <p:nvSpPr>
          <p:cNvPr id="22" name="Shape 20"/>
          <p:cNvSpPr/>
          <p:nvPr/>
        </p:nvSpPr>
        <p:spPr>
          <a:xfrm>
            <a:off x="658368" y="4590288"/>
            <a:ext cx="91440" cy="960120"/>
          </a:xfrm>
          <a:prstGeom prst="rect">
            <a:avLst/>
          </a:prstGeom>
          <a:solidFill>
            <a:srgbClr val="0B8F6A"/>
          </a:solidFill>
          <a:ln w="12700">
            <a:solidFill>
              <a:srgbClr val="0B8F6A"/>
            </a:solidFill>
            <a:prstDash val="solid"/>
          </a:ln>
        </p:spPr>
      </p:sp>
      <p:sp>
        <p:nvSpPr>
          <p:cNvPr id="23" name="Text 21"/>
          <p:cNvSpPr/>
          <p:nvPr/>
        </p:nvSpPr>
        <p:spPr>
          <a:xfrm>
            <a:off x="877824" y="4709160"/>
            <a:ext cx="10506456"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A useful sentence to memorize</a:t>
            </a:r>
            <a:endParaRPr lang="en-US" sz="1050" dirty="0"/>
          </a:p>
        </p:txBody>
      </p:sp>
      <p:sp>
        <p:nvSpPr>
          <p:cNvPr id="24" name="Text 22"/>
          <p:cNvSpPr/>
          <p:nvPr/>
        </p:nvSpPr>
        <p:spPr>
          <a:xfrm>
            <a:off x="877824" y="4983480"/>
            <a:ext cx="10488168" cy="466344"/>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“A valid football forecast is not just the correct class; it is a well-calibrated probability distribution that generalizes to future matches without leakage.”</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18 · DEFENSE Q&amp;A</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Likely examiner questions · part 2</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The most important issue is attaching every number to its test data.</a:t>
            </a:r>
            <a:endParaRPr lang="en-US" sz="1050" dirty="0"/>
          </a:p>
        </p:txBody>
      </p:sp>
      <p:sp>
        <p:nvSpPr>
          <p:cNvPr id="5" name="Shape 3"/>
          <p:cNvSpPr/>
          <p:nvPr/>
        </p:nvSpPr>
        <p:spPr>
          <a:xfrm>
            <a:off x="658368" y="1490472"/>
            <a:ext cx="5413248" cy="1463040"/>
          </a:xfrm>
          <a:prstGeom prst="roundRect">
            <a:avLst>
              <a:gd name="adj" fmla="val 5000"/>
            </a:avLst>
          </a:prstGeom>
          <a:solidFill>
            <a:srgbClr val="FFFFFF"/>
          </a:solidFill>
          <a:ln w="10160">
            <a:solidFill>
              <a:srgbClr val="DDE5EA"/>
            </a:solidFill>
            <a:prstDash val="solid"/>
          </a:ln>
        </p:spPr>
      </p:sp>
      <p:sp>
        <p:nvSpPr>
          <p:cNvPr id="6" name="Shape 4"/>
          <p:cNvSpPr/>
          <p:nvPr/>
        </p:nvSpPr>
        <p:spPr>
          <a:xfrm>
            <a:off x="658368" y="1490472"/>
            <a:ext cx="73152" cy="1463040"/>
          </a:xfrm>
          <a:prstGeom prst="rect">
            <a:avLst/>
          </a:prstGeom>
          <a:solidFill>
            <a:srgbClr val="0B8F6A"/>
          </a:solidFill>
          <a:ln w="12700">
            <a:solidFill>
              <a:srgbClr val="0B8F6A"/>
            </a:solidFill>
            <a:prstDash val="solid"/>
          </a:ln>
        </p:spPr>
      </p:sp>
      <p:sp>
        <p:nvSpPr>
          <p:cNvPr id="7" name="Text 5"/>
          <p:cNvSpPr/>
          <p:nvPr/>
        </p:nvSpPr>
        <p:spPr>
          <a:xfrm>
            <a:off x="859536" y="1636776"/>
            <a:ext cx="5065776"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These accuracy numbers belong to which data?</a:t>
            </a:r>
            <a:endParaRPr lang="en-US" sz="1100" dirty="0"/>
          </a:p>
        </p:txBody>
      </p:sp>
      <p:sp>
        <p:nvSpPr>
          <p:cNvPr id="8" name="Text 6"/>
          <p:cNvSpPr/>
          <p:nvPr/>
        </p:nvSpPr>
        <p:spPr>
          <a:xfrm>
            <a:off x="859536" y="1965960"/>
            <a:ext cx="5047488" cy="868680"/>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La Liga StatsBomb Open Data subset for 2017/18–2020/21, centered on Barcelona matches. Example: 63.6% GBM accuracy is specifically the held-out 2020/21 subset of 33 modeling matches after training on 2019/20.</a:t>
            </a:r>
            <a:endParaRPr lang="en-US" sz="940" dirty="0"/>
          </a:p>
        </p:txBody>
      </p:sp>
      <p:sp>
        <p:nvSpPr>
          <p:cNvPr id="9" name="Shape 7"/>
          <p:cNvSpPr/>
          <p:nvPr/>
        </p:nvSpPr>
        <p:spPr>
          <a:xfrm>
            <a:off x="6309360" y="1490472"/>
            <a:ext cx="5212080" cy="1463040"/>
          </a:xfrm>
          <a:prstGeom prst="roundRect">
            <a:avLst>
              <a:gd name="adj" fmla="val 5000"/>
            </a:avLst>
          </a:prstGeom>
          <a:solidFill>
            <a:srgbClr val="FFF5D8"/>
          </a:solidFill>
          <a:ln w="10160">
            <a:solidFill>
              <a:srgbClr val="DDE5EA"/>
            </a:solidFill>
            <a:prstDash val="solid"/>
          </a:ln>
        </p:spPr>
      </p:sp>
      <p:sp>
        <p:nvSpPr>
          <p:cNvPr id="10" name="Shape 8"/>
          <p:cNvSpPr/>
          <p:nvPr/>
        </p:nvSpPr>
        <p:spPr>
          <a:xfrm>
            <a:off x="6309360" y="1490472"/>
            <a:ext cx="73152" cy="1463040"/>
          </a:xfrm>
          <a:prstGeom prst="rect">
            <a:avLst/>
          </a:prstGeom>
          <a:solidFill>
            <a:srgbClr val="F4B942"/>
          </a:solidFill>
          <a:ln w="12700">
            <a:solidFill>
              <a:srgbClr val="F4B942"/>
            </a:solidFill>
            <a:prstDash val="solid"/>
          </a:ln>
        </p:spPr>
      </p:sp>
      <p:sp>
        <p:nvSpPr>
          <p:cNvPr id="11" name="Text 9"/>
          <p:cNvSpPr/>
          <p:nvPr/>
        </p:nvSpPr>
        <p:spPr>
          <a:xfrm>
            <a:off x="6510528" y="1636776"/>
            <a:ext cx="48646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If one year is 64%, why would another year also be 64%?</a:t>
            </a:r>
            <a:endParaRPr lang="en-US" sz="1100" dirty="0"/>
          </a:p>
        </p:txBody>
      </p:sp>
      <p:sp>
        <p:nvSpPr>
          <p:cNvPr id="12" name="Text 10"/>
          <p:cNvSpPr/>
          <p:nvPr/>
        </p:nvSpPr>
        <p:spPr>
          <a:xfrm>
            <a:off x="6510528" y="1965960"/>
            <a:ext cx="4846320" cy="868680"/>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It should NOT be assumed. The same SVC produced 51.6%, 70.0% and 60.6% accuracy on three different future seasons. The variation is temporal distribution shift.</a:t>
            </a:r>
            <a:endParaRPr lang="en-US" sz="940" dirty="0"/>
          </a:p>
        </p:txBody>
      </p:sp>
      <p:sp>
        <p:nvSpPr>
          <p:cNvPr id="13" name="Shape 11"/>
          <p:cNvSpPr/>
          <p:nvPr/>
        </p:nvSpPr>
        <p:spPr>
          <a:xfrm>
            <a:off x="658368" y="3273552"/>
            <a:ext cx="5413248" cy="1463040"/>
          </a:xfrm>
          <a:prstGeom prst="roundRect">
            <a:avLst>
              <a:gd name="adj" fmla="val 5000"/>
            </a:avLst>
          </a:prstGeom>
          <a:solidFill>
            <a:srgbClr val="FFFFFF"/>
          </a:solidFill>
          <a:ln w="10160">
            <a:solidFill>
              <a:srgbClr val="DDE5EA"/>
            </a:solidFill>
            <a:prstDash val="solid"/>
          </a:ln>
        </p:spPr>
      </p:sp>
      <p:sp>
        <p:nvSpPr>
          <p:cNvPr id="14" name="Shape 12"/>
          <p:cNvSpPr/>
          <p:nvPr/>
        </p:nvSpPr>
        <p:spPr>
          <a:xfrm>
            <a:off x="658368" y="3273552"/>
            <a:ext cx="73152" cy="1463040"/>
          </a:xfrm>
          <a:prstGeom prst="rect">
            <a:avLst/>
          </a:prstGeom>
          <a:solidFill>
            <a:srgbClr val="22B8A0"/>
          </a:solidFill>
          <a:ln w="12700">
            <a:solidFill>
              <a:srgbClr val="22B8A0"/>
            </a:solidFill>
            <a:prstDash val="solid"/>
          </a:ln>
        </p:spPr>
      </p:sp>
      <p:sp>
        <p:nvSpPr>
          <p:cNvPr id="15" name="Text 13"/>
          <p:cNvSpPr/>
          <p:nvPr/>
        </p:nvSpPr>
        <p:spPr>
          <a:xfrm>
            <a:off x="859536" y="3419856"/>
            <a:ext cx="5065776"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Are the results validate-able?</a:t>
            </a:r>
            <a:endParaRPr lang="en-US" sz="1100" dirty="0"/>
          </a:p>
        </p:txBody>
      </p:sp>
      <p:sp>
        <p:nvSpPr>
          <p:cNvPr id="16" name="Text 14"/>
          <p:cNvSpPr/>
          <p:nvPr/>
        </p:nvSpPr>
        <p:spPr>
          <a:xfrm>
            <a:off x="859536" y="3749040"/>
            <a:ext cx="5047488" cy="868680"/>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Internally yes for the held-out seasons under the implemented leakage rules. External validity is still limited by small sample size, Barcelona-centered coverage and missing market odds.</a:t>
            </a:r>
            <a:endParaRPr lang="en-US" sz="940" dirty="0"/>
          </a:p>
        </p:txBody>
      </p:sp>
      <p:sp>
        <p:nvSpPr>
          <p:cNvPr id="17" name="Shape 15"/>
          <p:cNvSpPr/>
          <p:nvPr/>
        </p:nvSpPr>
        <p:spPr>
          <a:xfrm>
            <a:off x="6309360" y="3273552"/>
            <a:ext cx="5212080" cy="1463040"/>
          </a:xfrm>
          <a:prstGeom prst="roundRect">
            <a:avLst>
              <a:gd name="adj" fmla="val 5000"/>
            </a:avLst>
          </a:prstGeom>
          <a:solidFill>
            <a:srgbClr val="FFFFFF"/>
          </a:solidFill>
          <a:ln w="10160">
            <a:solidFill>
              <a:srgbClr val="DDE5EA"/>
            </a:solidFill>
            <a:prstDash val="solid"/>
          </a:ln>
        </p:spPr>
      </p:sp>
      <p:sp>
        <p:nvSpPr>
          <p:cNvPr id="18" name="Shape 16"/>
          <p:cNvSpPr/>
          <p:nvPr/>
        </p:nvSpPr>
        <p:spPr>
          <a:xfrm>
            <a:off x="6309360" y="3273552"/>
            <a:ext cx="73152" cy="1463040"/>
          </a:xfrm>
          <a:prstGeom prst="rect">
            <a:avLst/>
          </a:prstGeom>
          <a:solidFill>
            <a:srgbClr val="0B8F6A"/>
          </a:solidFill>
          <a:ln w="12700">
            <a:solidFill>
              <a:srgbClr val="0B8F6A"/>
            </a:solidFill>
            <a:prstDash val="solid"/>
          </a:ln>
        </p:spPr>
      </p:sp>
      <p:sp>
        <p:nvSpPr>
          <p:cNvPr id="19" name="Text 17"/>
          <p:cNvSpPr/>
          <p:nvPr/>
        </p:nvSpPr>
        <p:spPr>
          <a:xfrm>
            <a:off x="6510528" y="3419856"/>
            <a:ext cx="4864608" cy="256032"/>
          </a:xfrm>
          <a:prstGeom prst="rect">
            <a:avLst/>
          </a:prstGeom>
          <a:noFill/>
          <a:ln/>
        </p:spPr>
        <p:txBody>
          <a:bodyPr wrap="square" lIns="0" tIns="0" rIns="0" bIns="0" rtlCol="0" anchor="ctr">
            <a:normAutofit/>
          </a:bodyPr>
          <a:lstStyle/>
          <a:p>
            <a:pPr indent="0" marL="0">
              <a:buNone/>
            </a:pPr>
            <a:r>
              <a:rPr lang="en-US" sz="1100" b="1" dirty="0">
                <a:solidFill>
                  <a:srgbClr val="0B1220"/>
                </a:solidFill>
                <a:latin typeface="Arial" pitchFamily="34" charset="0"/>
                <a:ea typeface="Arial" pitchFamily="34" charset="-122"/>
                <a:cs typeface="Arial" pitchFamily="34" charset="-120"/>
              </a:rPr>
              <a:t>Q · What would you improve next?</a:t>
            </a:r>
            <a:endParaRPr lang="en-US" sz="1100" dirty="0"/>
          </a:p>
        </p:txBody>
      </p:sp>
      <p:sp>
        <p:nvSpPr>
          <p:cNvPr id="20" name="Text 18"/>
          <p:cNvSpPr/>
          <p:nvPr/>
        </p:nvSpPr>
        <p:spPr>
          <a:xfrm>
            <a:off x="6510528" y="3749040"/>
            <a:ext cx="4846320" cy="868680"/>
          </a:xfrm>
          <a:prstGeom prst="rect">
            <a:avLst/>
          </a:prstGeom>
          <a:noFill/>
          <a:ln/>
        </p:spPr>
        <p:txBody>
          <a:bodyPr wrap="square" lIns="0" tIns="0" rIns="0" bIns="0" rtlCol="0" anchor="t">
            <a:normAutofit/>
          </a:bodyPr>
          <a:lstStyle/>
          <a:p>
            <a:pPr indent="0" marL="0">
              <a:buNone/>
            </a:pPr>
            <a:r>
              <a:rPr lang="en-US" sz="940" dirty="0">
                <a:solidFill>
                  <a:srgbClr val="273142"/>
                </a:solidFill>
                <a:latin typeface="Arial" pitchFamily="34" charset="0"/>
                <a:ea typeface="Arial" pitchFamily="34" charset="-122"/>
                <a:cs typeface="Arial" pitchFamily="34" charset="-120"/>
              </a:rPr>
              <a:t>1) Fix odds date/team alias tagging. 2) Expand to full-league / multiple-league seasons. 3) Use growing-window temporal validation. 4) Strengthen live features and re-test per match phase.</a:t>
            </a:r>
            <a:endParaRPr lang="en-US" sz="940" dirty="0"/>
          </a:p>
        </p:txBody>
      </p:sp>
      <p:sp>
        <p:nvSpPr>
          <p:cNvPr id="21" name="Shape 19"/>
          <p:cNvSpPr/>
          <p:nvPr/>
        </p:nvSpPr>
        <p:spPr>
          <a:xfrm>
            <a:off x="658368" y="5175504"/>
            <a:ext cx="10863072" cy="749808"/>
          </a:xfrm>
          <a:prstGeom prst="roundRect">
            <a:avLst>
              <a:gd name="adj" fmla="val 7317"/>
            </a:avLst>
          </a:prstGeom>
          <a:solidFill>
            <a:srgbClr val="FDECEC"/>
          </a:solidFill>
          <a:ln w="12700">
            <a:solidFill>
              <a:srgbClr val="FDECEC"/>
            </a:solidFill>
            <a:prstDash val="solid"/>
          </a:ln>
        </p:spPr>
      </p:sp>
      <p:sp>
        <p:nvSpPr>
          <p:cNvPr id="22" name="Shape 20"/>
          <p:cNvSpPr/>
          <p:nvPr/>
        </p:nvSpPr>
        <p:spPr>
          <a:xfrm>
            <a:off x="658368" y="5175504"/>
            <a:ext cx="91440" cy="749808"/>
          </a:xfrm>
          <a:prstGeom prst="rect">
            <a:avLst/>
          </a:prstGeom>
          <a:solidFill>
            <a:srgbClr val="C94949"/>
          </a:solidFill>
          <a:ln w="12700">
            <a:solidFill>
              <a:srgbClr val="C94949"/>
            </a:solidFill>
            <a:prstDash val="solid"/>
          </a:ln>
        </p:spPr>
      </p:sp>
      <p:sp>
        <p:nvSpPr>
          <p:cNvPr id="23" name="Text 21"/>
          <p:cNvSpPr/>
          <p:nvPr/>
        </p:nvSpPr>
        <p:spPr>
          <a:xfrm>
            <a:off x="877824" y="5294376"/>
            <a:ext cx="10497312"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Never say</a:t>
            </a:r>
            <a:endParaRPr lang="en-US" sz="1050" dirty="0"/>
          </a:p>
        </p:txBody>
      </p:sp>
      <p:sp>
        <p:nvSpPr>
          <p:cNvPr id="24" name="Text 22"/>
          <p:cNvSpPr/>
          <p:nvPr/>
        </p:nvSpPr>
        <p:spPr>
          <a:xfrm>
            <a:off x="877824" y="5568696"/>
            <a:ext cx="10479024" cy="256032"/>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“Our model has 64% accuracy.” Say: “On test season X, after training on season Y, model Z achieved 64% on N held-out matches.”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19 · CONCLUSION</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What we can defend confidently</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The project is strongest when the claims stay within the evidence.</a:t>
            </a:r>
            <a:endParaRPr lang="en-US" sz="1050" dirty="0"/>
          </a:p>
        </p:txBody>
      </p:sp>
      <p:sp>
        <p:nvSpPr>
          <p:cNvPr id="5" name="Shape 3"/>
          <p:cNvSpPr/>
          <p:nvPr/>
        </p:nvSpPr>
        <p:spPr>
          <a:xfrm>
            <a:off x="658368" y="1536192"/>
            <a:ext cx="3383280" cy="1298448"/>
          </a:xfrm>
          <a:prstGeom prst="roundRect">
            <a:avLst>
              <a:gd name="adj" fmla="val 5634"/>
            </a:avLst>
          </a:prstGeom>
          <a:solidFill>
            <a:srgbClr val="FFFFFF"/>
          </a:solidFill>
          <a:ln w="10160">
            <a:solidFill>
              <a:srgbClr val="DDE5EA"/>
            </a:solidFill>
            <a:prstDash val="solid"/>
          </a:ln>
        </p:spPr>
      </p:sp>
      <p:sp>
        <p:nvSpPr>
          <p:cNvPr id="6" name="Shape 4"/>
          <p:cNvSpPr/>
          <p:nvPr/>
        </p:nvSpPr>
        <p:spPr>
          <a:xfrm>
            <a:off x="658368" y="1536192"/>
            <a:ext cx="73152" cy="1298448"/>
          </a:xfrm>
          <a:prstGeom prst="rect">
            <a:avLst/>
          </a:prstGeom>
          <a:solidFill>
            <a:srgbClr val="0B8F6A"/>
          </a:solidFill>
          <a:ln w="12700">
            <a:solidFill>
              <a:srgbClr val="0B8F6A"/>
            </a:solidFill>
            <a:prstDash val="solid"/>
          </a:ln>
        </p:spPr>
      </p:sp>
      <p:sp>
        <p:nvSpPr>
          <p:cNvPr id="7" name="Text 5"/>
          <p:cNvSpPr/>
          <p:nvPr/>
        </p:nvSpPr>
        <p:spPr>
          <a:xfrm>
            <a:off x="859536" y="1682496"/>
            <a:ext cx="3035808"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1 · Pipeline</a:t>
            </a:r>
            <a:endParaRPr lang="en-US" sz="1150" dirty="0"/>
          </a:p>
        </p:txBody>
      </p:sp>
      <p:sp>
        <p:nvSpPr>
          <p:cNvPr id="8" name="Text 6"/>
          <p:cNvSpPr/>
          <p:nvPr/>
        </p:nvSpPr>
        <p:spPr>
          <a:xfrm>
            <a:off x="859536" y="2011680"/>
            <a:ext cx="3017520" cy="704088"/>
          </a:xfrm>
          <a:prstGeom prst="rect">
            <a:avLst/>
          </a:prstGeom>
          <a:noFill/>
          <a:ln/>
        </p:spPr>
        <p:txBody>
          <a:bodyPr wrap="square" lIns="0" tIns="0" rIns="0" bIns="0" rtlCol="0" anchor="t">
            <a:normAutofit/>
          </a:bodyPr>
          <a:lstStyle/>
          <a:p>
            <a:pPr indent="0" marL="0">
              <a:buNone/>
            </a:pPr>
            <a:r>
              <a:rPr lang="en-US" sz="950" dirty="0">
                <a:solidFill>
                  <a:srgbClr val="273142"/>
                </a:solidFill>
                <a:latin typeface="Arial" pitchFamily="34" charset="0"/>
                <a:ea typeface="Arial" pitchFamily="34" charset="-122"/>
                <a:cs typeface="Arial" pitchFamily="34" charset="-120"/>
              </a:rPr>
              <a:t>Raw StatsBomb JSON → integrated tables → separate pre-match and in-play feature pipelines → chronological evaluation.</a:t>
            </a:r>
            <a:endParaRPr lang="en-US" sz="950" dirty="0"/>
          </a:p>
        </p:txBody>
      </p:sp>
      <p:sp>
        <p:nvSpPr>
          <p:cNvPr id="9" name="Shape 7"/>
          <p:cNvSpPr/>
          <p:nvPr/>
        </p:nvSpPr>
        <p:spPr>
          <a:xfrm>
            <a:off x="4407408" y="1536192"/>
            <a:ext cx="3383280" cy="1298448"/>
          </a:xfrm>
          <a:prstGeom prst="roundRect">
            <a:avLst>
              <a:gd name="adj" fmla="val 5634"/>
            </a:avLst>
          </a:prstGeom>
          <a:solidFill>
            <a:srgbClr val="FFFFFF"/>
          </a:solidFill>
          <a:ln w="10160">
            <a:solidFill>
              <a:srgbClr val="DDE5EA"/>
            </a:solidFill>
            <a:prstDash val="solid"/>
          </a:ln>
        </p:spPr>
      </p:sp>
      <p:sp>
        <p:nvSpPr>
          <p:cNvPr id="10" name="Shape 8"/>
          <p:cNvSpPr/>
          <p:nvPr/>
        </p:nvSpPr>
        <p:spPr>
          <a:xfrm>
            <a:off x="4407408" y="1536192"/>
            <a:ext cx="73152" cy="1298448"/>
          </a:xfrm>
          <a:prstGeom prst="rect">
            <a:avLst/>
          </a:prstGeom>
          <a:solidFill>
            <a:srgbClr val="22B8A0"/>
          </a:solidFill>
          <a:ln w="12700">
            <a:solidFill>
              <a:srgbClr val="22B8A0"/>
            </a:solidFill>
            <a:prstDash val="solid"/>
          </a:ln>
        </p:spPr>
      </p:sp>
      <p:sp>
        <p:nvSpPr>
          <p:cNvPr id="11" name="Text 9"/>
          <p:cNvSpPr/>
          <p:nvPr/>
        </p:nvSpPr>
        <p:spPr>
          <a:xfrm>
            <a:off x="4608576" y="1682496"/>
            <a:ext cx="3035808"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2 · Validation</a:t>
            </a:r>
            <a:endParaRPr lang="en-US" sz="1150" dirty="0"/>
          </a:p>
        </p:txBody>
      </p:sp>
      <p:sp>
        <p:nvSpPr>
          <p:cNvPr id="12" name="Text 10"/>
          <p:cNvSpPr/>
          <p:nvPr/>
        </p:nvSpPr>
        <p:spPr>
          <a:xfrm>
            <a:off x="4608576" y="2011680"/>
            <a:ext cx="3017520" cy="704088"/>
          </a:xfrm>
          <a:prstGeom prst="rect">
            <a:avLst/>
          </a:prstGeom>
          <a:noFill/>
          <a:ln/>
        </p:spPr>
        <p:txBody>
          <a:bodyPr wrap="square" lIns="0" tIns="0" rIns="0" bIns="0" rtlCol="0" anchor="t">
            <a:normAutofit/>
          </a:bodyPr>
          <a:lstStyle/>
          <a:p>
            <a:pPr indent="0" marL="0">
              <a:buNone/>
            </a:pPr>
            <a:r>
              <a:rPr lang="en-US" sz="950" dirty="0">
                <a:solidFill>
                  <a:srgbClr val="273142"/>
                </a:solidFill>
                <a:latin typeface="Arial" pitchFamily="34" charset="0"/>
                <a:ea typeface="Arial" pitchFamily="34" charset="-122"/>
                <a:cs typeface="Arial" pitchFamily="34" charset="-120"/>
              </a:rPr>
              <a:t>Three future-season tests, match-level snapshot grouping, explicit time-t leakage assertions and training-only resampling.</a:t>
            </a:r>
            <a:endParaRPr lang="en-US" sz="950" dirty="0"/>
          </a:p>
        </p:txBody>
      </p:sp>
      <p:sp>
        <p:nvSpPr>
          <p:cNvPr id="13" name="Shape 11"/>
          <p:cNvSpPr/>
          <p:nvPr/>
        </p:nvSpPr>
        <p:spPr>
          <a:xfrm>
            <a:off x="8156448" y="1536192"/>
            <a:ext cx="3383280" cy="1298448"/>
          </a:xfrm>
          <a:prstGeom prst="roundRect">
            <a:avLst>
              <a:gd name="adj" fmla="val 5634"/>
            </a:avLst>
          </a:prstGeom>
          <a:solidFill>
            <a:srgbClr val="FFFFFF"/>
          </a:solidFill>
          <a:ln w="10160">
            <a:solidFill>
              <a:srgbClr val="DDE5EA"/>
            </a:solidFill>
            <a:prstDash val="solid"/>
          </a:ln>
        </p:spPr>
      </p:sp>
      <p:sp>
        <p:nvSpPr>
          <p:cNvPr id="14" name="Shape 12"/>
          <p:cNvSpPr/>
          <p:nvPr/>
        </p:nvSpPr>
        <p:spPr>
          <a:xfrm>
            <a:off x="8156448" y="1536192"/>
            <a:ext cx="73152" cy="1298448"/>
          </a:xfrm>
          <a:prstGeom prst="rect">
            <a:avLst/>
          </a:prstGeom>
          <a:solidFill>
            <a:srgbClr val="F4B942"/>
          </a:solidFill>
          <a:ln w="12700">
            <a:solidFill>
              <a:srgbClr val="F4B942"/>
            </a:solidFill>
            <a:prstDash val="solid"/>
          </a:ln>
        </p:spPr>
      </p:sp>
      <p:sp>
        <p:nvSpPr>
          <p:cNvPr id="15" name="Text 13"/>
          <p:cNvSpPr/>
          <p:nvPr/>
        </p:nvSpPr>
        <p:spPr>
          <a:xfrm>
            <a:off x="8357616" y="1682496"/>
            <a:ext cx="3035808" cy="256032"/>
          </a:xfrm>
          <a:prstGeom prst="rect">
            <a:avLst/>
          </a:prstGeom>
          <a:noFill/>
          <a:ln/>
        </p:spPr>
        <p:txBody>
          <a:bodyPr wrap="square" lIns="0" tIns="0" rIns="0" bIns="0" rtlCol="0" anchor="ctr">
            <a:normAutofit/>
          </a:bodyPr>
          <a:lstStyle/>
          <a:p>
            <a:pPr indent="0" marL="0">
              <a:buNone/>
            </a:pPr>
            <a:r>
              <a:rPr lang="en-US" sz="1150" b="1" dirty="0">
                <a:solidFill>
                  <a:srgbClr val="0B1220"/>
                </a:solidFill>
                <a:latin typeface="Arial" pitchFamily="34" charset="0"/>
                <a:ea typeface="Arial" pitchFamily="34" charset="-122"/>
                <a:cs typeface="Arial" pitchFamily="34" charset="-120"/>
              </a:rPr>
              <a:t>3 · Results</a:t>
            </a:r>
            <a:endParaRPr lang="en-US" sz="1150" dirty="0"/>
          </a:p>
        </p:txBody>
      </p:sp>
      <p:sp>
        <p:nvSpPr>
          <p:cNvPr id="16" name="Text 14"/>
          <p:cNvSpPr/>
          <p:nvPr/>
        </p:nvSpPr>
        <p:spPr>
          <a:xfrm>
            <a:off x="8357616" y="2011680"/>
            <a:ext cx="3017520" cy="704088"/>
          </a:xfrm>
          <a:prstGeom prst="rect">
            <a:avLst/>
          </a:prstGeom>
          <a:noFill/>
          <a:ln/>
        </p:spPr>
        <p:txBody>
          <a:bodyPr wrap="square" lIns="0" tIns="0" rIns="0" bIns="0" rtlCol="0" anchor="t">
            <a:normAutofit/>
          </a:bodyPr>
          <a:lstStyle/>
          <a:p>
            <a:pPr indent="0" marL="0">
              <a:buNone/>
            </a:pPr>
            <a:r>
              <a:rPr lang="en-US" sz="950" dirty="0">
                <a:solidFill>
                  <a:srgbClr val="273142"/>
                </a:solidFill>
                <a:latin typeface="Arial" pitchFamily="34" charset="0"/>
                <a:ea typeface="Arial" pitchFamily="34" charset="-122"/>
                <a:cs typeface="Arial" pitchFamily="34" charset="-120"/>
              </a:rPr>
              <a:t>Useful predictive signal exists, but performance moves by season; probability quality and calibration must accompany accuracy.</a:t>
            </a:r>
            <a:endParaRPr lang="en-US" sz="950" dirty="0"/>
          </a:p>
        </p:txBody>
      </p:sp>
      <p:sp>
        <p:nvSpPr>
          <p:cNvPr id="17" name="Shape 15"/>
          <p:cNvSpPr/>
          <p:nvPr/>
        </p:nvSpPr>
        <p:spPr>
          <a:xfrm>
            <a:off x="658368" y="3200400"/>
            <a:ext cx="10881360" cy="1078992"/>
          </a:xfrm>
          <a:prstGeom prst="roundRect">
            <a:avLst>
              <a:gd name="adj" fmla="val 5085"/>
            </a:avLst>
          </a:prstGeom>
          <a:solidFill>
            <a:srgbClr val="E9F8F3"/>
          </a:solidFill>
          <a:ln w="12700">
            <a:solidFill>
              <a:srgbClr val="E9F8F3"/>
            </a:solidFill>
            <a:prstDash val="solid"/>
          </a:ln>
        </p:spPr>
      </p:sp>
      <p:sp>
        <p:nvSpPr>
          <p:cNvPr id="18" name="Shape 16"/>
          <p:cNvSpPr/>
          <p:nvPr/>
        </p:nvSpPr>
        <p:spPr>
          <a:xfrm>
            <a:off x="658368" y="3200400"/>
            <a:ext cx="91440" cy="1078992"/>
          </a:xfrm>
          <a:prstGeom prst="rect">
            <a:avLst/>
          </a:prstGeom>
          <a:solidFill>
            <a:srgbClr val="0B8F6A"/>
          </a:solidFill>
          <a:ln w="12700">
            <a:solidFill>
              <a:srgbClr val="0B8F6A"/>
            </a:solidFill>
            <a:prstDash val="solid"/>
          </a:ln>
        </p:spPr>
      </p:sp>
      <p:sp>
        <p:nvSpPr>
          <p:cNvPr id="19" name="Text 17"/>
          <p:cNvSpPr/>
          <p:nvPr/>
        </p:nvSpPr>
        <p:spPr>
          <a:xfrm>
            <a:off x="877824" y="3319272"/>
            <a:ext cx="1051560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Most defensible headline</a:t>
            </a:r>
            <a:endParaRPr lang="en-US" sz="1050" dirty="0"/>
          </a:p>
        </p:txBody>
      </p:sp>
      <p:sp>
        <p:nvSpPr>
          <p:cNvPr id="20" name="Text 18"/>
          <p:cNvSpPr/>
          <p:nvPr/>
        </p:nvSpPr>
        <p:spPr>
          <a:xfrm>
            <a:off x="877824" y="3593592"/>
            <a:ext cx="10497312" cy="585216"/>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“Our implementation demonstrates a reproducible leakage-aware football forecasting pipeline with measurable future-season predictive signal. It does not yet establish universal league-wide performance or a market-beating model.”</a:t>
            </a:r>
            <a:endParaRPr lang="en-US" sz="920" dirty="0"/>
          </a:p>
        </p:txBody>
      </p:sp>
      <p:sp>
        <p:nvSpPr>
          <p:cNvPr id="21" name="Text 19"/>
          <p:cNvSpPr/>
          <p:nvPr/>
        </p:nvSpPr>
        <p:spPr>
          <a:xfrm>
            <a:off x="658368" y="4901184"/>
            <a:ext cx="3108960" cy="310896"/>
          </a:xfrm>
          <a:prstGeom prst="rect">
            <a:avLst/>
          </a:prstGeom>
          <a:noFill/>
          <a:ln/>
        </p:spPr>
        <p:txBody>
          <a:bodyPr wrap="square" lIns="0" tIns="0" rIns="0" bIns="0" rtlCol="0" anchor="ctr"/>
          <a:lstStyle/>
          <a:p>
            <a:pPr indent="0" marL="0">
              <a:buNone/>
            </a:pPr>
            <a:r>
              <a:rPr lang="en-US" sz="1600" b="1" dirty="0">
                <a:solidFill>
                  <a:srgbClr val="0B1220"/>
                </a:solidFill>
                <a:latin typeface="Arial" pitchFamily="34" charset="0"/>
                <a:ea typeface="Arial" pitchFamily="34" charset="-122"/>
                <a:cs typeface="Arial" pitchFamily="34" charset="-120"/>
              </a:rPr>
              <a:t>NOSRATI  ·  YAZDANI</a:t>
            </a:r>
            <a:endParaRPr lang="en-US" sz="1600" dirty="0"/>
          </a:p>
        </p:txBody>
      </p:sp>
      <p:sp>
        <p:nvSpPr>
          <p:cNvPr id="22" name="Text 20"/>
          <p:cNvSpPr/>
          <p:nvPr/>
        </p:nvSpPr>
        <p:spPr>
          <a:xfrm>
            <a:off x="658368" y="5321808"/>
            <a:ext cx="3474720" cy="237744"/>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Instructor: Sattar Hashemi</a:t>
            </a:r>
            <a:endParaRPr lang="en-US" sz="1050" dirty="0"/>
          </a:p>
        </p:txBody>
      </p:sp>
      <p:sp>
        <p:nvSpPr>
          <p:cNvPr id="23" name="Shape 21"/>
          <p:cNvSpPr/>
          <p:nvPr/>
        </p:nvSpPr>
        <p:spPr>
          <a:xfrm>
            <a:off x="7635240" y="4882896"/>
            <a:ext cx="3886200" cy="91440"/>
          </a:xfrm>
          <a:prstGeom prst="rect">
            <a:avLst/>
          </a:prstGeom>
          <a:solidFill>
            <a:srgbClr val="0B8F6A"/>
          </a:solidFill>
          <a:ln w="12700">
            <a:solidFill>
              <a:srgbClr val="0B8F6A"/>
            </a:solidFill>
            <a:prstDash val="solid"/>
          </a:ln>
        </p:spPr>
      </p:sp>
      <p:sp>
        <p:nvSpPr>
          <p:cNvPr id="24" name="Shape 22"/>
          <p:cNvSpPr/>
          <p:nvPr/>
        </p:nvSpPr>
        <p:spPr>
          <a:xfrm>
            <a:off x="7635240" y="5084064"/>
            <a:ext cx="2834640" cy="91440"/>
          </a:xfrm>
          <a:prstGeom prst="rect">
            <a:avLst/>
          </a:prstGeom>
          <a:solidFill>
            <a:srgbClr val="22B8A0"/>
          </a:solidFill>
          <a:ln w="12700">
            <a:solidFill>
              <a:srgbClr val="22B8A0"/>
            </a:solidFill>
            <a:prstDash val="solid"/>
          </a:ln>
        </p:spPr>
      </p:sp>
      <p:sp>
        <p:nvSpPr>
          <p:cNvPr id="25" name="Shape 23"/>
          <p:cNvSpPr/>
          <p:nvPr/>
        </p:nvSpPr>
        <p:spPr>
          <a:xfrm>
            <a:off x="7635240" y="5285232"/>
            <a:ext cx="1691640" cy="91440"/>
          </a:xfrm>
          <a:prstGeom prst="rect">
            <a:avLst/>
          </a:prstGeom>
          <a:solidFill>
            <a:srgbClr val="F4B942"/>
          </a:solidFill>
          <a:ln w="12700">
            <a:solidFill>
              <a:srgbClr val="F4B942"/>
            </a:solidFill>
            <a:prstDash val="solid"/>
          </a:ln>
        </p:spPr>
      </p:sp>
      <p:sp>
        <p:nvSpPr>
          <p:cNvPr id="26" name="Text 24"/>
          <p:cNvSpPr/>
          <p:nvPr/>
        </p:nvSpPr>
        <p:spPr>
          <a:xfrm>
            <a:off x="7626096" y="5632704"/>
            <a:ext cx="3886200" cy="411480"/>
          </a:xfrm>
          <a:prstGeom prst="rect">
            <a:avLst/>
          </a:prstGeom>
          <a:noFill/>
          <a:ln/>
        </p:spPr>
        <p:txBody>
          <a:bodyPr wrap="square" lIns="0" tIns="0" rIns="0" bIns="0" rtlCol="0" anchor="ctr"/>
          <a:lstStyle/>
          <a:p>
            <a:pPr algn="r" indent="0" marL="0">
              <a:buNone/>
            </a:pPr>
            <a:r>
              <a:rPr lang="en-US" sz="2400" b="1" dirty="0">
                <a:solidFill>
                  <a:srgbClr val="0B1220"/>
                </a:solidFill>
                <a:latin typeface="Arial" pitchFamily="34" charset="0"/>
                <a:ea typeface="Arial" pitchFamily="34" charset="-122"/>
                <a:cs typeface="Arial" pitchFamily="34" charset="-120"/>
              </a:rPr>
              <a:t>THANK YOU</a:t>
            </a:r>
            <a:endParaRPr lang="en-US" sz="240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30352" y="347472"/>
            <a:ext cx="1097280" cy="228600"/>
          </a:xfrm>
          <a:prstGeom prst="rect">
            <a:avLst/>
          </a:prstGeom>
          <a:noFill/>
          <a:ln/>
        </p:spPr>
        <p:txBody>
          <a:bodyPr wrap="square" lIns="0" tIns="0" rIns="0" bIns="0" rtlCol="0" anchor="ctr"/>
          <a:lstStyle/>
          <a:p>
            <a:pPr indent="0" marL="0">
              <a:buNone/>
            </a:pPr>
            <a:r>
              <a:rPr lang="en-US" sz="900" b="1" dirty="0">
                <a:solidFill>
                  <a:srgbClr val="22B8A0"/>
                </a:solidFill>
                <a:latin typeface="Arial" pitchFamily="34" charset="0"/>
                <a:ea typeface="Arial" pitchFamily="34" charset="-122"/>
                <a:cs typeface="Arial" pitchFamily="34" charset="-120"/>
              </a:rPr>
              <a:t>APPENDIX</a:t>
            </a:r>
            <a:endParaRPr lang="en-US" sz="900" dirty="0"/>
          </a:p>
        </p:txBody>
      </p:sp>
      <p:sp>
        <p:nvSpPr>
          <p:cNvPr id="3" name="Text 1"/>
          <p:cNvSpPr/>
          <p:nvPr/>
        </p:nvSpPr>
        <p:spPr>
          <a:xfrm>
            <a:off x="530352" y="566928"/>
            <a:ext cx="10972800" cy="457200"/>
          </a:xfrm>
          <a:prstGeom prst="rect">
            <a:avLst/>
          </a:prstGeom>
          <a:noFill/>
          <a:ln/>
        </p:spPr>
        <p:txBody>
          <a:bodyPr wrap="square" lIns="0" tIns="0" rIns="0" bIns="0" rtlCol="0" anchor="ctr"/>
          <a:lstStyle/>
          <a:p>
            <a:pPr indent="0" marL="0">
              <a:buNone/>
            </a:pPr>
            <a:r>
              <a:rPr lang="en-US" sz="2500" b="1" dirty="0">
                <a:solidFill>
                  <a:srgbClr val="0B1220"/>
                </a:solidFill>
                <a:latin typeface="Arial" pitchFamily="34" charset="0"/>
                <a:ea typeface="Arial" pitchFamily="34" charset="-122"/>
                <a:cs typeface="Arial" pitchFamily="34" charset="-120"/>
              </a:rPr>
              <a:t>References &amp; reproducibility</a:t>
            </a:r>
            <a:endParaRPr lang="en-US" sz="2500" dirty="0"/>
          </a:p>
        </p:txBody>
      </p:sp>
      <p:sp>
        <p:nvSpPr>
          <p:cNvPr id="4" name="Text 2"/>
          <p:cNvSpPr/>
          <p:nvPr/>
        </p:nvSpPr>
        <p:spPr>
          <a:xfrm>
            <a:off x="548640" y="1078992"/>
            <a:ext cx="10881360" cy="292608"/>
          </a:xfrm>
          <a:prstGeom prst="rect">
            <a:avLst/>
          </a:prstGeom>
          <a:noFill/>
          <a:ln/>
        </p:spPr>
        <p:txBody>
          <a:bodyPr wrap="square" lIns="0" tIns="0" rIns="0" bIns="0" rtlCol="0" anchor="ctr"/>
          <a:lstStyle/>
          <a:p>
            <a:pPr indent="0" marL="0">
              <a:buNone/>
            </a:pPr>
            <a:r>
              <a:rPr lang="en-US" sz="1050" dirty="0">
                <a:solidFill>
                  <a:srgbClr val="5B6577"/>
                </a:solidFill>
                <a:latin typeface="Arial" pitchFamily="34" charset="0"/>
                <a:ea typeface="Arial" pitchFamily="34" charset="-122"/>
                <a:cs typeface="Arial" pitchFamily="34" charset="-120"/>
              </a:rPr>
              <a:t>Backup slide for methodology questions.</a:t>
            </a:r>
            <a:endParaRPr lang="en-US" sz="1050" dirty="0"/>
          </a:p>
        </p:txBody>
      </p:sp>
      <p:sp>
        <p:nvSpPr>
          <p:cNvPr id="5" name="Text 3"/>
          <p:cNvSpPr/>
          <p:nvPr/>
        </p:nvSpPr>
        <p:spPr>
          <a:xfrm>
            <a:off x="786384" y="1591056"/>
            <a:ext cx="10561320" cy="3429000"/>
          </a:xfrm>
          <a:prstGeom prst="rect">
            <a:avLst/>
          </a:prstGeom>
          <a:noFill/>
          <a:ln/>
        </p:spPr>
        <p:txBody>
          <a:bodyPr wrap="square" lIns="254" tIns="254" rIns="254" bIns="254" rtlCol="0" anchor="t">
            <a:normAutofit/>
          </a:bodyPr>
          <a:lstStyle/>
          <a:p>
            <a:pPr marL="167640" indent="-167640">
              <a:buSzPct val="100000"/>
              <a:buChar char="•"/>
            </a:pPr>
            <a:r>
              <a:rPr lang="en-US" sz="1100" dirty="0">
                <a:solidFill>
                  <a:srgbClr val="273142"/>
                </a:solidFill>
                <a:latin typeface="Arial" pitchFamily="34" charset="0"/>
                <a:ea typeface="Arial" pitchFamily="34" charset="-122"/>
                <a:cs typeface="Arial" pitchFamily="34" charset="-120"/>
              </a:rPr>
              <a:t>StatsBomb / Hudl StatsBomb — StatsBomb Open Data.</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Football-Data.co.uk — historical football results and betting odds data.</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Tan, Y. S., Singh, C., Nasseri, K., et al. — Fast Interpretable Greedy-Tree Sums (FIGS), 2022 preprint.</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Lundberg, S. M. &amp; Lee, S. I. — A Unified Approach to Interpreting Model Predictions (SHAP).</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Chen, T. &amp; Guestrin, C. — XGBoost: A Scalable Tree Boosting System.</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Ke, G. et al. — LightGBM: A Highly Efficient Gradient Boosting Decision Tree.</a:t>
            </a:r>
            <a:endParaRPr lang="en-US" sz="1100" dirty="0"/>
          </a:p>
          <a:p>
            <a:pPr marL="167640" indent="-167640">
              <a:buSzPct val="100000"/>
              <a:buChar char="•"/>
            </a:pPr>
            <a:r>
              <a:rPr lang="en-US" sz="1100" dirty="0">
                <a:solidFill>
                  <a:srgbClr val="273142"/>
                </a:solidFill>
                <a:latin typeface="Arial" pitchFamily="34" charset="0"/>
                <a:ea typeface="Arial" pitchFamily="34" charset="-122"/>
                <a:cs typeface="Arial" pitchFamily="34" charset="-120"/>
              </a:rPr>
              <a:t>Course project specification — Forecasting Competitive Football: Pre-Match &amp; In-Play Prediction from Raw Event Data.</a:t>
            </a:r>
            <a:endParaRPr lang="en-US" sz="1100" dirty="0"/>
          </a:p>
        </p:txBody>
      </p:sp>
      <p:sp>
        <p:nvSpPr>
          <p:cNvPr id="6" name="Shape 4"/>
          <p:cNvSpPr/>
          <p:nvPr/>
        </p:nvSpPr>
        <p:spPr>
          <a:xfrm>
            <a:off x="786384" y="5257800"/>
            <a:ext cx="4919472" cy="713232"/>
          </a:xfrm>
          <a:prstGeom prst="roundRect">
            <a:avLst>
              <a:gd name="adj" fmla="val 7692"/>
            </a:avLst>
          </a:prstGeom>
          <a:solidFill>
            <a:srgbClr val="E9F8F3"/>
          </a:solidFill>
          <a:ln w="12700">
            <a:solidFill>
              <a:srgbClr val="E9F8F3"/>
            </a:solidFill>
            <a:prstDash val="solid"/>
          </a:ln>
        </p:spPr>
      </p:sp>
      <p:sp>
        <p:nvSpPr>
          <p:cNvPr id="7" name="Shape 5"/>
          <p:cNvSpPr/>
          <p:nvPr/>
        </p:nvSpPr>
        <p:spPr>
          <a:xfrm>
            <a:off x="786384" y="5257800"/>
            <a:ext cx="91440" cy="713232"/>
          </a:xfrm>
          <a:prstGeom prst="rect">
            <a:avLst/>
          </a:prstGeom>
          <a:solidFill>
            <a:srgbClr val="0B8F6A"/>
          </a:solidFill>
          <a:ln w="12700">
            <a:solidFill>
              <a:srgbClr val="0B8F6A"/>
            </a:solidFill>
            <a:prstDash val="solid"/>
          </a:ln>
        </p:spPr>
      </p:sp>
      <p:sp>
        <p:nvSpPr>
          <p:cNvPr id="8" name="Text 6"/>
          <p:cNvSpPr/>
          <p:nvPr/>
        </p:nvSpPr>
        <p:spPr>
          <a:xfrm>
            <a:off x="1005840" y="5376672"/>
            <a:ext cx="4553712"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Reproducibility</a:t>
            </a:r>
            <a:endParaRPr lang="en-US" sz="1050" dirty="0"/>
          </a:p>
        </p:txBody>
      </p:sp>
      <p:sp>
        <p:nvSpPr>
          <p:cNvPr id="9" name="Text 7"/>
          <p:cNvSpPr/>
          <p:nvPr/>
        </p:nvSpPr>
        <p:spPr>
          <a:xfrm>
            <a:off x="1005840" y="5650992"/>
            <a:ext cx="4535424" cy="219456"/>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Random seed = 42. Archive includes source, exported predictions/results, SHAP/calibration figures, bonus models and console logs.</a:t>
            </a:r>
            <a:endParaRPr lang="en-US" sz="920" dirty="0"/>
          </a:p>
        </p:txBody>
      </p:sp>
      <p:sp>
        <p:nvSpPr>
          <p:cNvPr id="10" name="Shape 8"/>
          <p:cNvSpPr/>
          <p:nvPr/>
        </p:nvSpPr>
        <p:spPr>
          <a:xfrm>
            <a:off x="5961888" y="5257800"/>
            <a:ext cx="5394960" cy="713232"/>
          </a:xfrm>
          <a:prstGeom prst="roundRect">
            <a:avLst>
              <a:gd name="adj" fmla="val 7692"/>
            </a:avLst>
          </a:prstGeom>
          <a:solidFill>
            <a:srgbClr val="FFF5D8"/>
          </a:solidFill>
          <a:ln w="12700">
            <a:solidFill>
              <a:srgbClr val="FFF5D8"/>
            </a:solidFill>
            <a:prstDash val="solid"/>
          </a:ln>
        </p:spPr>
      </p:sp>
      <p:sp>
        <p:nvSpPr>
          <p:cNvPr id="11" name="Shape 9"/>
          <p:cNvSpPr/>
          <p:nvPr/>
        </p:nvSpPr>
        <p:spPr>
          <a:xfrm>
            <a:off x="5961888" y="5257800"/>
            <a:ext cx="91440" cy="713232"/>
          </a:xfrm>
          <a:prstGeom prst="rect">
            <a:avLst/>
          </a:prstGeom>
          <a:solidFill>
            <a:srgbClr val="F4B942"/>
          </a:solidFill>
          <a:ln w="12700">
            <a:solidFill>
              <a:srgbClr val="F4B942"/>
            </a:solidFill>
            <a:prstDash val="solid"/>
          </a:ln>
        </p:spPr>
      </p:sp>
      <p:sp>
        <p:nvSpPr>
          <p:cNvPr id="12" name="Text 10"/>
          <p:cNvSpPr/>
          <p:nvPr/>
        </p:nvSpPr>
        <p:spPr>
          <a:xfrm>
            <a:off x="6181344" y="5376672"/>
            <a:ext cx="5029200" cy="219456"/>
          </a:xfrm>
          <a:prstGeom prst="rect">
            <a:avLst/>
          </a:prstGeom>
          <a:noFill/>
          <a:ln/>
        </p:spPr>
        <p:txBody>
          <a:bodyPr wrap="square" lIns="0" tIns="0" rIns="0" bIns="0" rtlCol="0" anchor="ctr">
            <a:normAutofit/>
          </a:bodyPr>
          <a:lstStyle/>
          <a:p>
            <a:pPr indent="0" marL="0">
              <a:buNone/>
            </a:pPr>
            <a:r>
              <a:rPr lang="en-US" sz="1050" b="1" dirty="0">
                <a:solidFill>
                  <a:srgbClr val="0B1220"/>
                </a:solidFill>
                <a:latin typeface="Arial" pitchFamily="34" charset="0"/>
                <a:ea typeface="Arial" pitchFamily="34" charset="-122"/>
                <a:cs typeface="Arial" pitchFamily="34" charset="-120"/>
              </a:rPr>
              <a:t>Paper sign-off caveat</a:t>
            </a:r>
            <a:endParaRPr lang="en-US" sz="1050" dirty="0"/>
          </a:p>
        </p:txBody>
      </p:sp>
      <p:sp>
        <p:nvSpPr>
          <p:cNvPr id="13" name="Text 11"/>
          <p:cNvSpPr/>
          <p:nvPr/>
        </p:nvSpPr>
        <p:spPr>
          <a:xfrm>
            <a:off x="6181344" y="5650992"/>
            <a:ext cx="5010912" cy="219456"/>
          </a:xfrm>
          <a:prstGeom prst="rect">
            <a:avLst/>
          </a:prstGeom>
          <a:noFill/>
          <a:ln/>
        </p:spPr>
        <p:txBody>
          <a:bodyPr wrap="square" lIns="0" tIns="0" rIns="0" bIns="0" rtlCol="0" anchor="ctr">
            <a:normAutofit/>
          </a:bodyPr>
          <a:lstStyle/>
          <a:p>
            <a:pPr indent="0" marL="0">
              <a:buNone/>
            </a:pPr>
            <a:r>
              <a:rPr lang="en-US" sz="920" dirty="0">
                <a:solidFill>
                  <a:srgbClr val="273142"/>
                </a:solidFill>
                <a:latin typeface="Arial" pitchFamily="34" charset="0"/>
                <a:ea typeface="Arial" pitchFamily="34" charset="-122"/>
                <a:cs typeface="Arial" pitchFamily="34" charset="-120"/>
              </a:rPr>
              <a:t>Exact TA-approved P1/P2 paper bibliography and sign-off metadata are not present in the supplied archive; verify against the papers used in class.</a:t>
            </a:r>
            <a:endParaRPr lang="en-US" sz="920" dirty="0"/>
          </a:p>
        </p:txBody>
      </p:sp>
      <p:sp>
        <p:nvSpPr>
          <p:cNvPr id="25" name="Slide Number Placeholder 0"/>
          <p:cNvSpPr>
            <a:spLocks noGrp="1"/>
          </p:cNvSpPr>
          <p:nvPr>
            <p:ph type="sldNum" sz="quarter" idx="4294967295"/>
          </p:nvPr>
        </p:nvSpPr>
        <p:spPr>
          <a:xfrm>
            <a:off x="11201400" y="6510528"/>
            <a:ext cx="411480" cy="182880"/>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5B6577"/>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Department of Computer Science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Forecasting Competitive Football</dc:title>
  <dc:subject>Machine Learning Final Project</dc:subject>
  <dc:creator>Nosrati &amp; Yazdani</dc:creator>
  <cp:lastModifiedBy>Nosrati &amp; Yazdani</cp:lastModifiedBy>
  <cp:revision>1</cp:revision>
  <dcterms:created xsi:type="dcterms:W3CDTF">2026-08-28T14:32:41Z</dcterms:created>
  <dcterms:modified xsi:type="dcterms:W3CDTF">2026-08-28T14:32:41Z</dcterms:modified>
</cp:coreProperties>
</file>